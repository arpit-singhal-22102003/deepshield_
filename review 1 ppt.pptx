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8" r:id="rId9"/>
    <p:sldId id="263" r:id="rId10"/>
    <p:sldId id="264" r:id="rId11"/>
    <p:sldId id="269" r:id="rId12"/>
    <p:sldId id="270" r:id="rId13"/>
    <p:sldId id="265" r:id="rId14"/>
    <p:sldId id="267" r:id="rId15"/>
    <p:sldId id="266" r:id="rId16"/>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8" roundtripDataSignature="AMtx7mh6p5//Z4Y503ZVW5k2973xFBxIF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66" d="100"/>
          <a:sy n="66" d="100"/>
        </p:scale>
        <p:origin x="1930" y="317"/>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customschemas.google.com/relationships/presentationmetadata" Target="meta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 name="Google Shape;86;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 name="Google Shape;95;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 name="Google Shape;105;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5" name="Google Shape;115;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5" name="Google Shape;125;p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4" name="Google Shape;134;p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4" name="Google Shape;144;p1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a:extLst>
            <a:ext uri="{FF2B5EF4-FFF2-40B4-BE49-F238E27FC236}">
              <a16:creationId xmlns:a16="http://schemas.microsoft.com/office/drawing/2014/main" id="{129D17FC-ABA8-F376-5C97-4A8A168D48D9}"/>
            </a:ext>
          </a:extLst>
        </p:cNvPr>
        <p:cNvGrpSpPr/>
        <p:nvPr/>
      </p:nvGrpSpPr>
      <p:grpSpPr>
        <a:xfrm>
          <a:off x="0" y="0"/>
          <a:ext cx="0" cy="0"/>
          <a:chOff x="0" y="0"/>
          <a:chExt cx="0" cy="0"/>
        </a:xfrm>
      </p:grpSpPr>
      <p:sp>
        <p:nvSpPr>
          <p:cNvPr id="152" name="Google Shape;152;p20:notes">
            <a:extLst>
              <a:ext uri="{FF2B5EF4-FFF2-40B4-BE49-F238E27FC236}">
                <a16:creationId xmlns:a16="http://schemas.microsoft.com/office/drawing/2014/main" id="{BA3EDADB-71F8-FE5F-70EB-512611498A8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p20:notes">
            <a:extLst>
              <a:ext uri="{FF2B5EF4-FFF2-40B4-BE49-F238E27FC236}">
                <a16:creationId xmlns:a16="http://schemas.microsoft.com/office/drawing/2014/main" id="{F53AFE78-B02B-DADB-E48C-F281868D42EE}"/>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468951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p2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2" name="Google Shape;162;p2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a:extLst>
            <a:ext uri="{FF2B5EF4-FFF2-40B4-BE49-F238E27FC236}">
              <a16:creationId xmlns:a16="http://schemas.microsoft.com/office/drawing/2014/main" id="{0EE6F7BB-79F3-67D8-EB66-EA87F5058E07}"/>
            </a:ext>
          </a:extLst>
        </p:cNvPr>
        <p:cNvGrpSpPr/>
        <p:nvPr/>
      </p:nvGrpSpPr>
      <p:grpSpPr>
        <a:xfrm>
          <a:off x="0" y="0"/>
          <a:ext cx="0" cy="0"/>
          <a:chOff x="0" y="0"/>
          <a:chExt cx="0" cy="0"/>
        </a:xfrm>
      </p:grpSpPr>
      <p:sp>
        <p:nvSpPr>
          <p:cNvPr id="161" name="Google Shape;161;p21:notes">
            <a:extLst>
              <a:ext uri="{FF2B5EF4-FFF2-40B4-BE49-F238E27FC236}">
                <a16:creationId xmlns:a16="http://schemas.microsoft.com/office/drawing/2014/main" id="{9A652D2E-05A1-29FA-062B-4BF4D7EB792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2" name="Google Shape;162;p21:notes">
            <a:extLst>
              <a:ext uri="{FF2B5EF4-FFF2-40B4-BE49-F238E27FC236}">
                <a16:creationId xmlns:a16="http://schemas.microsoft.com/office/drawing/2014/main" id="{D1E87D0A-55F6-ECE1-9E8A-B7F064ED7602}"/>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34894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a:extLst>
            <a:ext uri="{FF2B5EF4-FFF2-40B4-BE49-F238E27FC236}">
              <a16:creationId xmlns:a16="http://schemas.microsoft.com/office/drawing/2014/main" id="{BAAE1E96-8828-7205-D3F4-DD46731DE508}"/>
            </a:ext>
          </a:extLst>
        </p:cNvPr>
        <p:cNvGrpSpPr/>
        <p:nvPr/>
      </p:nvGrpSpPr>
      <p:grpSpPr>
        <a:xfrm>
          <a:off x="0" y="0"/>
          <a:ext cx="0" cy="0"/>
          <a:chOff x="0" y="0"/>
          <a:chExt cx="0" cy="0"/>
        </a:xfrm>
      </p:grpSpPr>
      <p:sp>
        <p:nvSpPr>
          <p:cNvPr id="161" name="Google Shape;161;p21:notes">
            <a:extLst>
              <a:ext uri="{FF2B5EF4-FFF2-40B4-BE49-F238E27FC236}">
                <a16:creationId xmlns:a16="http://schemas.microsoft.com/office/drawing/2014/main" id="{B49034D5-6335-0744-C6FA-875124524E9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2" name="Google Shape;162;p21:notes">
            <a:extLst>
              <a:ext uri="{FF2B5EF4-FFF2-40B4-BE49-F238E27FC236}">
                <a16:creationId xmlns:a16="http://schemas.microsoft.com/office/drawing/2014/main" id="{578D08E5-D211-76C9-C387-93C103D075C5}"/>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158233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1" name="Google Shape;171;p2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a:extLst>
            <a:ext uri="{FF2B5EF4-FFF2-40B4-BE49-F238E27FC236}">
              <a16:creationId xmlns:a16="http://schemas.microsoft.com/office/drawing/2014/main" id="{A6CF2CA9-F864-79C2-DF3E-40024DF09183}"/>
            </a:ext>
          </a:extLst>
        </p:cNvPr>
        <p:cNvGrpSpPr/>
        <p:nvPr/>
      </p:nvGrpSpPr>
      <p:grpSpPr>
        <a:xfrm>
          <a:off x="0" y="0"/>
          <a:ext cx="0" cy="0"/>
          <a:chOff x="0" y="0"/>
          <a:chExt cx="0" cy="0"/>
        </a:xfrm>
      </p:grpSpPr>
      <p:sp>
        <p:nvSpPr>
          <p:cNvPr id="170" name="Google Shape;170;p22:notes">
            <a:extLst>
              <a:ext uri="{FF2B5EF4-FFF2-40B4-BE49-F238E27FC236}">
                <a16:creationId xmlns:a16="http://schemas.microsoft.com/office/drawing/2014/main" id="{E59E2CC7-197C-EDBA-9201-5F516C8D706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1" name="Google Shape;171;p22:notes">
            <a:extLst>
              <a:ext uri="{FF2B5EF4-FFF2-40B4-BE49-F238E27FC236}">
                <a16:creationId xmlns:a16="http://schemas.microsoft.com/office/drawing/2014/main" id="{F3CBE31D-56AD-623F-7B32-0690889C211A}"/>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922752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0" name="Google Shape;180;p2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7"/>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8" name="Google Shape;18;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4" name="Google Shape;24;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9"/>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9"/>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0" name="Google Shape;30;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0"/>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6" name="Google Shape;36;p10"/>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7" name="Google Shape;37;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3" name="Google Shape;43;p11"/>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4" name="Google Shape;44;p11"/>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5" name="Google Shape;45;p11"/>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6" name="Google Shape;46;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4"/>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4"/>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61" name="Google Shape;61;p14"/>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2" name="Google Shape;62;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5"/>
          <p:cNvSpPr>
            <a:spLocks noGrp="1"/>
          </p:cNvSpPr>
          <p:nvPr>
            <p:ph type="pic" idx="2"/>
          </p:nvPr>
        </p:nvSpPr>
        <p:spPr>
          <a:xfrm>
            <a:off x="1792288" y="612775"/>
            <a:ext cx="5486400" cy="4114800"/>
          </a:xfrm>
          <a:prstGeom prst="rect">
            <a:avLst/>
          </a:prstGeom>
          <a:noFill/>
          <a:ln>
            <a:noFill/>
          </a:ln>
        </p:spPr>
      </p:sp>
      <p:sp>
        <p:nvSpPr>
          <p:cNvPr id="68" name="Google Shape;68;p15"/>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9" name="Google Shape;69;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6"/>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5" name="Google Shape;75;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7"/>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1" name="Google Shape;81;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500075" y="1897876"/>
            <a:ext cx="7772400" cy="1470025"/>
          </a:xfrm>
          <a:prstGeom prst="rect">
            <a:avLst/>
          </a:prstGeom>
          <a:noFill/>
          <a:ln>
            <a:noFill/>
          </a:ln>
        </p:spPr>
        <p:txBody>
          <a:bodyPr spcFirstLastPara="1" wrap="square" lIns="91425" tIns="45700" rIns="91425" bIns="45700" anchor="ctr" anchorCtr="0">
            <a:noAutofit/>
          </a:bodyPr>
          <a:lstStyle/>
          <a:p>
            <a:pPr lvl="0" algn="just">
              <a:buSzPts val="4400"/>
            </a:pPr>
            <a:r>
              <a:rPr lang="en-US" sz="2800" dirty="0"/>
              <a:t>DeepShield: AI-Powered Digital Forensics for Multi-Modal Deepfake Detection and Mitigation</a:t>
            </a:r>
            <a:endParaRPr sz="2800" dirty="0">
              <a:latin typeface="Times New Roman"/>
              <a:ea typeface="Times New Roman"/>
              <a:cs typeface="Times New Roman"/>
              <a:sym typeface="Times New Roman"/>
            </a:endParaRPr>
          </a:p>
        </p:txBody>
      </p:sp>
      <p:sp>
        <p:nvSpPr>
          <p:cNvPr id="89" name="Google Shape;89;p1"/>
          <p:cNvSpPr txBox="1">
            <a:spLocks noGrp="1"/>
          </p:cNvSpPr>
          <p:nvPr>
            <p:ph type="subTitle" idx="1"/>
          </p:nvPr>
        </p:nvSpPr>
        <p:spPr>
          <a:xfrm>
            <a:off x="4571999" y="3645255"/>
            <a:ext cx="4419575" cy="2922300"/>
          </a:xfrm>
          <a:prstGeom prst="rect">
            <a:avLst/>
          </a:prstGeom>
          <a:noFill/>
          <a:ln>
            <a:noFill/>
          </a:ln>
        </p:spPr>
        <p:txBody>
          <a:bodyPr spcFirstLastPara="1" wrap="square" lIns="91425" tIns="45700" rIns="91425" bIns="45700" anchor="t" anchorCtr="0">
            <a:normAutofit/>
          </a:bodyPr>
          <a:lstStyle/>
          <a:p>
            <a:pPr marL="0" indent="0">
              <a:spcBef>
                <a:spcPts val="0"/>
              </a:spcBef>
              <a:buClr>
                <a:schemeClr val="dk1"/>
              </a:buClr>
              <a:buSzPct val="100000"/>
            </a:pPr>
            <a:r>
              <a:rPr lang="en-US" sz="2400" dirty="0">
                <a:solidFill>
                  <a:schemeClr val="tx1">
                    <a:lumMod val="95000"/>
                    <a:lumOff val="5000"/>
                  </a:schemeClr>
                </a:solidFill>
                <a:latin typeface="Times New Roman"/>
                <a:ea typeface="Times New Roman"/>
                <a:cs typeface="Times New Roman"/>
                <a:sym typeface="Times New Roman"/>
              </a:rPr>
              <a:t>Batch ID: </a:t>
            </a:r>
            <a:r>
              <a:rPr lang="en-US" sz="2400" dirty="0">
                <a:solidFill>
                  <a:schemeClr val="tx1">
                    <a:lumMod val="95000"/>
                    <a:lumOff val="5000"/>
                  </a:schemeClr>
                </a:solidFill>
              </a:rPr>
              <a:t>BT26COREC003</a:t>
            </a:r>
            <a:endParaRPr sz="2400" dirty="0">
              <a:solidFill>
                <a:schemeClr val="tx1">
                  <a:lumMod val="95000"/>
                  <a:lumOff val="5000"/>
                </a:schemeClr>
              </a:solidFill>
            </a:endParaRPr>
          </a:p>
          <a:p>
            <a:pPr marL="0" lvl="0" indent="0" algn="ctr" rtl="0">
              <a:spcBef>
                <a:spcPts val="0"/>
              </a:spcBef>
              <a:spcAft>
                <a:spcPts val="0"/>
              </a:spcAft>
              <a:buClr>
                <a:srgbClr val="888888"/>
              </a:buClr>
              <a:buSzPct val="100000"/>
              <a:buFont typeface="Arial"/>
              <a:buNone/>
            </a:pPr>
            <a:endParaRPr sz="1800" dirty="0">
              <a:latin typeface="Times New Roman"/>
              <a:ea typeface="Times New Roman"/>
              <a:cs typeface="Times New Roman"/>
              <a:sym typeface="Times New Roman"/>
            </a:endParaRPr>
          </a:p>
          <a:p>
            <a:pPr marL="0" lvl="0" indent="0" algn="ctr" rtl="0">
              <a:spcBef>
                <a:spcPts val="0"/>
              </a:spcBef>
              <a:spcAft>
                <a:spcPts val="0"/>
              </a:spcAft>
              <a:buClr>
                <a:srgbClr val="888888"/>
              </a:buClr>
              <a:buSzPct val="100000"/>
              <a:buFont typeface="Arial"/>
              <a:buNone/>
            </a:pPr>
            <a:r>
              <a:rPr lang="en-US" sz="1800" dirty="0">
                <a:solidFill>
                  <a:schemeClr val="tx1">
                    <a:lumMod val="95000"/>
                    <a:lumOff val="5000"/>
                  </a:schemeClr>
                </a:solidFill>
                <a:latin typeface="Times New Roman"/>
                <a:ea typeface="Times New Roman"/>
                <a:cs typeface="Times New Roman"/>
                <a:sym typeface="Times New Roman"/>
              </a:rPr>
              <a:t>Group Members-</a:t>
            </a:r>
          </a:p>
          <a:p>
            <a:pPr marL="0" lvl="0" indent="0" algn="ctr" rtl="0">
              <a:spcBef>
                <a:spcPts val="0"/>
              </a:spcBef>
              <a:spcAft>
                <a:spcPts val="0"/>
              </a:spcAft>
              <a:buClr>
                <a:srgbClr val="888888"/>
              </a:buClr>
              <a:buSzPct val="100000"/>
              <a:buFont typeface="Arial"/>
              <a:buNone/>
            </a:pPr>
            <a:r>
              <a:rPr lang="en-US" sz="1800" dirty="0">
                <a:solidFill>
                  <a:schemeClr val="tx1">
                    <a:lumMod val="95000"/>
                    <a:lumOff val="5000"/>
                  </a:schemeClr>
                </a:solidFill>
                <a:latin typeface="Times New Roman"/>
                <a:ea typeface="Times New Roman"/>
                <a:cs typeface="Times New Roman"/>
                <a:sym typeface="Times New Roman"/>
              </a:rPr>
              <a:t>(CSE - C core)</a:t>
            </a:r>
          </a:p>
          <a:p>
            <a:pPr marL="0" lvl="0" indent="0" algn="ctr" rtl="0">
              <a:spcBef>
                <a:spcPts val="0"/>
              </a:spcBef>
              <a:spcAft>
                <a:spcPts val="0"/>
              </a:spcAft>
              <a:buClr>
                <a:srgbClr val="888888"/>
              </a:buClr>
              <a:buSzPct val="100000"/>
              <a:buFont typeface="Arial"/>
              <a:buNone/>
            </a:pPr>
            <a:r>
              <a:rPr lang="en-US" sz="1800" dirty="0">
                <a:solidFill>
                  <a:schemeClr val="tx1">
                    <a:lumMod val="95000"/>
                    <a:lumOff val="5000"/>
                  </a:schemeClr>
                </a:solidFill>
                <a:latin typeface="Times New Roman"/>
                <a:ea typeface="Times New Roman"/>
                <a:cs typeface="Times New Roman"/>
                <a:sym typeface="Times New Roman"/>
              </a:rPr>
              <a:t>Sparsh Garg - RA2211003030192</a:t>
            </a:r>
          </a:p>
          <a:p>
            <a:pPr marL="0" lvl="0" indent="0" algn="ctr" rtl="0">
              <a:spcBef>
                <a:spcPts val="0"/>
              </a:spcBef>
              <a:spcAft>
                <a:spcPts val="0"/>
              </a:spcAft>
              <a:buClr>
                <a:srgbClr val="888888"/>
              </a:buClr>
              <a:buSzPct val="100000"/>
              <a:buFont typeface="Arial"/>
              <a:buNone/>
            </a:pPr>
            <a:r>
              <a:rPr lang="en-US" sz="1800" dirty="0">
                <a:solidFill>
                  <a:schemeClr val="tx1">
                    <a:lumMod val="95000"/>
                    <a:lumOff val="5000"/>
                  </a:schemeClr>
                </a:solidFill>
                <a:latin typeface="Times New Roman"/>
                <a:ea typeface="Times New Roman"/>
                <a:cs typeface="Times New Roman"/>
                <a:sym typeface="Times New Roman"/>
              </a:rPr>
              <a:t> Arpit Singhal- RA2211003030197 </a:t>
            </a:r>
          </a:p>
          <a:p>
            <a:pPr marL="0" lvl="0" indent="0" algn="ctr" rtl="0">
              <a:spcBef>
                <a:spcPts val="0"/>
              </a:spcBef>
              <a:spcAft>
                <a:spcPts val="0"/>
              </a:spcAft>
              <a:buClr>
                <a:srgbClr val="888888"/>
              </a:buClr>
              <a:buSzPct val="100000"/>
              <a:buFont typeface="Arial"/>
              <a:buNone/>
            </a:pPr>
            <a:r>
              <a:rPr lang="en-US" sz="1800" dirty="0">
                <a:solidFill>
                  <a:schemeClr val="tx1">
                    <a:lumMod val="95000"/>
                    <a:lumOff val="5000"/>
                  </a:schemeClr>
                </a:solidFill>
                <a:latin typeface="Times New Roman"/>
                <a:ea typeface="Times New Roman"/>
                <a:cs typeface="Times New Roman"/>
                <a:sym typeface="Times New Roman"/>
              </a:rPr>
              <a:t>Nishant Kumar - RA2211003030151 </a:t>
            </a:r>
          </a:p>
          <a:p>
            <a:pPr marL="0" lvl="0" indent="0" algn="ctr" rtl="0">
              <a:spcBef>
                <a:spcPts val="0"/>
              </a:spcBef>
              <a:spcAft>
                <a:spcPts val="0"/>
              </a:spcAft>
              <a:buClr>
                <a:srgbClr val="888888"/>
              </a:buClr>
              <a:buSzPct val="100000"/>
              <a:buFont typeface="Arial"/>
              <a:buNone/>
            </a:pPr>
            <a:r>
              <a:rPr lang="en-US" sz="1800" dirty="0">
                <a:solidFill>
                  <a:schemeClr val="tx1">
                    <a:lumMod val="95000"/>
                    <a:lumOff val="5000"/>
                  </a:schemeClr>
                </a:solidFill>
                <a:latin typeface="Times New Roman"/>
                <a:ea typeface="Times New Roman"/>
                <a:cs typeface="Times New Roman"/>
                <a:sym typeface="Times New Roman"/>
              </a:rPr>
              <a:t>Devansh Shishodia-RA2211003030181</a:t>
            </a:r>
            <a:endParaRPr sz="1800" dirty="0">
              <a:solidFill>
                <a:schemeClr val="tx1">
                  <a:lumMod val="95000"/>
                  <a:lumOff val="5000"/>
                </a:schemeClr>
              </a:solidFill>
              <a:latin typeface="Times New Roman"/>
              <a:ea typeface="Times New Roman"/>
              <a:cs typeface="Times New Roman"/>
              <a:sym typeface="Times New Roman"/>
            </a:endParaRPr>
          </a:p>
        </p:txBody>
      </p:sp>
      <p:pic>
        <p:nvPicPr>
          <p:cNvPr id="90" name="Google Shape;90;p1"/>
          <p:cNvPicPr preferRelativeResize="0"/>
          <p:nvPr/>
        </p:nvPicPr>
        <p:blipFill rotWithShape="1">
          <a:blip r:embed="rId3">
            <a:alphaModFix/>
          </a:blip>
          <a:srcRect/>
          <a:stretch/>
        </p:blipFill>
        <p:spPr>
          <a:xfrm>
            <a:off x="0" y="0"/>
            <a:ext cx="2210765" cy="755015"/>
          </a:xfrm>
          <a:prstGeom prst="rect">
            <a:avLst/>
          </a:prstGeom>
          <a:noFill/>
          <a:ln>
            <a:noFill/>
          </a:ln>
        </p:spPr>
      </p:pic>
      <p:sp>
        <p:nvSpPr>
          <p:cNvPr id="91" name="Google Shape;91;p1"/>
          <p:cNvSpPr/>
          <p:nvPr/>
        </p:nvSpPr>
        <p:spPr>
          <a:xfrm>
            <a:off x="2210765" y="13095"/>
            <a:ext cx="6172200" cy="175428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latin typeface="Times New Roman"/>
                <a:ea typeface="Times New Roman"/>
                <a:cs typeface="Times New Roman"/>
                <a:sym typeface="Times New Roman"/>
              </a:rPr>
              <a:t>SRM INSTITUTE OF SCIENCE AND TECHNOLOGY </a:t>
            </a:r>
            <a:endParaRPr sz="1800" b="0" i="0" u="none" strike="noStrike" cap="none" dirty="0">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latin typeface="Times New Roman"/>
                <a:ea typeface="Times New Roman"/>
                <a:cs typeface="Times New Roman"/>
                <a:sym typeface="Times New Roman"/>
              </a:rPr>
              <a:t>DEPARTMENT OF COMPUT</a:t>
            </a:r>
            <a:r>
              <a:rPr lang="en-US" sz="1800" b="1" dirty="0">
                <a:solidFill>
                  <a:schemeClr val="dk1"/>
                </a:solidFill>
                <a:latin typeface="Times New Roman"/>
                <a:ea typeface="Times New Roman"/>
                <a:cs typeface="Times New Roman"/>
                <a:sym typeface="Times New Roman"/>
              </a:rPr>
              <a:t>ER SCIENCE AND ENGINEERING</a:t>
            </a:r>
            <a:endParaRPr sz="1800" b="1" dirty="0">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b="1" dirty="0">
              <a:solidFill>
                <a:schemeClr val="dk1"/>
              </a:solidFill>
              <a:latin typeface="Times New Roman"/>
              <a:ea typeface="Times New Roman"/>
              <a:cs typeface="Times New Roman"/>
              <a:sym typeface="Times New Roman"/>
            </a:endParaRPr>
          </a:p>
          <a:p>
            <a:pPr lvl="0" algn="ctr">
              <a:buSzPts val="1800"/>
            </a:pPr>
            <a:r>
              <a:rPr lang="en-US" sz="1800" b="1" i="0" u="none" strike="noStrike" cap="none" dirty="0">
                <a:solidFill>
                  <a:schemeClr val="dk1"/>
                </a:solidFill>
                <a:latin typeface="Times New Roman"/>
                <a:ea typeface="Times New Roman"/>
                <a:cs typeface="Times New Roman"/>
                <a:sym typeface="Times New Roman"/>
              </a:rPr>
              <a:t>21CSP401L </a:t>
            </a:r>
            <a:r>
              <a:rPr lang="en-US" sz="1800" b="1" dirty="0">
                <a:solidFill>
                  <a:schemeClr val="dk1"/>
                </a:solidFill>
                <a:latin typeface="Times New Roman"/>
                <a:ea typeface="Times New Roman"/>
                <a:cs typeface="Times New Roman"/>
                <a:sym typeface="Times New Roman"/>
              </a:rPr>
              <a:t>MAJOR PROJECT </a:t>
            </a:r>
            <a:r>
              <a:rPr lang="en-US" sz="1800" b="1" i="0" u="none" strike="noStrike" cap="none" dirty="0">
                <a:solidFill>
                  <a:schemeClr val="dk1"/>
                </a:solidFill>
                <a:latin typeface="Times New Roman"/>
                <a:ea typeface="Times New Roman"/>
                <a:cs typeface="Times New Roman"/>
                <a:sym typeface="Times New Roman"/>
              </a:rPr>
              <a:t>/ 21CSP402L - MAJOR PROJECT with</a:t>
            </a:r>
            <a:r>
              <a:rPr lang="en-US" sz="1800" b="1" dirty="0">
                <a:solidFill>
                  <a:schemeClr val="dk1"/>
                </a:solidFill>
                <a:latin typeface="Times New Roman"/>
                <a:ea typeface="Times New Roman"/>
                <a:cs typeface="Times New Roman"/>
                <a:sym typeface="Times New Roman"/>
              </a:rPr>
              <a:t> 21CSP403L </a:t>
            </a:r>
            <a:r>
              <a:rPr lang="en-US" sz="1800" b="1" i="0" u="none" strike="noStrike" cap="none" dirty="0">
                <a:solidFill>
                  <a:schemeClr val="dk1"/>
                </a:solidFill>
                <a:latin typeface="Times New Roman"/>
                <a:ea typeface="Times New Roman"/>
                <a:cs typeface="Times New Roman"/>
                <a:sym typeface="Times New Roman"/>
              </a:rPr>
              <a:t>INTERNSHIP</a:t>
            </a:r>
            <a:endParaRPr sz="1800" b="0" i="0" u="none" strike="noStrike" cap="none" dirty="0">
              <a:solidFill>
                <a:schemeClr val="dk1"/>
              </a:solidFill>
              <a:latin typeface="Times New Roman"/>
              <a:ea typeface="Times New Roman"/>
              <a:cs typeface="Times New Roman"/>
              <a:sym typeface="Times New Roman"/>
            </a:endParaRPr>
          </a:p>
        </p:txBody>
      </p:sp>
      <p:sp>
        <p:nvSpPr>
          <p:cNvPr id="92" name="Google Shape;92;p1"/>
          <p:cNvSpPr txBox="1"/>
          <p:nvPr/>
        </p:nvSpPr>
        <p:spPr>
          <a:xfrm>
            <a:off x="285135" y="4096089"/>
            <a:ext cx="3471900" cy="1470025"/>
          </a:xfrm>
          <a:prstGeom prst="rect">
            <a:avLst/>
          </a:prstGeom>
          <a:noFill/>
          <a:ln>
            <a:noFill/>
          </a:ln>
        </p:spPr>
        <p:txBody>
          <a:bodyPr spcFirstLastPara="1" wrap="square" lIns="91425" tIns="45700" rIns="91425" bIns="45700" anchor="t" anchorCtr="0">
            <a:noAutofit/>
          </a:bodyPr>
          <a:lstStyle/>
          <a:p>
            <a:pPr marL="0" marR="0" lvl="0" indent="0" algn="ctr" rtl="0">
              <a:lnSpc>
                <a:spcPct val="170000"/>
              </a:lnSpc>
              <a:spcBef>
                <a:spcPts val="592"/>
              </a:spcBef>
              <a:spcAft>
                <a:spcPts val="0"/>
              </a:spcAft>
              <a:buClr>
                <a:srgbClr val="888888"/>
              </a:buClr>
              <a:buSzPct val="100000"/>
              <a:buFont typeface="Arial"/>
              <a:buNone/>
            </a:pPr>
            <a:r>
              <a:rPr lang="en-US" sz="1800" b="0" i="0" u="none" strike="noStrike" cap="none" dirty="0">
                <a:solidFill>
                  <a:schemeClr val="tx1">
                    <a:lumMod val="95000"/>
                    <a:lumOff val="5000"/>
                  </a:schemeClr>
                </a:solidFill>
                <a:latin typeface="Times New Roman" panose="02020603050405020304" pitchFamily="18" charset="0"/>
                <a:ea typeface="Times New Roman"/>
                <a:cs typeface="Times New Roman" panose="02020603050405020304" pitchFamily="18" charset="0"/>
                <a:sym typeface="Times New Roman"/>
              </a:rPr>
              <a:t>Guide name: Dr. Jitendra Singh</a:t>
            </a:r>
            <a:endParaRPr sz="1800" dirty="0">
              <a:solidFill>
                <a:schemeClr val="tx1">
                  <a:lumMod val="95000"/>
                  <a:lumOff val="5000"/>
                </a:schemeClr>
              </a:solidFill>
              <a:latin typeface="Times New Roman" panose="02020603050405020304" pitchFamily="18" charset="0"/>
              <a:cs typeface="Times New Roman" panose="02020603050405020304" pitchFamily="18" charset="0"/>
            </a:endParaRPr>
          </a:p>
          <a:p>
            <a:pPr marL="0" marR="0" lvl="0" indent="0" algn="ctr" rtl="0">
              <a:lnSpc>
                <a:spcPct val="170000"/>
              </a:lnSpc>
              <a:spcBef>
                <a:spcPts val="592"/>
              </a:spcBef>
              <a:spcAft>
                <a:spcPts val="0"/>
              </a:spcAft>
              <a:buClr>
                <a:srgbClr val="888888"/>
              </a:buClr>
              <a:buSzPct val="100000"/>
              <a:buFont typeface="Arial"/>
              <a:buNone/>
            </a:pPr>
            <a:r>
              <a:rPr lang="en-US" sz="1800" b="0" i="0" u="none" strike="noStrike" cap="none" dirty="0">
                <a:solidFill>
                  <a:schemeClr val="tx1">
                    <a:lumMod val="95000"/>
                    <a:lumOff val="5000"/>
                  </a:schemeClr>
                </a:solidFill>
                <a:latin typeface="Times New Roman" panose="02020603050405020304" pitchFamily="18" charset="0"/>
                <a:ea typeface="Times New Roman"/>
                <a:cs typeface="Times New Roman" panose="02020603050405020304" pitchFamily="18" charset="0"/>
                <a:sym typeface="Times New Roman"/>
              </a:rPr>
              <a:t>Designation: Associate Professor</a:t>
            </a:r>
            <a:br>
              <a:rPr lang="en-US" sz="1800" b="0" i="0" u="none" strike="noStrike" cap="none" dirty="0">
                <a:solidFill>
                  <a:schemeClr val="tx1">
                    <a:lumMod val="95000"/>
                    <a:lumOff val="5000"/>
                  </a:schemeClr>
                </a:solidFill>
                <a:latin typeface="Times New Roman" panose="02020603050405020304" pitchFamily="18" charset="0"/>
                <a:ea typeface="Times New Roman"/>
                <a:cs typeface="Times New Roman" panose="02020603050405020304" pitchFamily="18" charset="0"/>
                <a:sym typeface="Times New Roman"/>
              </a:rPr>
            </a:br>
            <a:r>
              <a:rPr lang="en-US" sz="1800" b="0" i="0" u="none" strike="noStrike" cap="none" dirty="0">
                <a:solidFill>
                  <a:schemeClr val="tx1">
                    <a:lumMod val="95000"/>
                    <a:lumOff val="5000"/>
                  </a:schemeClr>
                </a:solidFill>
                <a:latin typeface="Times New Roman" panose="02020603050405020304" pitchFamily="18" charset="0"/>
                <a:ea typeface="Times New Roman"/>
                <a:cs typeface="Times New Roman" panose="02020603050405020304" pitchFamily="18" charset="0"/>
                <a:sym typeface="Times New Roman"/>
              </a:rPr>
              <a:t>Department: Computer Science and Engineering</a:t>
            </a:r>
            <a:endParaRPr sz="18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2"/>
          <p:cNvSpPr txBox="1">
            <a:spLocks noGrp="1"/>
          </p:cNvSpPr>
          <p:nvPr>
            <p:ph type="title"/>
          </p:nvPr>
        </p:nvSpPr>
        <p:spPr>
          <a:xfrm>
            <a:off x="190982" y="0"/>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dirty="0"/>
              <a:t>      </a:t>
            </a:r>
            <a:r>
              <a:rPr lang="en-US" b="1" dirty="0"/>
              <a:t>Abstract</a:t>
            </a:r>
            <a:endParaRPr b="1" dirty="0"/>
          </a:p>
        </p:txBody>
      </p:sp>
      <p:sp>
        <p:nvSpPr>
          <p:cNvPr id="98" name="Google Shape;98;p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55000" lnSpcReduction="20000"/>
          </a:bodyPr>
          <a:lstStyle/>
          <a:p>
            <a:pPr marL="0" lvl="0" indent="0" algn="just" rtl="0">
              <a:lnSpc>
                <a:spcPct val="100000"/>
              </a:lnSpc>
              <a:spcBef>
                <a:spcPts val="0"/>
              </a:spcBef>
              <a:spcAft>
                <a:spcPts val="0"/>
              </a:spcAft>
              <a:buClr>
                <a:schemeClr val="dk1"/>
              </a:buClr>
              <a:buSzPts val="3200"/>
              <a:buNone/>
            </a:pPr>
            <a:r>
              <a:rPr lang="en-US" dirty="0">
                <a:latin typeface="Times New Roman"/>
                <a:ea typeface="Times New Roman"/>
                <a:cs typeface="Times New Roman"/>
                <a:sym typeface="Times New Roman"/>
              </a:rPr>
              <a:t>  Accurate and reliable identification of deepfake content across images, videos, and audio is critical for maintaining digital trust and preventing misuse of synthetic media. However, existing deepfake detection systems and general-purpose AI models often struggle to handle diverse manipulation techniques and may fail under real-world conditions, leading to unreliable or misleading results. These systems frequently rely on single modalities or closed-set assumptions, which limits their effectiveness against evolving deepfake generation methods. To address these challenges, this paper presents DeepShield, an AI-powered digital forensics framework for multi-modal deepfake detection. The proposed system combines separate visual and audio analysis modules with a unified detection pipeline to assess the authenticity of multimedia content. DeepShield is designed to analyze spatial, temporal, and spectral inconsistencies introduced during media manipulation and to provide a consolidated prediction across modalities. To improve transparency, the framework incorporates basic forensic explanations such as attention maps and confidence indicators. The system emphasizes simplicity, reproducibility, and practical deployment using publicly available datasets and lightweight models. Overall, DeepShield aims to support safer and more reliable identification of synthetic media by providing an interpretable and accessible AI-assisted solution for academic and forensic applications. </a:t>
            </a:r>
            <a:endParaRPr dirty="0">
              <a:latin typeface="Times New Roman"/>
              <a:ea typeface="Times New Roman"/>
              <a:cs typeface="Times New Roman"/>
              <a:sym typeface="Times New Roman"/>
            </a:endParaRPr>
          </a:p>
          <a:p>
            <a:pPr marL="342900" lvl="0" indent="-139700" algn="just" rtl="0">
              <a:lnSpc>
                <a:spcPct val="100000"/>
              </a:lnSpc>
              <a:spcBef>
                <a:spcPts val="640"/>
              </a:spcBef>
              <a:spcAft>
                <a:spcPts val="0"/>
              </a:spcAft>
              <a:buClr>
                <a:schemeClr val="dk1"/>
              </a:buClr>
              <a:buSzPts val="3200"/>
              <a:buNone/>
            </a:pPr>
            <a:endParaRPr dirty="0">
              <a:latin typeface="Times New Roman"/>
              <a:ea typeface="Times New Roman"/>
              <a:cs typeface="Times New Roman"/>
              <a:sym typeface="Times New Roman"/>
            </a:endParaRPr>
          </a:p>
        </p:txBody>
      </p:sp>
      <p:pic>
        <p:nvPicPr>
          <p:cNvPr id="99" name="Google Shape;99;p2"/>
          <p:cNvPicPr preferRelativeResize="0"/>
          <p:nvPr/>
        </p:nvPicPr>
        <p:blipFill rotWithShape="1">
          <a:blip r:embed="rId3">
            <a:alphaModFix/>
          </a:blip>
          <a:srcRect/>
          <a:stretch/>
        </p:blipFill>
        <p:spPr>
          <a:xfrm>
            <a:off x="0" y="91123"/>
            <a:ext cx="2237740" cy="755015"/>
          </a:xfrm>
          <a:prstGeom prst="rect">
            <a:avLst/>
          </a:prstGeom>
          <a:noFill/>
          <a:ln>
            <a:noFill/>
          </a:ln>
        </p:spPr>
      </p:pic>
      <p:sp>
        <p:nvSpPr>
          <p:cNvPr id="100" name="Google Shape;100;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b="1" dirty="0"/>
              <a:t>24-01-2026</a:t>
            </a:r>
            <a:endParaRPr dirty="0"/>
          </a:p>
        </p:txBody>
      </p:sp>
      <p:sp>
        <p:nvSpPr>
          <p:cNvPr id="101" name="Google Shape;101;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r>
              <a:rPr lang="en-US" dirty="0"/>
              <a:t>Major Project- Review I</a:t>
            </a:r>
          </a:p>
          <a:p>
            <a:pPr marL="0" lvl="0" indent="0" algn="ctr" rtl="0">
              <a:lnSpc>
                <a:spcPct val="100000"/>
              </a:lnSpc>
              <a:spcBef>
                <a:spcPts val="0"/>
              </a:spcBef>
              <a:spcAft>
                <a:spcPts val="0"/>
              </a:spcAft>
              <a:buSzPts val="1400"/>
              <a:buNone/>
            </a:pPr>
            <a:endParaRPr dirty="0"/>
          </a:p>
        </p:txBody>
      </p:sp>
      <p:sp>
        <p:nvSpPr>
          <p:cNvPr id="102" name="Google Shape;102;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a:t>
            </a:fld>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3"/>
          <p:cNvSpPr txBox="1">
            <a:spLocks noGrp="1"/>
          </p:cNvSpPr>
          <p:nvPr>
            <p:ph type="title"/>
          </p:nvPr>
        </p:nvSpPr>
        <p:spPr>
          <a:xfrm>
            <a:off x="1614949" y="-70884"/>
            <a:ext cx="8229600" cy="1143000"/>
          </a:xfrm>
          <a:prstGeom prst="rect">
            <a:avLst/>
          </a:prstGeom>
          <a:noFill/>
          <a:ln>
            <a:noFill/>
          </a:ln>
        </p:spPr>
        <p:txBody>
          <a:bodyPr spcFirstLastPara="1" wrap="square" lIns="91425" tIns="45700" rIns="91425" bIns="45700" anchor="ctr" anchorCtr="0">
            <a:normAutofit/>
          </a:bodyPr>
          <a:lstStyle/>
          <a:p>
            <a:pPr lvl="0">
              <a:buSzPts val="4400"/>
            </a:pPr>
            <a:r>
              <a:rPr lang="en-US" sz="3200" b="1" dirty="0">
                <a:latin typeface="Times New Roman"/>
                <a:ea typeface="Times New Roman"/>
                <a:cs typeface="Times New Roman"/>
                <a:sym typeface="Times New Roman"/>
              </a:rPr>
              <a:t>Introduction &amp; Problem Statement  </a:t>
            </a:r>
            <a:endParaRPr sz="3200" b="1" dirty="0"/>
          </a:p>
        </p:txBody>
      </p:sp>
      <p:sp>
        <p:nvSpPr>
          <p:cNvPr id="108" name="Google Shape;108;p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62500" lnSpcReduction="20000"/>
          </a:bodyPr>
          <a:lstStyle/>
          <a:p>
            <a:pPr marL="0" lvl="0" indent="0" algn="just" rtl="0">
              <a:lnSpc>
                <a:spcPct val="100000"/>
              </a:lnSpc>
              <a:spcBef>
                <a:spcPts val="0"/>
              </a:spcBef>
              <a:spcAft>
                <a:spcPts val="0"/>
              </a:spcAft>
              <a:buClr>
                <a:schemeClr val="dk1"/>
              </a:buClr>
              <a:buSzPts val="3200"/>
              <a:buNone/>
            </a:pPr>
            <a:r>
              <a:rPr lang="en-US" dirty="0">
                <a:latin typeface="Times New Roman"/>
                <a:ea typeface="Times New Roman"/>
                <a:cs typeface="Times New Roman"/>
                <a:sym typeface="Times New Roman"/>
              </a:rPr>
              <a:t>The rapid growth of generative artificial intelligence has enabled the creation of highly realistic synthetic images, videos, and audio, commonly referred to as deepfakes. While these technologies offer creative and commercial benefits, they also pose serious risks to digital trust, identity security, and information integrity. Deepfakes can be misused for impersonation, misinformation, fraud, and social manipulation, making reliable detection an important challenge for digital forensics and cybersecurity. Existing deepfake detection approaches often rely on single modalities such as visual or audio data and are typically trained under closed-set assumptions. As a result, their performance degrades when exposed to unseen manipulation techniques, real-world compression, or partial media tampering. Moreover, many deep learning–based detectors operate as black-box systems, providing limited interpretability and reducing their usefulness in forensic investigations. These limitations highlight the need for a practical and interpretable multi-modal deepfake detection framework. This research addresses this problem by proposing DeepShield, a unified system that analyzes both visual and audio cues to improve robustness, transparency, and reliability in detecting synthetic media under realistic conditions.                 </a:t>
            </a:r>
            <a:endParaRPr dirty="0">
              <a:latin typeface="Times New Roman"/>
              <a:ea typeface="Times New Roman"/>
              <a:cs typeface="Times New Roman"/>
              <a:sym typeface="Times New Roman"/>
            </a:endParaRPr>
          </a:p>
          <a:p>
            <a:pPr marL="342900" lvl="0" indent="-139700" algn="just" rtl="0">
              <a:lnSpc>
                <a:spcPct val="100000"/>
              </a:lnSpc>
              <a:spcBef>
                <a:spcPts val="640"/>
              </a:spcBef>
              <a:spcAft>
                <a:spcPts val="0"/>
              </a:spcAft>
              <a:buClr>
                <a:schemeClr val="dk1"/>
              </a:buClr>
              <a:buSzPts val="3200"/>
              <a:buNone/>
            </a:pPr>
            <a:endParaRPr dirty="0">
              <a:latin typeface="Times New Roman"/>
              <a:ea typeface="Times New Roman"/>
              <a:cs typeface="Times New Roman"/>
              <a:sym typeface="Times New Roman"/>
            </a:endParaRPr>
          </a:p>
          <a:p>
            <a:pPr marL="342900" lvl="0" indent="-139700" algn="just" rtl="0">
              <a:lnSpc>
                <a:spcPct val="100000"/>
              </a:lnSpc>
              <a:spcBef>
                <a:spcPts val="640"/>
              </a:spcBef>
              <a:spcAft>
                <a:spcPts val="0"/>
              </a:spcAft>
              <a:buClr>
                <a:schemeClr val="dk1"/>
              </a:buClr>
              <a:buSzPts val="3200"/>
              <a:buNone/>
            </a:pPr>
            <a:endParaRPr dirty="0">
              <a:latin typeface="Times New Roman"/>
              <a:ea typeface="Times New Roman"/>
              <a:cs typeface="Times New Roman"/>
              <a:sym typeface="Times New Roman"/>
            </a:endParaRPr>
          </a:p>
        </p:txBody>
      </p:sp>
      <p:pic>
        <p:nvPicPr>
          <p:cNvPr id="109" name="Google Shape;109;p3"/>
          <p:cNvPicPr preferRelativeResize="0"/>
          <p:nvPr/>
        </p:nvPicPr>
        <p:blipFill rotWithShape="1">
          <a:blip r:embed="rId3">
            <a:alphaModFix/>
          </a:blip>
          <a:srcRect/>
          <a:stretch/>
        </p:blipFill>
        <p:spPr>
          <a:xfrm>
            <a:off x="0" y="44451"/>
            <a:ext cx="2237740" cy="755015"/>
          </a:xfrm>
          <a:prstGeom prst="rect">
            <a:avLst/>
          </a:prstGeom>
          <a:noFill/>
          <a:ln>
            <a:noFill/>
          </a:ln>
        </p:spPr>
      </p:pic>
      <p:sp>
        <p:nvSpPr>
          <p:cNvPr id="110" name="Google Shape;110;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lvl="0"/>
            <a:r>
              <a:rPr lang="en-US" b="1" dirty="0"/>
              <a:t>24-01-2026</a:t>
            </a:r>
            <a:endParaRPr lang="en-US" dirty="0"/>
          </a:p>
        </p:txBody>
      </p:sp>
      <p:sp>
        <p:nvSpPr>
          <p:cNvPr id="111" name="Google Shape;111;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r>
              <a:rPr lang="en-US" dirty="0"/>
              <a:t>Major Project- Review I</a:t>
            </a:r>
          </a:p>
          <a:p>
            <a:pPr marL="0" lvl="0" indent="0" algn="ctr" rtl="0">
              <a:lnSpc>
                <a:spcPct val="100000"/>
              </a:lnSpc>
              <a:spcBef>
                <a:spcPts val="0"/>
              </a:spcBef>
              <a:spcAft>
                <a:spcPts val="0"/>
              </a:spcAft>
              <a:buSzPts val="1400"/>
              <a:buNone/>
            </a:pPr>
            <a:endParaRPr dirty="0"/>
          </a:p>
        </p:txBody>
      </p:sp>
      <p:sp>
        <p:nvSpPr>
          <p:cNvPr id="112" name="Google Shape;112;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8" name="Google Shape;118;p4"/>
          <p:cNvSpPr txBox="1">
            <a:spLocks noGrp="1"/>
          </p:cNvSpPr>
          <p:nvPr>
            <p:ph type="body" idx="1"/>
          </p:nvPr>
        </p:nvSpPr>
        <p:spPr>
          <a:xfrm>
            <a:off x="457200" y="1166018"/>
            <a:ext cx="8229600" cy="4525963"/>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3200"/>
              <a:buNone/>
            </a:pPr>
            <a:r>
              <a:rPr lang="en-US" dirty="0">
                <a:latin typeface="Times New Roman"/>
                <a:ea typeface="Times New Roman"/>
                <a:cs typeface="Times New Roman"/>
                <a:sym typeface="Times New Roman"/>
              </a:rPr>
              <a:t>  </a:t>
            </a:r>
            <a:endParaRPr dirty="0">
              <a:latin typeface="Times New Roman"/>
              <a:ea typeface="Times New Roman"/>
              <a:cs typeface="Times New Roman"/>
              <a:sym typeface="Times New Roman"/>
            </a:endParaRPr>
          </a:p>
          <a:p>
            <a:pPr marL="342900" lvl="0" indent="-139700" algn="l" rtl="0">
              <a:lnSpc>
                <a:spcPct val="100000"/>
              </a:lnSpc>
              <a:spcBef>
                <a:spcPts val="640"/>
              </a:spcBef>
              <a:spcAft>
                <a:spcPts val="0"/>
              </a:spcAft>
              <a:buClr>
                <a:schemeClr val="dk1"/>
              </a:buClr>
              <a:buSzPts val="3200"/>
              <a:buNone/>
            </a:pPr>
            <a:endParaRPr dirty="0">
              <a:latin typeface="Times New Roman"/>
              <a:ea typeface="Times New Roman"/>
              <a:cs typeface="Times New Roman"/>
              <a:sym typeface="Times New Roman"/>
            </a:endParaRPr>
          </a:p>
          <a:p>
            <a:pPr marL="342900" lvl="0" indent="-139700" algn="l" rtl="0">
              <a:lnSpc>
                <a:spcPct val="100000"/>
              </a:lnSpc>
              <a:spcBef>
                <a:spcPts val="640"/>
              </a:spcBef>
              <a:spcAft>
                <a:spcPts val="0"/>
              </a:spcAft>
              <a:buClr>
                <a:schemeClr val="dk1"/>
              </a:buClr>
              <a:buSzPts val="3200"/>
              <a:buNone/>
            </a:pPr>
            <a:endParaRPr dirty="0">
              <a:latin typeface="Times New Roman"/>
              <a:ea typeface="Times New Roman"/>
              <a:cs typeface="Times New Roman"/>
              <a:sym typeface="Times New Roman"/>
            </a:endParaRPr>
          </a:p>
        </p:txBody>
      </p:sp>
      <p:pic>
        <p:nvPicPr>
          <p:cNvPr id="119" name="Google Shape;119;p4"/>
          <p:cNvPicPr preferRelativeResize="0"/>
          <p:nvPr/>
        </p:nvPicPr>
        <p:blipFill rotWithShape="1">
          <a:blip r:embed="rId3">
            <a:alphaModFix/>
          </a:blip>
          <a:srcRect/>
          <a:stretch/>
        </p:blipFill>
        <p:spPr>
          <a:xfrm>
            <a:off x="112853" y="44451"/>
            <a:ext cx="2237740" cy="755015"/>
          </a:xfrm>
          <a:prstGeom prst="rect">
            <a:avLst/>
          </a:prstGeom>
          <a:noFill/>
          <a:ln>
            <a:noFill/>
          </a:ln>
        </p:spPr>
      </p:pic>
      <p:sp>
        <p:nvSpPr>
          <p:cNvPr id="120" name="Google Shape;120;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lvl="0"/>
            <a:r>
              <a:rPr lang="en-US" b="1" dirty="0"/>
              <a:t>24-01-2026</a:t>
            </a:r>
            <a:endParaRPr lang="en-US" dirty="0"/>
          </a:p>
        </p:txBody>
      </p:sp>
      <p:sp>
        <p:nvSpPr>
          <p:cNvPr id="121" name="Google Shape;121;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r>
              <a:rPr lang="en-US" dirty="0"/>
              <a:t>Major Project- Review I</a:t>
            </a:r>
          </a:p>
          <a:p>
            <a:pPr lvl="0"/>
            <a:endParaRPr lang="en-US" dirty="0"/>
          </a:p>
          <a:p>
            <a:pPr marL="0" lvl="0" indent="0" algn="ctr" rtl="0">
              <a:lnSpc>
                <a:spcPct val="100000"/>
              </a:lnSpc>
              <a:spcBef>
                <a:spcPts val="0"/>
              </a:spcBef>
              <a:spcAft>
                <a:spcPts val="0"/>
              </a:spcAft>
              <a:buSzPts val="1400"/>
              <a:buNone/>
            </a:pPr>
            <a:endParaRPr dirty="0"/>
          </a:p>
        </p:txBody>
      </p:sp>
      <p:sp>
        <p:nvSpPr>
          <p:cNvPr id="122" name="Google Shape;122;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a:t>
            </a:fld>
            <a:endParaRPr/>
          </a:p>
        </p:txBody>
      </p:sp>
      <p:sp>
        <p:nvSpPr>
          <p:cNvPr id="4" name="Google Shape;117;p4"/>
          <p:cNvSpPr txBox="1">
            <a:spLocks noGrp="1"/>
          </p:cNvSpPr>
          <p:nvPr>
            <p:ph type="title"/>
          </p:nvPr>
        </p:nvSpPr>
        <p:spPr>
          <a:xfrm>
            <a:off x="2402212" y="-183496"/>
            <a:ext cx="8229600" cy="1143000"/>
          </a:xfrm>
          <a:prstGeom prst="rect">
            <a:avLst/>
          </a:prstGeom>
          <a:noFill/>
          <a:ln>
            <a:noFill/>
          </a:ln>
        </p:spPr>
        <p:txBody>
          <a:bodyPr spcFirstLastPara="1" wrap="square" lIns="91425" tIns="45700" rIns="91425" bIns="45700" anchor="ctr" anchorCtr="0">
            <a:normAutofit/>
          </a:bodyPr>
          <a:lstStyle/>
          <a:p>
            <a:pPr lvl="0" algn="l">
              <a:buSzPts val="3200"/>
            </a:pPr>
            <a:r>
              <a:rPr lang="en-US" b="1" dirty="0"/>
              <a:t>      </a:t>
            </a:r>
            <a:r>
              <a:rPr lang="en-US" b="1" dirty="0">
                <a:latin typeface="Times New Roman"/>
                <a:ea typeface="Times New Roman"/>
                <a:cs typeface="Times New Roman"/>
                <a:sym typeface="Times New Roman"/>
              </a:rPr>
              <a:t>  Existing System</a:t>
            </a:r>
            <a:endParaRPr b="1" dirty="0"/>
          </a:p>
        </p:txBody>
      </p:sp>
      <p:sp>
        <p:nvSpPr>
          <p:cNvPr id="10" name="Rectangle 5">
            <a:extLst>
              <a:ext uri="{FF2B5EF4-FFF2-40B4-BE49-F238E27FC236}">
                <a16:creationId xmlns:a16="http://schemas.microsoft.com/office/drawing/2014/main" id="{A1EC5325-C35A-868C-40E6-F68F0D38E4C9}"/>
              </a:ext>
            </a:extLst>
          </p:cNvPr>
          <p:cNvSpPr>
            <a:spLocks noChangeArrowheads="1"/>
          </p:cNvSpPr>
          <p:nvPr/>
        </p:nvSpPr>
        <p:spPr bwMode="auto">
          <a:xfrm>
            <a:off x="580292" y="1028342"/>
            <a:ext cx="7983415"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Existing deepfake detection systems rely heavily on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single-modality feature similarity</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assuming that one type of evidence (visual or audio) is sufficient.</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These systems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assume the extracted features are always reliable</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without verifying consistency across multiple modalities.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When manipulation artifacts are subtle or unseen, models produce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unreliable predictions due to incomplete or weak feature cues</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If the detector fails to capture relevant manipulation patterns, the system still outputs a decision, leading to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false confidence or misclassification</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There is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 fallback or compensatory mechanism</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when one modality fails or is missing.</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As a result, existing systems lack robustness and perform poorly under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real-world conditions and novel deepfake generation techniques</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5"/>
          <p:cNvSpPr txBox="1">
            <a:spLocks noGrp="1"/>
          </p:cNvSpPr>
          <p:nvPr>
            <p:ph type="body" idx="1"/>
          </p:nvPr>
        </p:nvSpPr>
        <p:spPr>
          <a:xfrm>
            <a:off x="457200" y="1559308"/>
            <a:ext cx="8229600" cy="4525963"/>
          </a:xfrm>
          <a:prstGeom prst="rect">
            <a:avLst/>
          </a:prstGeom>
          <a:noFill/>
          <a:ln>
            <a:noFill/>
          </a:ln>
        </p:spPr>
        <p:txBody>
          <a:bodyPr spcFirstLastPara="1" wrap="square" lIns="91425" tIns="45700" rIns="91425" bIns="45700" anchor="t" anchorCtr="0">
            <a:normAutofit/>
          </a:bodyPr>
          <a:lstStyle/>
          <a:p>
            <a:pPr marL="0" lvl="0" indent="0" algn="just">
              <a:spcBef>
                <a:spcPts val="0"/>
              </a:spcBef>
              <a:buSzPts val="3200"/>
              <a:buNone/>
            </a:pPr>
            <a:r>
              <a:rPr lang="en-IN" sz="2000" b="1" dirty="0">
                <a:latin typeface="Times New Roman" panose="02020603050405020304" pitchFamily="18" charset="0"/>
                <a:cs typeface="Times New Roman" panose="02020603050405020304" pitchFamily="18" charset="0"/>
              </a:rPr>
              <a:t>Problem: </a:t>
            </a:r>
            <a:r>
              <a:rPr lang="en-US" sz="2000" dirty="0">
                <a:latin typeface="Times New Roman" panose="02020603050405020304" pitchFamily="18" charset="0"/>
                <a:cs typeface="Times New Roman" panose="02020603050405020304" pitchFamily="18" charset="0"/>
              </a:rPr>
              <a:t>The increasing use of generative AI has led to the widespread creation of realistic deepfake images, videos, and audio, posing serious risks to digital trust, identity security, and misinformation control. Existing deepfake detection systems are often unimodal, lack robustness to unseen manipulations, and provide limited interpretability.</a:t>
            </a:r>
          </a:p>
          <a:p>
            <a:pPr marL="0" lvl="0" indent="0" algn="just">
              <a:spcBef>
                <a:spcPts val="0"/>
              </a:spcBef>
              <a:buSzPts val="3200"/>
              <a:buNone/>
            </a:pPr>
            <a:endParaRPr lang="en-US" sz="2000" b="1" dirty="0">
              <a:latin typeface="Times New Roman" panose="02020603050405020304" pitchFamily="18" charset="0"/>
              <a:cs typeface="Times New Roman" panose="02020603050405020304" pitchFamily="18" charset="0"/>
            </a:endParaRPr>
          </a:p>
          <a:p>
            <a:pPr marL="0" lvl="0" indent="0" algn="just">
              <a:spcBef>
                <a:spcPts val="0"/>
              </a:spcBef>
              <a:buSzPts val="3200"/>
              <a:buNone/>
            </a:pPr>
            <a:endParaRPr lang="en-US" sz="2000" b="1" dirty="0">
              <a:latin typeface="Times New Roman" panose="02020603050405020304" pitchFamily="18" charset="0"/>
              <a:cs typeface="Times New Roman" panose="02020603050405020304" pitchFamily="18" charset="0"/>
            </a:endParaRPr>
          </a:p>
          <a:p>
            <a:pPr marL="0" lvl="0" indent="0" algn="just">
              <a:spcBef>
                <a:spcPts val="0"/>
              </a:spcBef>
              <a:buSzPts val="3200"/>
              <a:buNone/>
            </a:pPr>
            <a:r>
              <a:rPr lang="en-US" sz="2000" b="1" dirty="0">
                <a:latin typeface="Times New Roman" panose="02020603050405020304" pitchFamily="18" charset="0"/>
                <a:cs typeface="Times New Roman" panose="02020603050405020304" pitchFamily="18" charset="0"/>
              </a:rPr>
              <a:t>Objective: </a:t>
            </a:r>
            <a:r>
              <a:rPr lang="en-US" sz="2000" dirty="0">
                <a:latin typeface="Times New Roman" panose="02020603050405020304" pitchFamily="18" charset="0"/>
                <a:cs typeface="Times New Roman" panose="02020603050405020304" pitchFamily="18" charset="0"/>
              </a:rPr>
              <a:t>The objective of this work is to develop DeepShield, a practical multi-modal deepfake detection framework that analyzes both visual and audio cues, improves robustness under real-world conditions, and provides basic forensic explanations using publicly available datasets.</a:t>
            </a:r>
            <a:endParaRPr sz="2000" b="1" dirty="0">
              <a:latin typeface="Times New Roman" panose="02020603050405020304" pitchFamily="18" charset="0"/>
              <a:cs typeface="Times New Roman" panose="02020603050405020304" pitchFamily="18" charset="0"/>
            </a:endParaRPr>
          </a:p>
        </p:txBody>
      </p:sp>
      <p:pic>
        <p:nvPicPr>
          <p:cNvPr id="128" name="Google Shape;128;p5"/>
          <p:cNvPicPr preferRelativeResize="0"/>
          <p:nvPr/>
        </p:nvPicPr>
        <p:blipFill rotWithShape="1">
          <a:blip r:embed="rId3">
            <a:alphaModFix/>
          </a:blip>
          <a:srcRect/>
          <a:stretch/>
        </p:blipFill>
        <p:spPr>
          <a:xfrm>
            <a:off x="0" y="0"/>
            <a:ext cx="2237740" cy="755015"/>
          </a:xfrm>
          <a:prstGeom prst="rect">
            <a:avLst/>
          </a:prstGeom>
          <a:noFill/>
          <a:ln>
            <a:noFill/>
          </a:ln>
        </p:spPr>
      </p:pic>
      <p:sp>
        <p:nvSpPr>
          <p:cNvPr id="129" name="Google Shape;129;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lvl="0"/>
            <a:r>
              <a:rPr lang="en-US" b="1" dirty="0"/>
              <a:t>24-01-2026</a:t>
            </a:r>
            <a:endParaRPr lang="en-US" dirty="0"/>
          </a:p>
        </p:txBody>
      </p:sp>
      <p:sp>
        <p:nvSpPr>
          <p:cNvPr id="130" name="Google Shape;130;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r>
              <a:rPr lang="en-US" dirty="0"/>
              <a:t>Major Project- Review I</a:t>
            </a:r>
          </a:p>
          <a:p>
            <a:pPr marL="0" lvl="0" indent="0" algn="ctr" rtl="0">
              <a:lnSpc>
                <a:spcPct val="100000"/>
              </a:lnSpc>
              <a:spcBef>
                <a:spcPts val="0"/>
              </a:spcBef>
              <a:spcAft>
                <a:spcPts val="0"/>
              </a:spcAft>
              <a:buSzPts val="1400"/>
              <a:buNone/>
            </a:pPr>
            <a:endParaRPr dirty="0"/>
          </a:p>
        </p:txBody>
      </p:sp>
      <p:sp>
        <p:nvSpPr>
          <p:cNvPr id="131" name="Google Shape;131;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a:t>
            </a:fld>
            <a:endParaRPr/>
          </a:p>
        </p:txBody>
      </p:sp>
      <p:sp>
        <p:nvSpPr>
          <p:cNvPr id="2" name="TextBox 1">
            <a:extLst>
              <a:ext uri="{FF2B5EF4-FFF2-40B4-BE49-F238E27FC236}">
                <a16:creationId xmlns:a16="http://schemas.microsoft.com/office/drawing/2014/main" id="{494DD4EA-2B37-3FDF-93CD-F128B0CA2EFD}"/>
              </a:ext>
            </a:extLst>
          </p:cNvPr>
          <p:cNvSpPr txBox="1"/>
          <p:nvPr/>
        </p:nvSpPr>
        <p:spPr>
          <a:xfrm>
            <a:off x="1345012" y="0"/>
            <a:ext cx="8785123" cy="646331"/>
          </a:xfrm>
          <a:prstGeom prst="rect">
            <a:avLst/>
          </a:prstGeom>
          <a:noFill/>
        </p:spPr>
        <p:txBody>
          <a:bodyPr wrap="square" rtlCol="0">
            <a:spAutoFit/>
          </a:bodyPr>
          <a:lstStyle/>
          <a:p>
            <a:pPr lvl="0" algn="ctr">
              <a:buSzPts val="3200"/>
            </a:pPr>
            <a:r>
              <a:rPr lang="en-US" sz="3600" b="1" dirty="0">
                <a:latin typeface="Times New Roman" panose="02020603050405020304" pitchFamily="18" charset="0"/>
                <a:ea typeface="Times New Roman"/>
                <a:cs typeface="Times New Roman" panose="02020603050405020304" pitchFamily="18" charset="0"/>
                <a:sym typeface="Times New Roman"/>
              </a:rPr>
              <a:t>Problem statement and Objectives </a:t>
            </a:r>
            <a:endParaRPr lang="en-US" sz="36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18"/>
          <p:cNvSpPr txBox="1">
            <a:spLocks noGrp="1"/>
          </p:cNvSpPr>
          <p:nvPr>
            <p:ph type="title"/>
          </p:nvPr>
        </p:nvSpPr>
        <p:spPr>
          <a:xfrm>
            <a:off x="457200" y="-149542"/>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dirty="0"/>
              <a:t>      </a:t>
            </a:r>
            <a:r>
              <a:rPr lang="en-US" b="1" dirty="0"/>
              <a:t>Proposed System</a:t>
            </a:r>
            <a:endParaRPr dirty="0"/>
          </a:p>
        </p:txBody>
      </p:sp>
      <p:sp>
        <p:nvSpPr>
          <p:cNvPr id="137" name="Google Shape;137;p18"/>
          <p:cNvSpPr txBox="1">
            <a:spLocks noGrp="1"/>
          </p:cNvSpPr>
          <p:nvPr>
            <p:ph type="body" idx="1"/>
          </p:nvPr>
        </p:nvSpPr>
        <p:spPr>
          <a:xfrm>
            <a:off x="349045" y="1508918"/>
            <a:ext cx="8229600" cy="4525963"/>
          </a:xfrm>
          <a:prstGeom prst="rect">
            <a:avLst/>
          </a:prstGeom>
          <a:noFill/>
          <a:ln>
            <a:noFill/>
          </a:ln>
        </p:spPr>
        <p:txBody>
          <a:bodyPr spcFirstLastPara="1" wrap="square" lIns="91425" tIns="45700" rIns="91425" bIns="45700" anchor="t" anchorCtr="0">
            <a:noAutofit/>
          </a:bodyPr>
          <a:lstStyle/>
          <a:p>
            <a:pPr algn="just"/>
            <a:r>
              <a:rPr lang="en-US" sz="1600" dirty="0">
                <a:latin typeface="Times New Roman" panose="02020603050405020304" pitchFamily="18" charset="0"/>
                <a:cs typeface="Times New Roman" panose="02020603050405020304" pitchFamily="18" charset="0"/>
              </a:rPr>
              <a:t>The proposed system, </a:t>
            </a:r>
            <a:r>
              <a:rPr lang="en-US" sz="1600" b="1" dirty="0">
                <a:latin typeface="Times New Roman" panose="02020603050405020304" pitchFamily="18" charset="0"/>
                <a:cs typeface="Times New Roman" panose="02020603050405020304" pitchFamily="18" charset="0"/>
              </a:rPr>
              <a:t>DeepShield</a:t>
            </a:r>
            <a:r>
              <a:rPr lang="en-US" sz="1600" dirty="0">
                <a:latin typeface="Times New Roman" panose="02020603050405020304" pitchFamily="18" charset="0"/>
                <a:cs typeface="Times New Roman" panose="02020603050405020304" pitchFamily="18" charset="0"/>
              </a:rPr>
              <a:t>, improves traditional deepfake detection approaches by introducing a </a:t>
            </a:r>
            <a:r>
              <a:rPr lang="en-US" sz="1600" b="1" dirty="0">
                <a:latin typeface="Times New Roman" panose="02020603050405020304" pitchFamily="18" charset="0"/>
                <a:cs typeface="Times New Roman" panose="02020603050405020304" pitchFamily="18" charset="0"/>
              </a:rPr>
              <a:t>multi-modal and robust analysis framework</a:t>
            </a:r>
            <a:r>
              <a:rPr lang="en-US" sz="1600" dirty="0">
                <a:latin typeface="Times New Roman" panose="02020603050405020304" pitchFamily="18" charset="0"/>
                <a:cs typeface="Times New Roman" panose="02020603050405020304" pitchFamily="18" charset="0"/>
              </a:rPr>
              <a:t> for images, videos, and audio.</a:t>
            </a:r>
          </a:p>
          <a:p>
            <a:pPr algn="just"/>
            <a:r>
              <a:rPr lang="en-US" sz="1600" dirty="0">
                <a:latin typeface="Times New Roman" panose="02020603050405020304" pitchFamily="18" charset="0"/>
                <a:cs typeface="Times New Roman" panose="02020603050405020304" pitchFamily="18" charset="0"/>
              </a:rPr>
              <a:t>Instead of relying on a single modality, the system combines </a:t>
            </a:r>
            <a:r>
              <a:rPr lang="en-US" sz="1600" b="1" dirty="0">
                <a:latin typeface="Times New Roman" panose="02020603050405020304" pitchFamily="18" charset="0"/>
                <a:cs typeface="Times New Roman" panose="02020603050405020304" pitchFamily="18" charset="0"/>
              </a:rPr>
              <a:t>visual and audio detection modules</a:t>
            </a:r>
            <a:r>
              <a:rPr lang="en-US" sz="1600" dirty="0">
                <a:latin typeface="Times New Roman" panose="02020603050405020304" pitchFamily="18" charset="0"/>
                <a:cs typeface="Times New Roman" panose="02020603050405020304" pitchFamily="18" charset="0"/>
              </a:rPr>
              <a:t> to improve reliability under real-world conditions.</a:t>
            </a:r>
          </a:p>
          <a:p>
            <a:pPr algn="just"/>
            <a:r>
              <a:rPr lang="en-US" sz="1600" dirty="0">
                <a:latin typeface="Times New Roman" panose="02020603050405020304" pitchFamily="18" charset="0"/>
                <a:cs typeface="Times New Roman" panose="02020603050405020304" pitchFamily="18" charset="0"/>
              </a:rPr>
              <a:t>The system first analyzes available media using </a:t>
            </a:r>
            <a:r>
              <a:rPr lang="en-US" sz="1600" b="1" dirty="0">
                <a:latin typeface="Times New Roman" panose="02020603050405020304" pitchFamily="18" charset="0"/>
                <a:cs typeface="Times New Roman" panose="02020603050405020304" pitchFamily="18" charset="0"/>
              </a:rPr>
              <a:t>modality-specific deep learning models</a:t>
            </a:r>
            <a:r>
              <a:rPr lang="en-US" sz="1600" dirty="0">
                <a:latin typeface="Times New Roman" panose="02020603050405020304" pitchFamily="18" charset="0"/>
                <a:cs typeface="Times New Roman" panose="02020603050405020304" pitchFamily="18" charset="0"/>
              </a:rPr>
              <a:t> to extract manipulation-related features.</a:t>
            </a:r>
          </a:p>
          <a:p>
            <a:pPr algn="just"/>
            <a:r>
              <a:rPr lang="en-US" sz="1600" dirty="0">
                <a:latin typeface="Times New Roman" panose="02020603050405020304" pitchFamily="18" charset="0"/>
                <a:cs typeface="Times New Roman" panose="02020603050405020304" pitchFamily="18" charset="0"/>
              </a:rPr>
              <a:t>If one modality provides weak or unreliable evidence, the system </a:t>
            </a:r>
            <a:r>
              <a:rPr lang="en-US" sz="1600" b="1" dirty="0">
                <a:latin typeface="Times New Roman" panose="02020603050405020304" pitchFamily="18" charset="0"/>
                <a:cs typeface="Times New Roman" panose="02020603050405020304" pitchFamily="18" charset="0"/>
              </a:rPr>
              <a:t>leverages the complementary modality</a:t>
            </a:r>
            <a:r>
              <a:rPr lang="en-US" sz="1600" dirty="0">
                <a:latin typeface="Times New Roman" panose="02020603050405020304" pitchFamily="18" charset="0"/>
                <a:cs typeface="Times New Roman" panose="02020603050405020304" pitchFamily="18" charset="0"/>
              </a:rPr>
              <a:t> to compensate and generate a more reliable decision.</a:t>
            </a:r>
          </a:p>
          <a:p>
            <a:pPr algn="just"/>
            <a:r>
              <a:rPr lang="en-US" sz="1600" dirty="0">
                <a:latin typeface="Times New Roman" panose="02020603050405020304" pitchFamily="18" charset="0"/>
                <a:cs typeface="Times New Roman" panose="02020603050405020304" pitchFamily="18" charset="0"/>
              </a:rPr>
              <a:t>DeepShield integrates a </a:t>
            </a:r>
            <a:r>
              <a:rPr lang="en-US" sz="1600" b="1" dirty="0">
                <a:latin typeface="Times New Roman" panose="02020603050405020304" pitchFamily="18" charset="0"/>
                <a:cs typeface="Times New Roman" panose="02020603050405020304" pitchFamily="18" charset="0"/>
              </a:rPr>
              <a:t>simple fusion mechanism</a:t>
            </a:r>
            <a:r>
              <a:rPr lang="en-US" sz="1600" dirty="0">
                <a:latin typeface="Times New Roman" panose="02020603050405020304" pitchFamily="18" charset="0"/>
                <a:cs typeface="Times New Roman" panose="02020603050405020304" pitchFamily="18" charset="0"/>
              </a:rPr>
              <a:t> to combine predictions from multiple modalities into a unified output.</a:t>
            </a:r>
          </a:p>
          <a:p>
            <a:pPr algn="just"/>
            <a:r>
              <a:rPr lang="en-US" sz="1600" dirty="0">
                <a:latin typeface="Times New Roman" panose="02020603050405020304" pitchFamily="18" charset="0"/>
                <a:cs typeface="Times New Roman" panose="02020603050405020304" pitchFamily="18" charset="0"/>
              </a:rPr>
              <a:t>To enhance transparency, the system generates </a:t>
            </a:r>
            <a:r>
              <a:rPr lang="en-US" sz="1600" b="1" dirty="0">
                <a:latin typeface="Times New Roman" panose="02020603050405020304" pitchFamily="18" charset="0"/>
                <a:cs typeface="Times New Roman" panose="02020603050405020304" pitchFamily="18" charset="0"/>
              </a:rPr>
              <a:t>basic forensic explanations</a:t>
            </a:r>
            <a:r>
              <a:rPr lang="en-US" sz="1600" dirty="0">
                <a:latin typeface="Times New Roman" panose="02020603050405020304" pitchFamily="18" charset="0"/>
                <a:cs typeface="Times New Roman" panose="02020603050405020304" pitchFamily="18" charset="0"/>
              </a:rPr>
              <a:t> such as attention heatmaps and confidence scores.</a:t>
            </a:r>
          </a:p>
          <a:p>
            <a:pPr algn="just"/>
            <a:r>
              <a:rPr lang="en-US" sz="1600" dirty="0">
                <a:latin typeface="Times New Roman" panose="02020603050405020304" pitchFamily="18" charset="0"/>
                <a:cs typeface="Times New Roman" panose="02020603050405020304" pitchFamily="18" charset="0"/>
              </a:rPr>
              <a:t>This approach ensures more consistent and interpretable detection compared to unimodal systems.</a:t>
            </a:r>
          </a:p>
          <a:p>
            <a:pPr algn="just"/>
            <a:r>
              <a:rPr lang="en-US" sz="1600" dirty="0">
                <a:latin typeface="Times New Roman" panose="02020603050405020304" pitchFamily="18" charset="0"/>
                <a:cs typeface="Times New Roman" panose="02020603050405020304" pitchFamily="18" charset="0"/>
              </a:rPr>
              <a:t>The architecture is </a:t>
            </a:r>
            <a:r>
              <a:rPr lang="en-US" sz="1600" b="1" dirty="0">
                <a:latin typeface="Times New Roman" panose="02020603050405020304" pitchFamily="18" charset="0"/>
                <a:cs typeface="Times New Roman" panose="02020603050405020304" pitchFamily="18" charset="0"/>
              </a:rPr>
              <a:t>modular and extensible</a:t>
            </a:r>
            <a:r>
              <a:rPr lang="en-US" sz="1600" dirty="0">
                <a:latin typeface="Times New Roman" panose="02020603050405020304" pitchFamily="18" charset="0"/>
                <a:cs typeface="Times New Roman" panose="02020603050405020304" pitchFamily="18" charset="0"/>
              </a:rPr>
              <a:t>, allowing easy integration of additional models or modalities in future work.</a:t>
            </a:r>
            <a:endParaRPr sz="1600" dirty="0">
              <a:latin typeface="Times New Roman" panose="02020603050405020304" pitchFamily="18" charset="0"/>
              <a:ea typeface="Times New Roman"/>
              <a:cs typeface="Times New Roman" panose="02020603050405020304" pitchFamily="18" charset="0"/>
              <a:sym typeface="Times New Roman"/>
            </a:endParaRPr>
          </a:p>
          <a:p>
            <a:pPr marL="342900" lvl="0" indent="-139700" algn="just" rtl="0">
              <a:lnSpc>
                <a:spcPct val="100000"/>
              </a:lnSpc>
              <a:spcBef>
                <a:spcPts val="640"/>
              </a:spcBef>
              <a:spcAft>
                <a:spcPts val="0"/>
              </a:spcAft>
              <a:buClr>
                <a:schemeClr val="dk1"/>
              </a:buClr>
              <a:buSzPts val="3200"/>
              <a:buNone/>
            </a:pPr>
            <a:endParaRPr sz="1600" dirty="0">
              <a:latin typeface="Times New Roman" panose="02020603050405020304" pitchFamily="18" charset="0"/>
              <a:ea typeface="Times New Roman"/>
              <a:cs typeface="Times New Roman" panose="02020603050405020304" pitchFamily="18" charset="0"/>
              <a:sym typeface="Times New Roman"/>
            </a:endParaRPr>
          </a:p>
        </p:txBody>
      </p:sp>
      <p:pic>
        <p:nvPicPr>
          <p:cNvPr id="138" name="Google Shape;138;p18"/>
          <p:cNvPicPr preferRelativeResize="0"/>
          <p:nvPr/>
        </p:nvPicPr>
        <p:blipFill rotWithShape="1">
          <a:blip r:embed="rId3">
            <a:alphaModFix/>
          </a:blip>
          <a:srcRect/>
          <a:stretch/>
        </p:blipFill>
        <p:spPr>
          <a:xfrm>
            <a:off x="0" y="44451"/>
            <a:ext cx="2237740" cy="755015"/>
          </a:xfrm>
          <a:prstGeom prst="rect">
            <a:avLst/>
          </a:prstGeom>
          <a:noFill/>
          <a:ln>
            <a:noFill/>
          </a:ln>
        </p:spPr>
      </p:pic>
      <p:sp>
        <p:nvSpPr>
          <p:cNvPr id="139" name="Google Shape;139;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lvl="0"/>
            <a:r>
              <a:rPr lang="en-US" b="1" dirty="0"/>
              <a:t>24-01-2026</a:t>
            </a:r>
            <a:endParaRPr lang="en-US" dirty="0"/>
          </a:p>
        </p:txBody>
      </p:sp>
      <p:sp>
        <p:nvSpPr>
          <p:cNvPr id="140" name="Google Shape;140;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r>
              <a:rPr lang="en-US" dirty="0"/>
              <a:t>Major Project- Review I</a:t>
            </a:r>
          </a:p>
          <a:p>
            <a:pPr marL="0" lvl="0" indent="0" algn="ctr" rtl="0">
              <a:lnSpc>
                <a:spcPct val="100000"/>
              </a:lnSpc>
              <a:spcBef>
                <a:spcPts val="0"/>
              </a:spcBef>
              <a:spcAft>
                <a:spcPts val="0"/>
              </a:spcAft>
              <a:buSzPts val="1400"/>
              <a:buNone/>
            </a:pPr>
            <a:endParaRPr dirty="0"/>
          </a:p>
        </p:txBody>
      </p:sp>
      <p:sp>
        <p:nvSpPr>
          <p:cNvPr id="141" name="Google Shape;141;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9"/>
          <p:cNvSpPr txBox="1">
            <a:spLocks noGrp="1"/>
          </p:cNvSpPr>
          <p:nvPr>
            <p:ph type="body" idx="1"/>
          </p:nvPr>
        </p:nvSpPr>
        <p:spPr>
          <a:xfrm>
            <a:off x="1789472" y="168173"/>
            <a:ext cx="7680768" cy="533525"/>
          </a:xfrm>
          <a:prstGeom prst="rect">
            <a:avLst/>
          </a:prstGeom>
          <a:noFill/>
          <a:ln>
            <a:noFill/>
          </a:ln>
        </p:spPr>
        <p:txBody>
          <a:bodyPr spcFirstLastPara="1" wrap="square" lIns="91425" tIns="45700" rIns="91425" bIns="45700" anchor="t" anchorCtr="0">
            <a:normAutofit fontScale="70000" lnSpcReduction="20000"/>
          </a:bodyPr>
          <a:lstStyle/>
          <a:p>
            <a:pPr marL="571500" lvl="1" indent="0" algn="l" rtl="0">
              <a:lnSpc>
                <a:spcPct val="100000"/>
              </a:lnSpc>
              <a:spcBef>
                <a:spcPts val="360"/>
              </a:spcBef>
              <a:spcAft>
                <a:spcPts val="0"/>
              </a:spcAft>
              <a:buSzPts val="1800"/>
              <a:buNone/>
            </a:pPr>
            <a:r>
              <a:rPr lang="en-US" sz="3200" b="1" dirty="0">
                <a:latin typeface="Times New Roman"/>
                <a:ea typeface="Times New Roman"/>
                <a:cs typeface="Times New Roman"/>
                <a:sym typeface="Times New Roman"/>
              </a:rPr>
              <a:t>Architecture/Block Diagram of the proposed model</a:t>
            </a:r>
            <a:endParaRPr sz="3200" b="1" dirty="0"/>
          </a:p>
        </p:txBody>
      </p:sp>
      <p:pic>
        <p:nvPicPr>
          <p:cNvPr id="147" name="Google Shape;147;p19"/>
          <p:cNvPicPr preferRelativeResize="0"/>
          <p:nvPr/>
        </p:nvPicPr>
        <p:blipFill rotWithShape="1">
          <a:blip r:embed="rId3">
            <a:alphaModFix/>
          </a:blip>
          <a:srcRect/>
          <a:stretch/>
        </p:blipFill>
        <p:spPr>
          <a:xfrm>
            <a:off x="0" y="57429"/>
            <a:ext cx="2237740" cy="755015"/>
          </a:xfrm>
          <a:prstGeom prst="rect">
            <a:avLst/>
          </a:prstGeom>
          <a:noFill/>
          <a:ln>
            <a:noFill/>
          </a:ln>
        </p:spPr>
      </p:pic>
      <p:sp>
        <p:nvSpPr>
          <p:cNvPr id="148" name="Google Shape;148;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lvl="0"/>
            <a:r>
              <a:rPr lang="en-US" b="1" dirty="0"/>
              <a:t>24-01-2026</a:t>
            </a:r>
            <a:endParaRPr lang="en-US" dirty="0"/>
          </a:p>
        </p:txBody>
      </p:sp>
      <p:sp>
        <p:nvSpPr>
          <p:cNvPr id="149" name="Google Shape;149;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r>
              <a:rPr lang="en-US" dirty="0"/>
              <a:t>Major Project- Review I</a:t>
            </a:r>
          </a:p>
          <a:p>
            <a:pPr marL="0" lvl="0" indent="0" algn="ctr" rtl="0">
              <a:lnSpc>
                <a:spcPct val="100000"/>
              </a:lnSpc>
              <a:spcBef>
                <a:spcPts val="0"/>
              </a:spcBef>
              <a:spcAft>
                <a:spcPts val="0"/>
              </a:spcAft>
              <a:buSzPts val="1400"/>
              <a:buNone/>
            </a:pPr>
            <a:endParaRPr dirty="0"/>
          </a:p>
        </p:txBody>
      </p:sp>
      <p:sp>
        <p:nvSpPr>
          <p:cNvPr id="150" name="Google Shape;150;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a:t>
            </a:fld>
            <a:endParaRPr/>
          </a:p>
        </p:txBody>
      </p:sp>
      <p:pic>
        <p:nvPicPr>
          <p:cNvPr id="4" name="Picture 3">
            <a:extLst>
              <a:ext uri="{FF2B5EF4-FFF2-40B4-BE49-F238E27FC236}">
                <a16:creationId xmlns:a16="http://schemas.microsoft.com/office/drawing/2014/main" id="{EB7E1DC3-13A0-BB09-5519-3F8D6E0E5DAA}"/>
              </a:ext>
            </a:extLst>
          </p:cNvPr>
          <p:cNvPicPr>
            <a:picLocks noChangeAspect="1"/>
          </p:cNvPicPr>
          <p:nvPr/>
        </p:nvPicPr>
        <p:blipFill>
          <a:blip r:embed="rId4"/>
          <a:stretch>
            <a:fillRect/>
          </a:stretch>
        </p:blipFill>
        <p:spPr>
          <a:xfrm>
            <a:off x="2237740" y="803094"/>
            <a:ext cx="5180017" cy="567335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4">
          <a:extLst>
            <a:ext uri="{FF2B5EF4-FFF2-40B4-BE49-F238E27FC236}">
              <a16:creationId xmlns:a16="http://schemas.microsoft.com/office/drawing/2014/main" id="{7A3DF653-B05E-183C-F2EA-918E5333252E}"/>
            </a:ext>
          </a:extLst>
        </p:cNvPr>
        <p:cNvGrpSpPr/>
        <p:nvPr/>
      </p:nvGrpSpPr>
      <p:grpSpPr>
        <a:xfrm>
          <a:off x="0" y="0"/>
          <a:ext cx="0" cy="0"/>
          <a:chOff x="0" y="0"/>
          <a:chExt cx="0" cy="0"/>
        </a:xfrm>
      </p:grpSpPr>
      <p:sp>
        <p:nvSpPr>
          <p:cNvPr id="155" name="Google Shape;155;p20">
            <a:extLst>
              <a:ext uri="{FF2B5EF4-FFF2-40B4-BE49-F238E27FC236}">
                <a16:creationId xmlns:a16="http://schemas.microsoft.com/office/drawing/2014/main" id="{C9916828-B82E-AF23-4962-CC01C5EDEB21}"/>
              </a:ext>
            </a:extLst>
          </p:cNvPr>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571500" lvl="1" indent="0">
              <a:buNone/>
            </a:pPr>
            <a:r>
              <a:rPr lang="en-IN" sz="1600" dirty="0">
                <a:latin typeface="Times New Roman" panose="02020603050405020304" pitchFamily="18" charset="0"/>
                <a:cs typeface="Times New Roman" panose="02020603050405020304" pitchFamily="18" charset="0"/>
              </a:rPr>
              <a:t>1. Extension-Aware Router</a:t>
            </a:r>
          </a:p>
          <a:p>
            <a:pPr marL="571500" lvl="1" indent="0">
              <a:buNone/>
            </a:pPr>
            <a:r>
              <a:rPr lang="en-IN" sz="1600" dirty="0">
                <a:latin typeface="Times New Roman" panose="02020603050405020304" pitchFamily="18" charset="0"/>
                <a:cs typeface="Times New Roman" panose="02020603050405020304" pitchFamily="18" charset="0"/>
              </a:rPr>
              <a:t>   • Auto file detection (.mp4, .wav, .</a:t>
            </a:r>
            <a:r>
              <a:rPr lang="en-IN" sz="1600" dirty="0" err="1">
                <a:latin typeface="Times New Roman" panose="02020603050405020304" pitchFamily="18" charset="0"/>
                <a:cs typeface="Times New Roman" panose="02020603050405020304" pitchFamily="18" charset="0"/>
              </a:rPr>
              <a:t>mkv</a:t>
            </a:r>
            <a:r>
              <a:rPr lang="en-IN" sz="1600" dirty="0">
                <a:latin typeface="Times New Roman" panose="02020603050405020304" pitchFamily="18" charset="0"/>
                <a:cs typeface="Times New Roman" panose="02020603050405020304" pitchFamily="18" charset="0"/>
              </a:rPr>
              <a:t>)</a:t>
            </a:r>
          </a:p>
          <a:p>
            <a:pPr marL="571500" lvl="1" indent="0">
              <a:buNone/>
            </a:pPr>
            <a:r>
              <a:rPr lang="en-IN" sz="1600" dirty="0">
                <a:latin typeface="Times New Roman" panose="02020603050405020304" pitchFamily="18" charset="0"/>
                <a:cs typeface="Times New Roman" panose="02020603050405020304" pitchFamily="18" charset="0"/>
              </a:rPr>
              <a:t>   • Smart modality routing</a:t>
            </a:r>
          </a:p>
          <a:p>
            <a:pPr marL="571500" lvl="1" indent="0">
              <a:buNone/>
            </a:pPr>
            <a:endParaRPr lang="en-IN" sz="1600" dirty="0">
              <a:latin typeface="Times New Roman" panose="02020603050405020304" pitchFamily="18" charset="0"/>
              <a:cs typeface="Times New Roman" panose="02020603050405020304" pitchFamily="18" charset="0"/>
            </a:endParaRPr>
          </a:p>
          <a:p>
            <a:pPr marL="571500" lvl="1" indent="0">
              <a:buNone/>
            </a:pPr>
            <a:r>
              <a:rPr lang="en-IN" sz="1600" dirty="0">
                <a:latin typeface="Times New Roman" panose="02020603050405020304" pitchFamily="18" charset="0"/>
                <a:cs typeface="Times New Roman" panose="02020603050405020304" pitchFamily="18" charset="0"/>
              </a:rPr>
              <a:t>2. Visual Forensics</a:t>
            </a:r>
          </a:p>
          <a:p>
            <a:pPr marL="571500" lvl="1" indent="0">
              <a:buNone/>
            </a:pPr>
            <a:r>
              <a:rPr lang="en-IN" sz="1600" dirty="0">
                <a:latin typeface="Times New Roman" panose="02020603050405020304" pitchFamily="18" charset="0"/>
                <a:cs typeface="Times New Roman" panose="02020603050405020304" pitchFamily="18" charset="0"/>
              </a:rPr>
              <a:t>   • Face detection + preprocessing</a:t>
            </a:r>
          </a:p>
          <a:p>
            <a:pPr marL="571500" lvl="1" indent="0">
              <a:buNone/>
            </a:pPr>
            <a:r>
              <a:rPr lang="en-IN" sz="1600" dirty="0">
                <a:latin typeface="Times New Roman" panose="02020603050405020304" pitchFamily="18" charset="0"/>
                <a:cs typeface="Times New Roman" panose="02020603050405020304" pitchFamily="18" charset="0"/>
              </a:rPr>
              <a:t>   • </a:t>
            </a:r>
            <a:r>
              <a:rPr lang="en-IN" sz="1600" dirty="0" err="1">
                <a:latin typeface="Times New Roman" panose="02020603050405020304" pitchFamily="18" charset="0"/>
                <a:cs typeface="Times New Roman" panose="02020603050405020304" pitchFamily="18" charset="0"/>
              </a:rPr>
              <a:t>Depthwise</a:t>
            </a:r>
            <a:r>
              <a:rPr lang="en-IN" sz="1600" dirty="0">
                <a:latin typeface="Times New Roman" panose="02020603050405020304" pitchFamily="18" charset="0"/>
                <a:cs typeface="Times New Roman" panose="02020603050405020304" pitchFamily="18" charset="0"/>
              </a:rPr>
              <a:t> separable convolutions</a:t>
            </a:r>
          </a:p>
          <a:p>
            <a:pPr marL="571500" lvl="1" indent="0">
              <a:buNone/>
            </a:pPr>
            <a:r>
              <a:rPr lang="en-IN" sz="1600" dirty="0">
                <a:latin typeface="Times New Roman" panose="02020603050405020304" pitchFamily="18" charset="0"/>
                <a:cs typeface="Times New Roman" panose="02020603050405020304" pitchFamily="18" charset="0"/>
              </a:rPr>
              <a:t>   • Grad-CAM forensic heatmaps</a:t>
            </a:r>
          </a:p>
          <a:p>
            <a:pPr marL="571500" lvl="1" indent="0">
              <a:buNone/>
            </a:pPr>
            <a:endParaRPr lang="en-IN" sz="1600" dirty="0">
              <a:latin typeface="Times New Roman" panose="02020603050405020304" pitchFamily="18" charset="0"/>
              <a:cs typeface="Times New Roman" panose="02020603050405020304" pitchFamily="18" charset="0"/>
            </a:endParaRPr>
          </a:p>
          <a:p>
            <a:pPr marL="571500" lvl="1" indent="0">
              <a:buNone/>
            </a:pPr>
            <a:r>
              <a:rPr lang="en-IN" sz="1600" dirty="0">
                <a:latin typeface="Times New Roman" panose="02020603050405020304" pitchFamily="18" charset="0"/>
                <a:cs typeface="Times New Roman" panose="02020603050405020304" pitchFamily="18" charset="0"/>
              </a:rPr>
              <a:t>3. Audio Forensics </a:t>
            </a:r>
          </a:p>
          <a:p>
            <a:pPr marL="571500" lvl="1" indent="0">
              <a:buNone/>
            </a:pPr>
            <a:r>
              <a:rPr lang="en-IN" sz="1600" dirty="0">
                <a:latin typeface="Times New Roman" panose="02020603050405020304" pitchFamily="18" charset="0"/>
                <a:cs typeface="Times New Roman" panose="02020603050405020304" pitchFamily="18" charset="0"/>
              </a:rPr>
              <a:t>   • Log-Mel spectrogram analysis</a:t>
            </a:r>
          </a:p>
          <a:p>
            <a:pPr marL="571500" lvl="1" indent="0">
              <a:buNone/>
            </a:pPr>
            <a:r>
              <a:rPr lang="en-IN" sz="1600" dirty="0">
                <a:latin typeface="Times New Roman" panose="02020603050405020304" pitchFamily="18" charset="0"/>
                <a:cs typeface="Times New Roman" panose="02020603050405020304" pitchFamily="18" charset="0"/>
              </a:rPr>
              <a:t>   • Graph attention networks</a:t>
            </a:r>
          </a:p>
          <a:p>
            <a:pPr marL="571500" lvl="1" indent="0">
              <a:buNone/>
            </a:pPr>
            <a:r>
              <a:rPr lang="en-IN" sz="1600" dirty="0">
                <a:latin typeface="Times New Roman" panose="02020603050405020304" pitchFamily="18" charset="0"/>
                <a:cs typeface="Times New Roman" panose="02020603050405020304" pitchFamily="18" charset="0"/>
              </a:rPr>
              <a:t>   • Phoneme synchronization maps</a:t>
            </a:r>
          </a:p>
          <a:p>
            <a:pPr marL="571500" lvl="1" indent="0">
              <a:buNone/>
            </a:pPr>
            <a:endParaRPr lang="en-IN" sz="1600" dirty="0">
              <a:latin typeface="Times New Roman" panose="02020603050405020304" pitchFamily="18" charset="0"/>
              <a:cs typeface="Times New Roman" panose="02020603050405020304" pitchFamily="18" charset="0"/>
            </a:endParaRPr>
          </a:p>
          <a:p>
            <a:pPr marL="571500" lvl="1" indent="0">
              <a:buNone/>
            </a:pPr>
            <a:endParaRPr lang="en-IN" sz="1600" dirty="0">
              <a:latin typeface="Times New Roman" panose="02020603050405020304" pitchFamily="18" charset="0"/>
              <a:cs typeface="Times New Roman" panose="02020603050405020304" pitchFamily="18" charset="0"/>
            </a:endParaRPr>
          </a:p>
        </p:txBody>
      </p:sp>
      <p:pic>
        <p:nvPicPr>
          <p:cNvPr id="156" name="Google Shape;156;p20">
            <a:extLst>
              <a:ext uri="{FF2B5EF4-FFF2-40B4-BE49-F238E27FC236}">
                <a16:creationId xmlns:a16="http://schemas.microsoft.com/office/drawing/2014/main" id="{B7422042-6469-8B49-4951-A64A0162E113}"/>
              </a:ext>
            </a:extLst>
          </p:cNvPr>
          <p:cNvPicPr preferRelativeResize="0"/>
          <p:nvPr/>
        </p:nvPicPr>
        <p:blipFill rotWithShape="1">
          <a:blip r:embed="rId3">
            <a:alphaModFix/>
          </a:blip>
          <a:srcRect/>
          <a:stretch/>
        </p:blipFill>
        <p:spPr>
          <a:xfrm>
            <a:off x="0" y="54718"/>
            <a:ext cx="2237740" cy="755015"/>
          </a:xfrm>
          <a:prstGeom prst="rect">
            <a:avLst/>
          </a:prstGeom>
          <a:noFill/>
          <a:ln>
            <a:noFill/>
          </a:ln>
        </p:spPr>
      </p:pic>
      <p:sp>
        <p:nvSpPr>
          <p:cNvPr id="157" name="Google Shape;157;p20">
            <a:extLst>
              <a:ext uri="{FF2B5EF4-FFF2-40B4-BE49-F238E27FC236}">
                <a16:creationId xmlns:a16="http://schemas.microsoft.com/office/drawing/2014/main" id="{6CD007C3-ECBF-E818-7A10-C26EB54A926F}"/>
              </a:ext>
            </a:extLst>
          </p:cNvPr>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lvl="0"/>
            <a:r>
              <a:rPr lang="en-US" b="1" dirty="0"/>
              <a:t>24-01-2026</a:t>
            </a:r>
            <a:endParaRPr lang="en-US" dirty="0"/>
          </a:p>
        </p:txBody>
      </p:sp>
      <p:sp>
        <p:nvSpPr>
          <p:cNvPr id="158" name="Google Shape;158;p20">
            <a:extLst>
              <a:ext uri="{FF2B5EF4-FFF2-40B4-BE49-F238E27FC236}">
                <a16:creationId xmlns:a16="http://schemas.microsoft.com/office/drawing/2014/main" id="{57D7C9AE-8D51-3D1B-AC9D-0B39CE6996EE}"/>
              </a:ext>
            </a:extLst>
          </p:cNvPr>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r>
              <a:rPr lang="en-US" dirty="0"/>
              <a:t>Major Project- Review I</a:t>
            </a:r>
          </a:p>
          <a:p>
            <a:pPr marL="0" lvl="0" indent="0" algn="ctr" rtl="0">
              <a:lnSpc>
                <a:spcPct val="100000"/>
              </a:lnSpc>
              <a:spcBef>
                <a:spcPts val="0"/>
              </a:spcBef>
              <a:spcAft>
                <a:spcPts val="0"/>
              </a:spcAft>
              <a:buSzPts val="1400"/>
              <a:buNone/>
            </a:pPr>
            <a:endParaRPr dirty="0"/>
          </a:p>
        </p:txBody>
      </p:sp>
      <p:sp>
        <p:nvSpPr>
          <p:cNvPr id="159" name="Google Shape;159;p20">
            <a:extLst>
              <a:ext uri="{FF2B5EF4-FFF2-40B4-BE49-F238E27FC236}">
                <a16:creationId xmlns:a16="http://schemas.microsoft.com/office/drawing/2014/main" id="{C89BB77F-37E1-3F02-3C1C-272196331219}"/>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8</a:t>
            </a:fld>
            <a:endParaRPr/>
          </a:p>
        </p:txBody>
      </p:sp>
      <p:sp>
        <p:nvSpPr>
          <p:cNvPr id="2" name="TextBox 1">
            <a:extLst>
              <a:ext uri="{FF2B5EF4-FFF2-40B4-BE49-F238E27FC236}">
                <a16:creationId xmlns:a16="http://schemas.microsoft.com/office/drawing/2014/main" id="{B20AC079-A5C2-0897-AD72-940337E835F5}"/>
              </a:ext>
            </a:extLst>
          </p:cNvPr>
          <p:cNvSpPr txBox="1"/>
          <p:nvPr/>
        </p:nvSpPr>
        <p:spPr>
          <a:xfrm>
            <a:off x="3023419" y="33747"/>
            <a:ext cx="5663381" cy="707886"/>
          </a:xfrm>
          <a:prstGeom prst="rect">
            <a:avLst/>
          </a:prstGeom>
          <a:noFill/>
        </p:spPr>
        <p:txBody>
          <a:bodyPr wrap="square" rtlCol="0">
            <a:spAutoFit/>
          </a:bodyPr>
          <a:lstStyle/>
          <a:p>
            <a:r>
              <a:rPr lang="en-IN" sz="4000" b="1" dirty="0">
                <a:latin typeface="Times New Roman" panose="02020603050405020304" pitchFamily="18" charset="0"/>
                <a:cs typeface="Times New Roman" panose="02020603050405020304" pitchFamily="18" charset="0"/>
              </a:rPr>
              <a:t>Modules Description</a:t>
            </a:r>
          </a:p>
        </p:txBody>
      </p:sp>
    </p:spTree>
    <p:extLst>
      <p:ext uri="{BB962C8B-B14F-4D97-AF65-F5344CB8AC3E}">
        <p14:creationId xmlns:p14="http://schemas.microsoft.com/office/powerpoint/2010/main" val="16737131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571500" lvl="1" indent="0">
              <a:buNone/>
            </a:pPr>
            <a:r>
              <a:rPr lang="en-IN" sz="1600" dirty="0">
                <a:latin typeface="Times New Roman" panose="02020603050405020304" pitchFamily="18" charset="0"/>
                <a:cs typeface="Times New Roman" panose="02020603050405020304" pitchFamily="18" charset="0"/>
              </a:rPr>
              <a:t>4. Adaptive Fusion</a:t>
            </a:r>
          </a:p>
          <a:p>
            <a:pPr marL="571500" lvl="1" indent="0">
              <a:buNone/>
            </a:pPr>
            <a:r>
              <a:rPr lang="en-IN" sz="1600" dirty="0">
                <a:latin typeface="Times New Roman" panose="02020603050405020304" pitchFamily="18" charset="0"/>
                <a:cs typeface="Times New Roman" panose="02020603050405020304" pitchFamily="18" charset="0"/>
              </a:rPr>
              <a:t>   • Dynamic </a:t>
            </a:r>
            <a:r>
              <a:rPr lang="el-GR" sz="1600" dirty="0">
                <a:latin typeface="Times New Roman" panose="02020603050405020304" pitchFamily="18" charset="0"/>
                <a:cs typeface="Times New Roman" panose="02020603050405020304" pitchFamily="18" charset="0"/>
              </a:rPr>
              <a:t>α-</a:t>
            </a:r>
            <a:r>
              <a:rPr lang="en-IN" sz="1600" dirty="0">
                <a:latin typeface="Times New Roman" panose="02020603050405020304" pitchFamily="18" charset="0"/>
                <a:cs typeface="Times New Roman" panose="02020603050405020304" pitchFamily="18" charset="0"/>
              </a:rPr>
              <a:t>weighting</a:t>
            </a:r>
          </a:p>
          <a:p>
            <a:pPr marL="571500" lvl="1" indent="0">
              <a:buNone/>
            </a:pPr>
            <a:r>
              <a:rPr lang="en-IN" sz="1600" dirty="0">
                <a:latin typeface="Times New Roman" panose="02020603050405020304" pitchFamily="18" charset="0"/>
                <a:cs typeface="Times New Roman" panose="02020603050405020304" pitchFamily="18" charset="0"/>
              </a:rPr>
              <a:t>   • Modality confidence balancing</a:t>
            </a:r>
          </a:p>
          <a:p>
            <a:pPr marL="571500" lvl="1" indent="0">
              <a:buNone/>
            </a:pPr>
            <a:r>
              <a:rPr lang="en-IN" sz="1600" dirty="0">
                <a:latin typeface="Times New Roman" panose="02020603050405020304" pitchFamily="18" charset="0"/>
                <a:cs typeface="Times New Roman" panose="02020603050405020304" pitchFamily="18" charset="0"/>
              </a:rPr>
              <a:t>   • Lip-sync verification</a:t>
            </a:r>
          </a:p>
          <a:p>
            <a:pPr marL="571500" lvl="1" indent="0">
              <a:buNone/>
            </a:pPr>
            <a:endParaRPr lang="en-IN" sz="1600" dirty="0">
              <a:latin typeface="Times New Roman" panose="02020603050405020304" pitchFamily="18" charset="0"/>
              <a:cs typeface="Times New Roman" panose="02020603050405020304" pitchFamily="18" charset="0"/>
            </a:endParaRPr>
          </a:p>
          <a:p>
            <a:pPr marL="571500" lvl="1" indent="0">
              <a:buNone/>
            </a:pPr>
            <a:r>
              <a:rPr lang="en-IN" sz="1600" dirty="0">
                <a:latin typeface="Times New Roman" panose="02020603050405020304" pitchFamily="18" charset="0"/>
                <a:cs typeface="Times New Roman" panose="02020603050405020304" pitchFamily="18" charset="0"/>
              </a:rPr>
              <a:t>5. Forensic Explainability</a:t>
            </a:r>
          </a:p>
          <a:p>
            <a:pPr marL="571500" lvl="1" indent="0">
              <a:buNone/>
            </a:pPr>
            <a:r>
              <a:rPr lang="en-IN" sz="1600" dirty="0">
                <a:latin typeface="Times New Roman" panose="02020603050405020304" pitchFamily="18" charset="0"/>
                <a:cs typeface="Times New Roman" panose="02020603050405020304" pitchFamily="18" charset="0"/>
              </a:rPr>
              <a:t>   • Visual artifacts heatmaps</a:t>
            </a:r>
          </a:p>
          <a:p>
            <a:pPr marL="571500" lvl="1" indent="0">
              <a:buNone/>
            </a:pPr>
            <a:r>
              <a:rPr lang="en-IN" sz="1600" dirty="0">
                <a:latin typeface="Times New Roman" panose="02020603050405020304" pitchFamily="18" charset="0"/>
                <a:cs typeface="Times New Roman" panose="02020603050405020304" pitchFamily="18" charset="0"/>
              </a:rPr>
              <a:t>   • Audio-visual sync breakdown</a:t>
            </a:r>
          </a:p>
          <a:p>
            <a:pPr marL="571500" lvl="1" indent="0">
              <a:buNone/>
            </a:pPr>
            <a:r>
              <a:rPr lang="en-IN" sz="1600" dirty="0">
                <a:latin typeface="Times New Roman" panose="02020603050405020304" pitchFamily="18" charset="0"/>
                <a:cs typeface="Times New Roman" panose="02020603050405020304" pitchFamily="18" charset="0"/>
              </a:rPr>
              <a:t>   • Chain-of-custody logs</a:t>
            </a:r>
          </a:p>
          <a:p>
            <a:pPr marL="571500" lvl="1" indent="0">
              <a:buNone/>
            </a:pPr>
            <a:endParaRPr lang="en-IN" sz="1600" dirty="0">
              <a:latin typeface="Times New Roman" panose="02020603050405020304" pitchFamily="18" charset="0"/>
              <a:cs typeface="Times New Roman" panose="02020603050405020304" pitchFamily="18" charset="0"/>
            </a:endParaRPr>
          </a:p>
          <a:p>
            <a:pPr marL="571500" lvl="1" indent="0">
              <a:buNone/>
            </a:pPr>
            <a:r>
              <a:rPr lang="en-IN" sz="1600" dirty="0">
                <a:latin typeface="Times New Roman" panose="02020603050405020304" pitchFamily="18" charset="0"/>
                <a:cs typeface="Times New Roman" panose="02020603050405020304" pitchFamily="18" charset="0"/>
              </a:rPr>
              <a:t>6. Edge Deployment</a:t>
            </a:r>
          </a:p>
          <a:p>
            <a:pPr marL="571500" lvl="1" indent="0">
              <a:buNone/>
            </a:pPr>
            <a:r>
              <a:rPr lang="en-IN" sz="1600" dirty="0">
                <a:latin typeface="Times New Roman" panose="02020603050405020304" pitchFamily="18" charset="0"/>
                <a:cs typeface="Times New Roman" panose="02020603050405020304" pitchFamily="18" charset="0"/>
              </a:rPr>
              <a:t>   • ONNX quantization</a:t>
            </a:r>
          </a:p>
          <a:p>
            <a:pPr marL="571500" lvl="1" indent="0">
              <a:buNone/>
            </a:pPr>
            <a:r>
              <a:rPr lang="en-IN" sz="1600" dirty="0">
                <a:latin typeface="Times New Roman" panose="02020603050405020304" pitchFamily="18" charset="0"/>
                <a:cs typeface="Times New Roman" panose="02020603050405020304" pitchFamily="18" charset="0"/>
              </a:rPr>
              <a:t>   • 1.5GFLOPs optimization</a:t>
            </a:r>
          </a:p>
          <a:p>
            <a:pPr marL="571500" lvl="1" indent="0">
              <a:buNone/>
            </a:pPr>
            <a:r>
              <a:rPr lang="en-IN" sz="1600" dirty="0">
                <a:latin typeface="Times New Roman" panose="02020603050405020304" pitchFamily="18" charset="0"/>
                <a:cs typeface="Times New Roman" panose="02020603050405020304" pitchFamily="18" charset="0"/>
              </a:rPr>
              <a:t>   • Mobile-ready inference</a:t>
            </a:r>
          </a:p>
          <a:p>
            <a:pPr marL="571500" lvl="1" indent="0" algn="l" rtl="0">
              <a:lnSpc>
                <a:spcPct val="100000"/>
              </a:lnSpc>
              <a:spcBef>
                <a:spcPts val="360"/>
              </a:spcBef>
              <a:spcAft>
                <a:spcPts val="0"/>
              </a:spcAft>
              <a:buSzPts val="1800"/>
              <a:buNone/>
            </a:pPr>
            <a:endParaRPr sz="1600" dirty="0">
              <a:latin typeface="Times New Roman" panose="02020603050405020304" pitchFamily="18" charset="0"/>
              <a:cs typeface="Times New Roman" panose="02020603050405020304" pitchFamily="18" charset="0"/>
            </a:endParaRPr>
          </a:p>
        </p:txBody>
      </p:sp>
      <p:pic>
        <p:nvPicPr>
          <p:cNvPr id="156" name="Google Shape;156;p20"/>
          <p:cNvPicPr preferRelativeResize="0"/>
          <p:nvPr/>
        </p:nvPicPr>
        <p:blipFill rotWithShape="1">
          <a:blip r:embed="rId3">
            <a:alphaModFix/>
          </a:blip>
          <a:srcRect/>
          <a:stretch/>
        </p:blipFill>
        <p:spPr>
          <a:xfrm>
            <a:off x="0" y="54718"/>
            <a:ext cx="2237740" cy="755015"/>
          </a:xfrm>
          <a:prstGeom prst="rect">
            <a:avLst/>
          </a:prstGeom>
          <a:noFill/>
          <a:ln>
            <a:noFill/>
          </a:ln>
        </p:spPr>
      </p:pic>
      <p:sp>
        <p:nvSpPr>
          <p:cNvPr id="157" name="Google Shape;157;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lvl="0"/>
            <a:r>
              <a:rPr lang="en-US" b="1" dirty="0"/>
              <a:t>24-01-2026</a:t>
            </a:r>
            <a:endParaRPr lang="en-US" dirty="0"/>
          </a:p>
        </p:txBody>
      </p:sp>
      <p:sp>
        <p:nvSpPr>
          <p:cNvPr id="158" name="Google Shape;158;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r>
              <a:rPr lang="en-US" dirty="0"/>
              <a:t>Major Project- Review I</a:t>
            </a:r>
          </a:p>
          <a:p>
            <a:pPr marL="0" lvl="0" indent="0" algn="ctr" rtl="0">
              <a:lnSpc>
                <a:spcPct val="100000"/>
              </a:lnSpc>
              <a:spcBef>
                <a:spcPts val="0"/>
              </a:spcBef>
              <a:spcAft>
                <a:spcPts val="0"/>
              </a:spcAft>
              <a:buSzPts val="1400"/>
              <a:buNone/>
            </a:pPr>
            <a:endParaRPr dirty="0"/>
          </a:p>
        </p:txBody>
      </p:sp>
      <p:sp>
        <p:nvSpPr>
          <p:cNvPr id="159" name="Google Shape;159;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9</a:t>
            </a:fld>
            <a:endParaRPr/>
          </a:p>
        </p:txBody>
      </p:sp>
      <p:sp>
        <p:nvSpPr>
          <p:cNvPr id="2" name="TextBox 1">
            <a:extLst>
              <a:ext uri="{FF2B5EF4-FFF2-40B4-BE49-F238E27FC236}">
                <a16:creationId xmlns:a16="http://schemas.microsoft.com/office/drawing/2014/main" id="{5E4CE3F9-9FDC-1E91-4148-4E3D230131D6}"/>
              </a:ext>
            </a:extLst>
          </p:cNvPr>
          <p:cNvSpPr txBox="1"/>
          <p:nvPr/>
        </p:nvSpPr>
        <p:spPr>
          <a:xfrm>
            <a:off x="3023419" y="33747"/>
            <a:ext cx="5663381" cy="707886"/>
          </a:xfrm>
          <a:prstGeom prst="rect">
            <a:avLst/>
          </a:prstGeom>
          <a:noFill/>
        </p:spPr>
        <p:txBody>
          <a:bodyPr wrap="square" rtlCol="0">
            <a:spAutoFit/>
          </a:bodyPr>
          <a:lstStyle/>
          <a:p>
            <a:r>
              <a:rPr lang="en-IN" sz="4000" b="1" dirty="0">
                <a:latin typeface="Times New Roman" panose="02020603050405020304" pitchFamily="18" charset="0"/>
                <a:cs typeface="Times New Roman" panose="02020603050405020304" pitchFamily="18" charset="0"/>
              </a:rPr>
              <a:t>Modules Description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571500" lvl="1" indent="0" algn="ctr" rtl="0">
              <a:lnSpc>
                <a:spcPct val="100000"/>
              </a:lnSpc>
              <a:spcBef>
                <a:spcPts val="360"/>
              </a:spcBef>
              <a:spcAft>
                <a:spcPts val="0"/>
              </a:spcAft>
              <a:buSzPts val="1800"/>
              <a:buNone/>
            </a:pPr>
            <a:r>
              <a:rPr lang="en-US" sz="2000" dirty="0">
                <a:latin typeface="Times New Roman"/>
                <a:ea typeface="Times New Roman"/>
                <a:cs typeface="Times New Roman"/>
                <a:sym typeface="Times New Roman"/>
              </a:rPr>
              <a:t>Intermediate Model Metrics for Audio Detection Module</a:t>
            </a:r>
          </a:p>
          <a:p>
            <a:pPr marL="571500" lvl="1" indent="0" algn="ctr" rtl="0">
              <a:lnSpc>
                <a:spcPct val="100000"/>
              </a:lnSpc>
              <a:spcBef>
                <a:spcPts val="360"/>
              </a:spcBef>
              <a:spcAft>
                <a:spcPts val="0"/>
              </a:spcAft>
              <a:buSzPts val="1800"/>
              <a:buNone/>
            </a:pPr>
            <a:endParaRPr sz="2000" dirty="0"/>
          </a:p>
        </p:txBody>
      </p:sp>
      <p:pic>
        <p:nvPicPr>
          <p:cNvPr id="165" name="Google Shape;165;p21"/>
          <p:cNvPicPr preferRelativeResize="0"/>
          <p:nvPr/>
        </p:nvPicPr>
        <p:blipFill rotWithShape="1">
          <a:blip r:embed="rId3">
            <a:alphaModFix/>
          </a:blip>
          <a:srcRect/>
          <a:stretch/>
        </p:blipFill>
        <p:spPr>
          <a:xfrm>
            <a:off x="0" y="0"/>
            <a:ext cx="2237740" cy="755015"/>
          </a:xfrm>
          <a:prstGeom prst="rect">
            <a:avLst/>
          </a:prstGeom>
          <a:noFill/>
          <a:ln>
            <a:noFill/>
          </a:ln>
        </p:spPr>
      </p:pic>
      <p:sp>
        <p:nvSpPr>
          <p:cNvPr id="166" name="Google Shape;166;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lvl="0"/>
            <a:r>
              <a:rPr lang="en-US" b="1" dirty="0"/>
              <a:t>24-01-2026</a:t>
            </a:r>
            <a:endParaRPr lang="en-US" dirty="0"/>
          </a:p>
        </p:txBody>
      </p:sp>
      <p:sp>
        <p:nvSpPr>
          <p:cNvPr id="167" name="Google Shape;167;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r>
              <a:rPr lang="en-US" dirty="0"/>
              <a:t>Major Project- Review I</a:t>
            </a:r>
          </a:p>
          <a:p>
            <a:pPr marL="0" lvl="0" indent="0" algn="ctr" rtl="0">
              <a:lnSpc>
                <a:spcPct val="100000"/>
              </a:lnSpc>
              <a:spcBef>
                <a:spcPts val="0"/>
              </a:spcBef>
              <a:spcAft>
                <a:spcPts val="0"/>
              </a:spcAft>
              <a:buSzPts val="1400"/>
              <a:buNone/>
            </a:pPr>
            <a:endParaRPr dirty="0"/>
          </a:p>
        </p:txBody>
      </p:sp>
      <p:sp>
        <p:nvSpPr>
          <p:cNvPr id="168" name="Google Shape;168;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10</a:t>
            </a:fld>
            <a:endParaRPr/>
          </a:p>
        </p:txBody>
      </p:sp>
      <p:pic>
        <p:nvPicPr>
          <p:cNvPr id="3" name="Picture 2">
            <a:extLst>
              <a:ext uri="{FF2B5EF4-FFF2-40B4-BE49-F238E27FC236}">
                <a16:creationId xmlns:a16="http://schemas.microsoft.com/office/drawing/2014/main" id="{3DDE5FE2-2E2B-5724-2BF0-EE14289271E9}"/>
              </a:ext>
            </a:extLst>
          </p:cNvPr>
          <p:cNvPicPr>
            <a:picLocks noChangeAspect="1"/>
          </p:cNvPicPr>
          <p:nvPr/>
        </p:nvPicPr>
        <p:blipFill>
          <a:blip r:embed="rId4"/>
          <a:stretch>
            <a:fillRect/>
          </a:stretch>
        </p:blipFill>
        <p:spPr>
          <a:xfrm>
            <a:off x="3006585" y="2613469"/>
            <a:ext cx="3130830" cy="2418525"/>
          </a:xfrm>
          <a:prstGeom prst="rect">
            <a:avLst/>
          </a:prstGeom>
        </p:spPr>
      </p:pic>
      <p:sp>
        <p:nvSpPr>
          <p:cNvPr id="5" name="TextBox 4">
            <a:extLst>
              <a:ext uri="{FF2B5EF4-FFF2-40B4-BE49-F238E27FC236}">
                <a16:creationId xmlns:a16="http://schemas.microsoft.com/office/drawing/2014/main" id="{AC9A9A59-F34B-280B-8C2C-AEA97B0C60BA}"/>
              </a:ext>
            </a:extLst>
          </p:cNvPr>
          <p:cNvSpPr txBox="1"/>
          <p:nvPr/>
        </p:nvSpPr>
        <p:spPr>
          <a:xfrm>
            <a:off x="2310580" y="16348"/>
            <a:ext cx="9488129" cy="1077218"/>
          </a:xfrm>
          <a:prstGeom prst="rect">
            <a:avLst/>
          </a:prstGeom>
          <a:noFill/>
        </p:spPr>
        <p:txBody>
          <a:bodyPr wrap="square">
            <a:spAutoFit/>
          </a:bodyPr>
          <a:lstStyle/>
          <a:p>
            <a:r>
              <a:rPr lang="en-US" sz="3200" b="1" dirty="0">
                <a:latin typeface="Times New Roman" panose="02020603050405020304" pitchFamily="18" charset="0"/>
                <a:ea typeface="Times New Roman"/>
                <a:cs typeface="Times New Roman" panose="02020603050405020304" pitchFamily="18" charset="0"/>
                <a:sym typeface="Times New Roman"/>
              </a:rPr>
              <a:t>Intermediate Results and Discussion</a:t>
            </a:r>
            <a:endParaRPr lang="en-US" sz="3200" b="1" dirty="0">
              <a:latin typeface="Times New Roman" panose="02020603050405020304" pitchFamily="18" charset="0"/>
              <a:cs typeface="Times New Roman" panose="02020603050405020304" pitchFamily="18" charset="0"/>
            </a:endParaRPr>
          </a:p>
          <a:p>
            <a:endParaRPr lang="en-IN" sz="32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3">
          <a:extLst>
            <a:ext uri="{FF2B5EF4-FFF2-40B4-BE49-F238E27FC236}">
              <a16:creationId xmlns:a16="http://schemas.microsoft.com/office/drawing/2014/main" id="{9539D914-C8A6-5E60-A767-32EF01872161}"/>
            </a:ext>
          </a:extLst>
        </p:cNvPr>
        <p:cNvGrpSpPr/>
        <p:nvPr/>
      </p:nvGrpSpPr>
      <p:grpSpPr>
        <a:xfrm>
          <a:off x="0" y="0"/>
          <a:ext cx="0" cy="0"/>
          <a:chOff x="0" y="0"/>
          <a:chExt cx="0" cy="0"/>
        </a:xfrm>
      </p:grpSpPr>
      <p:sp>
        <p:nvSpPr>
          <p:cNvPr id="164" name="Google Shape;164;p21">
            <a:extLst>
              <a:ext uri="{FF2B5EF4-FFF2-40B4-BE49-F238E27FC236}">
                <a16:creationId xmlns:a16="http://schemas.microsoft.com/office/drawing/2014/main" id="{77157FE0-C227-AB0B-1516-DED48A8D50D1}"/>
              </a:ext>
            </a:extLst>
          </p:cNvPr>
          <p:cNvSpPr txBox="1">
            <a:spLocks noGrp="1"/>
          </p:cNvSpPr>
          <p:nvPr>
            <p:ph type="body" idx="1"/>
          </p:nvPr>
        </p:nvSpPr>
        <p:spPr>
          <a:xfrm>
            <a:off x="457200" y="1292701"/>
            <a:ext cx="8229600" cy="4525963"/>
          </a:xfrm>
          <a:prstGeom prst="rect">
            <a:avLst/>
          </a:prstGeom>
          <a:noFill/>
          <a:ln>
            <a:noFill/>
          </a:ln>
        </p:spPr>
        <p:txBody>
          <a:bodyPr spcFirstLastPara="1" wrap="square" lIns="91425" tIns="45700" rIns="91425" bIns="45700" anchor="t" anchorCtr="0">
            <a:normAutofit/>
          </a:bodyPr>
          <a:lstStyle/>
          <a:p>
            <a:pPr marL="571500" lvl="1" indent="0" algn="ctr" rtl="0">
              <a:lnSpc>
                <a:spcPct val="100000"/>
              </a:lnSpc>
              <a:spcBef>
                <a:spcPts val="360"/>
              </a:spcBef>
              <a:spcAft>
                <a:spcPts val="0"/>
              </a:spcAft>
              <a:buSzPts val="1800"/>
              <a:buNone/>
            </a:pPr>
            <a:r>
              <a:rPr lang="en-US" sz="2000" dirty="0">
                <a:latin typeface="Times New Roman"/>
                <a:ea typeface="Times New Roman"/>
                <a:cs typeface="Times New Roman"/>
                <a:sym typeface="Times New Roman"/>
              </a:rPr>
              <a:t>Frontend of the Project</a:t>
            </a:r>
            <a:endParaRPr sz="2000" dirty="0"/>
          </a:p>
        </p:txBody>
      </p:sp>
      <p:pic>
        <p:nvPicPr>
          <p:cNvPr id="165" name="Google Shape;165;p21">
            <a:extLst>
              <a:ext uri="{FF2B5EF4-FFF2-40B4-BE49-F238E27FC236}">
                <a16:creationId xmlns:a16="http://schemas.microsoft.com/office/drawing/2014/main" id="{1CF37EA2-080E-89AE-5B62-642D3DBD7580}"/>
              </a:ext>
            </a:extLst>
          </p:cNvPr>
          <p:cNvPicPr preferRelativeResize="0"/>
          <p:nvPr/>
        </p:nvPicPr>
        <p:blipFill rotWithShape="1">
          <a:blip r:embed="rId3">
            <a:alphaModFix/>
          </a:blip>
          <a:srcRect/>
          <a:stretch/>
        </p:blipFill>
        <p:spPr>
          <a:xfrm>
            <a:off x="0" y="0"/>
            <a:ext cx="2237740" cy="755015"/>
          </a:xfrm>
          <a:prstGeom prst="rect">
            <a:avLst/>
          </a:prstGeom>
          <a:noFill/>
          <a:ln>
            <a:noFill/>
          </a:ln>
        </p:spPr>
      </p:pic>
      <p:sp>
        <p:nvSpPr>
          <p:cNvPr id="166" name="Google Shape;166;p21">
            <a:extLst>
              <a:ext uri="{FF2B5EF4-FFF2-40B4-BE49-F238E27FC236}">
                <a16:creationId xmlns:a16="http://schemas.microsoft.com/office/drawing/2014/main" id="{30310B69-2531-76F9-1CF7-A3925EBA422A}"/>
              </a:ext>
            </a:extLst>
          </p:cNvPr>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lvl="0"/>
            <a:r>
              <a:rPr lang="en-US" b="1" dirty="0"/>
              <a:t>24-01-2026</a:t>
            </a:r>
            <a:endParaRPr lang="en-US" dirty="0"/>
          </a:p>
        </p:txBody>
      </p:sp>
      <p:sp>
        <p:nvSpPr>
          <p:cNvPr id="167" name="Google Shape;167;p21">
            <a:extLst>
              <a:ext uri="{FF2B5EF4-FFF2-40B4-BE49-F238E27FC236}">
                <a16:creationId xmlns:a16="http://schemas.microsoft.com/office/drawing/2014/main" id="{81117519-8D67-7D3B-1B06-7CF648FA1933}"/>
              </a:ext>
            </a:extLst>
          </p:cNvPr>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r>
              <a:rPr lang="en-US" dirty="0"/>
              <a:t>Major Project- Review I</a:t>
            </a:r>
          </a:p>
          <a:p>
            <a:pPr marL="0" lvl="0" indent="0" algn="ctr" rtl="0">
              <a:lnSpc>
                <a:spcPct val="100000"/>
              </a:lnSpc>
              <a:spcBef>
                <a:spcPts val="0"/>
              </a:spcBef>
              <a:spcAft>
                <a:spcPts val="0"/>
              </a:spcAft>
              <a:buSzPts val="1400"/>
              <a:buNone/>
            </a:pPr>
            <a:endParaRPr dirty="0"/>
          </a:p>
        </p:txBody>
      </p:sp>
      <p:sp>
        <p:nvSpPr>
          <p:cNvPr id="168" name="Google Shape;168;p21">
            <a:extLst>
              <a:ext uri="{FF2B5EF4-FFF2-40B4-BE49-F238E27FC236}">
                <a16:creationId xmlns:a16="http://schemas.microsoft.com/office/drawing/2014/main" id="{4DA11723-5019-25D8-9ED8-D179E4398C44}"/>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11</a:t>
            </a:fld>
            <a:endParaRPr/>
          </a:p>
        </p:txBody>
      </p:sp>
      <p:sp>
        <p:nvSpPr>
          <p:cNvPr id="2" name="TextBox 1">
            <a:extLst>
              <a:ext uri="{FF2B5EF4-FFF2-40B4-BE49-F238E27FC236}">
                <a16:creationId xmlns:a16="http://schemas.microsoft.com/office/drawing/2014/main" id="{4E2D096F-C79C-934A-915F-491DDB169092}"/>
              </a:ext>
            </a:extLst>
          </p:cNvPr>
          <p:cNvSpPr txBox="1"/>
          <p:nvPr/>
        </p:nvSpPr>
        <p:spPr>
          <a:xfrm>
            <a:off x="2237740" y="0"/>
            <a:ext cx="7315200" cy="1200329"/>
          </a:xfrm>
          <a:prstGeom prst="rect">
            <a:avLst/>
          </a:prstGeom>
          <a:noFill/>
        </p:spPr>
        <p:txBody>
          <a:bodyPr wrap="square" rtlCol="0">
            <a:spAutoFit/>
          </a:bodyPr>
          <a:lstStyle/>
          <a:p>
            <a:r>
              <a:rPr lang="en-US" sz="3600" dirty="0">
                <a:latin typeface="Times New Roman" panose="02020603050405020304" pitchFamily="18" charset="0"/>
                <a:ea typeface="Times New Roman"/>
                <a:cs typeface="Times New Roman" panose="02020603050405020304" pitchFamily="18" charset="0"/>
                <a:sym typeface="Times New Roman"/>
              </a:rPr>
              <a:t>Intermediate Results and Discussion</a:t>
            </a:r>
            <a:endParaRPr lang="en-US" sz="3600" dirty="0">
              <a:latin typeface="Times New Roman" panose="02020603050405020304" pitchFamily="18" charset="0"/>
              <a:cs typeface="Times New Roman" panose="02020603050405020304" pitchFamily="18" charset="0"/>
            </a:endParaRPr>
          </a:p>
          <a:p>
            <a:endParaRPr lang="en-IN" sz="36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84D262F8-36E2-8075-24C0-63EC7D067791}"/>
              </a:ext>
            </a:extLst>
          </p:cNvPr>
          <p:cNvPicPr>
            <a:picLocks noChangeAspect="1"/>
          </p:cNvPicPr>
          <p:nvPr/>
        </p:nvPicPr>
        <p:blipFill>
          <a:blip r:embed="rId4"/>
          <a:stretch>
            <a:fillRect/>
          </a:stretch>
        </p:blipFill>
        <p:spPr>
          <a:xfrm>
            <a:off x="1118870" y="1815084"/>
            <a:ext cx="7595420" cy="4272423"/>
          </a:xfrm>
          <a:prstGeom prst="rect">
            <a:avLst/>
          </a:prstGeom>
        </p:spPr>
      </p:pic>
    </p:spTree>
    <p:extLst>
      <p:ext uri="{BB962C8B-B14F-4D97-AF65-F5344CB8AC3E}">
        <p14:creationId xmlns:p14="http://schemas.microsoft.com/office/powerpoint/2010/main" val="11086963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3">
          <a:extLst>
            <a:ext uri="{FF2B5EF4-FFF2-40B4-BE49-F238E27FC236}">
              <a16:creationId xmlns:a16="http://schemas.microsoft.com/office/drawing/2014/main" id="{13E29BA1-4C3D-136A-3349-FAC337B18BFF}"/>
            </a:ext>
          </a:extLst>
        </p:cNvPr>
        <p:cNvGrpSpPr/>
        <p:nvPr/>
      </p:nvGrpSpPr>
      <p:grpSpPr>
        <a:xfrm>
          <a:off x="0" y="0"/>
          <a:ext cx="0" cy="0"/>
          <a:chOff x="0" y="0"/>
          <a:chExt cx="0" cy="0"/>
        </a:xfrm>
      </p:grpSpPr>
      <p:sp>
        <p:nvSpPr>
          <p:cNvPr id="164" name="Google Shape;164;p21">
            <a:extLst>
              <a:ext uri="{FF2B5EF4-FFF2-40B4-BE49-F238E27FC236}">
                <a16:creationId xmlns:a16="http://schemas.microsoft.com/office/drawing/2014/main" id="{0C5B1D9D-ED7D-EE72-E5A9-B01BBBF85B0D}"/>
              </a:ext>
            </a:extLst>
          </p:cNvPr>
          <p:cNvSpPr txBox="1">
            <a:spLocks noGrp="1"/>
          </p:cNvSpPr>
          <p:nvPr>
            <p:ph type="body" idx="1"/>
          </p:nvPr>
        </p:nvSpPr>
        <p:spPr>
          <a:xfrm>
            <a:off x="457200" y="1292701"/>
            <a:ext cx="8229600" cy="4525963"/>
          </a:xfrm>
          <a:prstGeom prst="rect">
            <a:avLst/>
          </a:prstGeom>
          <a:noFill/>
          <a:ln>
            <a:noFill/>
          </a:ln>
        </p:spPr>
        <p:txBody>
          <a:bodyPr spcFirstLastPara="1" wrap="square" lIns="91425" tIns="45700" rIns="91425" bIns="45700" anchor="t" anchorCtr="0">
            <a:normAutofit/>
          </a:bodyPr>
          <a:lstStyle/>
          <a:p>
            <a:pPr lvl="1" algn="just">
              <a:buFont typeface="Arial" panose="020B0604020202020204" pitchFamily="34" charset="0"/>
              <a:buChar char="•"/>
            </a:pPr>
            <a:r>
              <a:rPr lang="en-IN" sz="2000" dirty="0"/>
              <a:t>We have increased our dataset from 0.06M </a:t>
            </a:r>
            <a:r>
              <a:rPr lang="en-IN" sz="2000" dirty="0" err="1"/>
              <a:t>flac</a:t>
            </a:r>
            <a:r>
              <a:rPr lang="en-IN" sz="2000" dirty="0"/>
              <a:t> files to 0.15M files</a:t>
            </a:r>
          </a:p>
          <a:p>
            <a:pPr lvl="1" algn="just">
              <a:buFont typeface="Arial" panose="020B0604020202020204" pitchFamily="34" charset="0"/>
              <a:buChar char="•"/>
            </a:pPr>
            <a:endParaRPr lang="en-IN" sz="2000" dirty="0"/>
          </a:p>
          <a:p>
            <a:pPr lvl="1" algn="just">
              <a:buFont typeface="Arial" panose="020B0604020202020204" pitchFamily="34" charset="0"/>
              <a:buChar char="•"/>
            </a:pPr>
            <a:r>
              <a:rPr lang="en-US" sz="2000" dirty="0"/>
              <a:t>A curated deepfake dataset (FaceForensics++, DFDC, Celeb-DF, and self-generated augmented samples) has been used to provide structured and diverse manipulation patterns.</a:t>
            </a:r>
          </a:p>
          <a:p>
            <a:pPr marL="571500" lvl="1" indent="0" algn="just">
              <a:buNone/>
            </a:pPr>
            <a:endParaRPr lang="en-US" sz="2000" dirty="0"/>
          </a:p>
          <a:p>
            <a:pPr lvl="1" algn="just">
              <a:buFont typeface="Arial" panose="020B0604020202020204" pitchFamily="34" charset="0"/>
              <a:buChar char="•"/>
            </a:pPr>
            <a:r>
              <a:rPr lang="en-US" sz="2000" dirty="0"/>
              <a:t>When the primary deepfake detection model shows low confidence, secondary models (CNN-based spatial model, temporal LSTM/Transformer model) are triggered to validate the prediction and reduce false positives.</a:t>
            </a:r>
            <a:endParaRPr sz="2000" dirty="0"/>
          </a:p>
        </p:txBody>
      </p:sp>
      <p:pic>
        <p:nvPicPr>
          <p:cNvPr id="165" name="Google Shape;165;p21">
            <a:extLst>
              <a:ext uri="{FF2B5EF4-FFF2-40B4-BE49-F238E27FC236}">
                <a16:creationId xmlns:a16="http://schemas.microsoft.com/office/drawing/2014/main" id="{3E5F23A4-77C6-0C17-1BD9-6AB908C084BA}"/>
              </a:ext>
            </a:extLst>
          </p:cNvPr>
          <p:cNvPicPr preferRelativeResize="0"/>
          <p:nvPr/>
        </p:nvPicPr>
        <p:blipFill rotWithShape="1">
          <a:blip r:embed="rId3">
            <a:alphaModFix/>
          </a:blip>
          <a:srcRect/>
          <a:stretch/>
        </p:blipFill>
        <p:spPr>
          <a:xfrm>
            <a:off x="0" y="0"/>
            <a:ext cx="2237740" cy="755015"/>
          </a:xfrm>
          <a:prstGeom prst="rect">
            <a:avLst/>
          </a:prstGeom>
          <a:noFill/>
          <a:ln>
            <a:noFill/>
          </a:ln>
        </p:spPr>
      </p:pic>
      <p:sp>
        <p:nvSpPr>
          <p:cNvPr id="166" name="Google Shape;166;p21">
            <a:extLst>
              <a:ext uri="{FF2B5EF4-FFF2-40B4-BE49-F238E27FC236}">
                <a16:creationId xmlns:a16="http://schemas.microsoft.com/office/drawing/2014/main" id="{F985EE2A-88AB-B932-FD09-2285A54EFD47}"/>
              </a:ext>
            </a:extLst>
          </p:cNvPr>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lvl="0"/>
            <a:r>
              <a:rPr lang="en-US" b="1" dirty="0"/>
              <a:t>24-01-2026</a:t>
            </a:r>
            <a:endParaRPr lang="en-US" dirty="0"/>
          </a:p>
        </p:txBody>
      </p:sp>
      <p:sp>
        <p:nvSpPr>
          <p:cNvPr id="167" name="Google Shape;167;p21">
            <a:extLst>
              <a:ext uri="{FF2B5EF4-FFF2-40B4-BE49-F238E27FC236}">
                <a16:creationId xmlns:a16="http://schemas.microsoft.com/office/drawing/2014/main" id="{19D8A0D2-DE4D-0944-66EE-907E1ACDFF1C}"/>
              </a:ext>
            </a:extLst>
          </p:cNvPr>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r>
              <a:rPr lang="en-US" dirty="0"/>
              <a:t>Major Project- Review I</a:t>
            </a:r>
          </a:p>
          <a:p>
            <a:pPr marL="0" lvl="0" indent="0" algn="ctr" rtl="0">
              <a:lnSpc>
                <a:spcPct val="100000"/>
              </a:lnSpc>
              <a:spcBef>
                <a:spcPts val="0"/>
              </a:spcBef>
              <a:spcAft>
                <a:spcPts val="0"/>
              </a:spcAft>
              <a:buSzPts val="1400"/>
              <a:buNone/>
            </a:pPr>
            <a:endParaRPr dirty="0"/>
          </a:p>
        </p:txBody>
      </p:sp>
      <p:sp>
        <p:nvSpPr>
          <p:cNvPr id="168" name="Google Shape;168;p21">
            <a:extLst>
              <a:ext uri="{FF2B5EF4-FFF2-40B4-BE49-F238E27FC236}">
                <a16:creationId xmlns:a16="http://schemas.microsoft.com/office/drawing/2014/main" id="{DBD11FA4-17E0-74A7-7147-D992A78C5D5F}"/>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12</a:t>
            </a:fld>
            <a:endParaRPr/>
          </a:p>
        </p:txBody>
      </p:sp>
      <p:sp>
        <p:nvSpPr>
          <p:cNvPr id="2" name="TextBox 1">
            <a:extLst>
              <a:ext uri="{FF2B5EF4-FFF2-40B4-BE49-F238E27FC236}">
                <a16:creationId xmlns:a16="http://schemas.microsoft.com/office/drawing/2014/main" id="{5F8AF1A7-6F6E-C77C-E40D-3B61D788F4A5}"/>
              </a:ext>
            </a:extLst>
          </p:cNvPr>
          <p:cNvSpPr txBox="1"/>
          <p:nvPr/>
        </p:nvSpPr>
        <p:spPr>
          <a:xfrm>
            <a:off x="2237740" y="0"/>
            <a:ext cx="7315200" cy="1200329"/>
          </a:xfrm>
          <a:prstGeom prst="rect">
            <a:avLst/>
          </a:prstGeom>
          <a:noFill/>
        </p:spPr>
        <p:txBody>
          <a:bodyPr wrap="square" rtlCol="0">
            <a:spAutoFit/>
          </a:bodyPr>
          <a:lstStyle/>
          <a:p>
            <a:r>
              <a:rPr lang="en-US" sz="3600" dirty="0">
                <a:latin typeface="Times New Roman" panose="02020603050405020304" pitchFamily="18" charset="0"/>
                <a:ea typeface="Times New Roman"/>
                <a:cs typeface="Times New Roman" panose="02020603050405020304" pitchFamily="18" charset="0"/>
                <a:sym typeface="Times New Roman"/>
              </a:rPr>
              <a:t>Intermediate Results and Discussion</a:t>
            </a:r>
            <a:endParaRPr lang="en-US" sz="3600" dirty="0">
              <a:latin typeface="Times New Roman" panose="02020603050405020304" pitchFamily="18" charset="0"/>
              <a:cs typeface="Times New Roman" panose="02020603050405020304" pitchFamily="18" charset="0"/>
            </a:endParaRPr>
          </a:p>
          <a:p>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58485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22"/>
          <p:cNvSpPr txBox="1">
            <a:spLocks noGrp="1"/>
          </p:cNvSpPr>
          <p:nvPr>
            <p:ph type="body" idx="1"/>
          </p:nvPr>
        </p:nvSpPr>
        <p:spPr>
          <a:xfrm>
            <a:off x="3223549" y="0"/>
            <a:ext cx="3790709" cy="755016"/>
          </a:xfrm>
          <a:prstGeom prst="rect">
            <a:avLst/>
          </a:prstGeom>
          <a:noFill/>
          <a:ln>
            <a:noFill/>
          </a:ln>
        </p:spPr>
        <p:txBody>
          <a:bodyPr spcFirstLastPara="1" wrap="square" lIns="91425" tIns="45700" rIns="91425" bIns="45700" anchor="t" anchorCtr="0">
            <a:normAutofit/>
          </a:bodyPr>
          <a:lstStyle/>
          <a:p>
            <a:pPr marL="571500" lvl="1" indent="0" algn="l" rtl="0">
              <a:lnSpc>
                <a:spcPct val="100000"/>
              </a:lnSpc>
              <a:spcBef>
                <a:spcPts val="360"/>
              </a:spcBef>
              <a:spcAft>
                <a:spcPts val="0"/>
              </a:spcAft>
              <a:buSzPts val="1800"/>
              <a:buNone/>
            </a:pPr>
            <a:r>
              <a:rPr lang="en-US" sz="4000" b="1" dirty="0">
                <a:latin typeface="Times New Roman"/>
                <a:ea typeface="Times New Roman"/>
                <a:cs typeface="Times New Roman"/>
                <a:sym typeface="Times New Roman"/>
              </a:rPr>
              <a:t>References</a:t>
            </a:r>
            <a:endParaRPr sz="4000" b="1" dirty="0"/>
          </a:p>
        </p:txBody>
      </p:sp>
      <p:pic>
        <p:nvPicPr>
          <p:cNvPr id="174" name="Google Shape;174;p22"/>
          <p:cNvPicPr preferRelativeResize="0"/>
          <p:nvPr/>
        </p:nvPicPr>
        <p:blipFill rotWithShape="1">
          <a:blip r:embed="rId3">
            <a:alphaModFix/>
          </a:blip>
          <a:srcRect/>
          <a:stretch/>
        </p:blipFill>
        <p:spPr>
          <a:xfrm>
            <a:off x="0" y="0"/>
            <a:ext cx="2237740" cy="755015"/>
          </a:xfrm>
          <a:prstGeom prst="rect">
            <a:avLst/>
          </a:prstGeom>
          <a:noFill/>
          <a:ln>
            <a:noFill/>
          </a:ln>
        </p:spPr>
      </p:pic>
      <p:sp>
        <p:nvSpPr>
          <p:cNvPr id="175" name="Google Shape;175;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r>
              <a:rPr lang="en-US" b="1" dirty="0"/>
              <a:t>24-01-2026</a:t>
            </a:r>
            <a:endParaRPr lang="en-US" dirty="0"/>
          </a:p>
          <a:p>
            <a:pPr marL="0" lvl="0" indent="0" algn="l" rtl="0">
              <a:lnSpc>
                <a:spcPct val="100000"/>
              </a:lnSpc>
              <a:spcBef>
                <a:spcPts val="0"/>
              </a:spcBef>
              <a:spcAft>
                <a:spcPts val="0"/>
              </a:spcAft>
              <a:buSzPts val="1400"/>
              <a:buNone/>
            </a:pPr>
            <a:endParaRPr dirty="0"/>
          </a:p>
        </p:txBody>
      </p:sp>
      <p:sp>
        <p:nvSpPr>
          <p:cNvPr id="176" name="Google Shape;176;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r>
              <a:rPr lang="en-US" dirty="0"/>
              <a:t>Major Project- Review I</a:t>
            </a:r>
          </a:p>
          <a:p>
            <a:pPr marL="0" lvl="0" indent="0" algn="ctr" rtl="0">
              <a:lnSpc>
                <a:spcPct val="100000"/>
              </a:lnSpc>
              <a:spcBef>
                <a:spcPts val="0"/>
              </a:spcBef>
              <a:spcAft>
                <a:spcPts val="0"/>
              </a:spcAft>
              <a:buSzPts val="1400"/>
              <a:buNone/>
            </a:pPr>
            <a:endParaRPr dirty="0"/>
          </a:p>
        </p:txBody>
      </p:sp>
      <p:sp>
        <p:nvSpPr>
          <p:cNvPr id="177" name="Google Shape;177;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13</a:t>
            </a:fld>
            <a:endParaRPr/>
          </a:p>
        </p:txBody>
      </p:sp>
      <p:sp>
        <p:nvSpPr>
          <p:cNvPr id="2" name="TextBox 1">
            <a:extLst>
              <a:ext uri="{FF2B5EF4-FFF2-40B4-BE49-F238E27FC236}">
                <a16:creationId xmlns:a16="http://schemas.microsoft.com/office/drawing/2014/main" id="{42C66AAE-8D6E-7696-24F8-08B9F91F11B1}"/>
              </a:ext>
            </a:extLst>
          </p:cNvPr>
          <p:cNvSpPr txBox="1"/>
          <p:nvPr/>
        </p:nvSpPr>
        <p:spPr>
          <a:xfrm>
            <a:off x="324091" y="1157525"/>
            <a:ext cx="8362709" cy="4401205"/>
          </a:xfrm>
          <a:prstGeom prst="rect">
            <a:avLst/>
          </a:prstGeom>
          <a:noFill/>
        </p:spPr>
        <p:txBody>
          <a:bodyPr wrap="square" rtlCol="0">
            <a:spAutoFit/>
          </a:bodyPr>
          <a:lstStyle/>
          <a:p>
            <a:pPr algn="just"/>
            <a:r>
              <a:rPr lang="en-IN" dirty="0">
                <a:latin typeface="Times New Roman" panose="02020603050405020304" pitchFamily="18" charset="0"/>
                <a:cs typeface="Times New Roman" panose="02020603050405020304" pitchFamily="18" charset="0"/>
              </a:rPr>
              <a:t>[1] H. Farid, ‘‘Image forgery detection,’’ IEEE Signal Process. Mag., vol. 26, no. 2, pp. 16–25, Mar. 2009.</a:t>
            </a:r>
          </a:p>
          <a:p>
            <a:pPr algn="just"/>
            <a:r>
              <a:rPr lang="en-IN" dirty="0">
                <a:latin typeface="Times New Roman" panose="02020603050405020304" pitchFamily="18" charset="0"/>
                <a:cs typeface="Times New Roman" panose="02020603050405020304" pitchFamily="18" charset="0"/>
              </a:rPr>
              <a:t>[2] I. Goodfellow, J. Pouget-Abadie, M. Mirza, B. Xu, D. Warde-Farley, S. Ozair, A. Courville, and Y. Bengio, ‘‘Generative adversarial nets,’’ in Proc. Adv. Neural Inf. Process. Syst., vol. 27, 2014, pp. 1–9.</a:t>
            </a:r>
          </a:p>
          <a:p>
            <a:pPr algn="just"/>
            <a:r>
              <a:rPr lang="en-IN" dirty="0">
                <a:latin typeface="Times New Roman" panose="02020603050405020304" pitchFamily="18" charset="0"/>
                <a:cs typeface="Times New Roman" panose="02020603050405020304" pitchFamily="18" charset="0"/>
              </a:rPr>
              <a:t>[3] P. Baldi, ‘‘Autoencoders, unsupervised learning, and deep architectures,’’ in Proc. ICML Workshop Unsupervised Transf. Learn., 2012, pp. 37–49.</a:t>
            </a:r>
          </a:p>
          <a:p>
            <a:pPr algn="just"/>
            <a:r>
              <a:rPr lang="en-IN" dirty="0">
                <a:latin typeface="Times New Roman" panose="02020603050405020304" pitchFamily="18" charset="0"/>
                <a:cs typeface="Times New Roman" panose="02020603050405020304" pitchFamily="18" charset="0"/>
              </a:rPr>
              <a:t>[4] T. Karras, S. Laine, and T. Aila, ‘‘A style-based generator architecture for generative adversarial networks,’’ in Proc. IEEE/CVF Conf. </a:t>
            </a:r>
            <a:r>
              <a:rPr lang="en-IN" dirty="0" err="1">
                <a:latin typeface="Times New Roman" panose="02020603050405020304" pitchFamily="18" charset="0"/>
                <a:cs typeface="Times New Roman" panose="02020603050405020304" pitchFamily="18" charset="0"/>
              </a:rPr>
              <a:t>Comput</a:t>
            </a:r>
            <a:r>
              <a:rPr lang="en-IN" dirty="0">
                <a:latin typeface="Times New Roman" panose="02020603050405020304" pitchFamily="18" charset="0"/>
                <a:cs typeface="Times New Roman" panose="02020603050405020304" pitchFamily="18" charset="0"/>
              </a:rPr>
              <a:t>. Vis. Pattern </a:t>
            </a:r>
            <a:r>
              <a:rPr lang="en-IN" dirty="0" err="1">
                <a:latin typeface="Times New Roman" panose="02020603050405020304" pitchFamily="18" charset="0"/>
                <a:cs typeface="Times New Roman" panose="02020603050405020304" pitchFamily="18" charset="0"/>
              </a:rPr>
              <a:t>Recognit</a:t>
            </a:r>
            <a:r>
              <a:rPr lang="en-IN" dirty="0">
                <a:latin typeface="Times New Roman" panose="02020603050405020304" pitchFamily="18" charset="0"/>
                <a:cs typeface="Times New Roman" panose="02020603050405020304" pitchFamily="18" charset="0"/>
              </a:rPr>
              <a:t>. (CVPR), Jun. 2019, pp. 4401–4410.</a:t>
            </a:r>
          </a:p>
          <a:p>
            <a:pPr algn="just"/>
            <a:r>
              <a:rPr lang="en-IN" dirty="0">
                <a:latin typeface="Times New Roman" panose="02020603050405020304" pitchFamily="18" charset="0"/>
                <a:cs typeface="Times New Roman" panose="02020603050405020304" pitchFamily="18" charset="0"/>
              </a:rPr>
              <a:t>[5] Y. Mirsky and W. Lee, ‘‘The creation and detection of deepfakes: A survey,’’ ACM </a:t>
            </a:r>
            <a:r>
              <a:rPr lang="en-IN" dirty="0" err="1">
                <a:latin typeface="Times New Roman" panose="02020603050405020304" pitchFamily="18" charset="0"/>
                <a:cs typeface="Times New Roman" panose="02020603050405020304" pitchFamily="18" charset="0"/>
              </a:rPr>
              <a:t>Comput</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Surv</a:t>
            </a:r>
            <a:r>
              <a:rPr lang="en-IN" dirty="0">
                <a:latin typeface="Times New Roman" panose="02020603050405020304" pitchFamily="18" charset="0"/>
                <a:cs typeface="Times New Roman" panose="02020603050405020304" pitchFamily="18" charset="0"/>
              </a:rPr>
              <a:t>., vol. 54, no. 1, pp. 1–41, Jan. 2022.</a:t>
            </a:r>
          </a:p>
          <a:p>
            <a:pPr algn="just"/>
            <a:r>
              <a:rPr lang="en-IN" dirty="0">
                <a:latin typeface="Times New Roman" panose="02020603050405020304" pitchFamily="18" charset="0"/>
                <a:cs typeface="Times New Roman" panose="02020603050405020304" pitchFamily="18" charset="0"/>
              </a:rPr>
              <a:t>[6] M. Masood, M. Nawaz, K. M. Malik, A. Javed, and A. Irtaza, ‘‘Deepfakes generation and detection: State-of-the-art, open challenges, countermeasures, and way forward,’’ 2021, arXiv:2103.00484.</a:t>
            </a:r>
          </a:p>
          <a:p>
            <a:pPr algn="just"/>
            <a:r>
              <a:rPr lang="en-IN" dirty="0">
                <a:latin typeface="Times New Roman" panose="02020603050405020304" pitchFamily="18" charset="0"/>
                <a:cs typeface="Times New Roman" panose="02020603050405020304" pitchFamily="18" charset="0"/>
              </a:rPr>
              <a:t>[7] R. </a:t>
            </a:r>
            <a:r>
              <a:rPr lang="en-IN" dirty="0" err="1">
                <a:latin typeface="Times New Roman" panose="02020603050405020304" pitchFamily="18" charset="0"/>
                <a:cs typeface="Times New Roman" panose="02020603050405020304" pitchFamily="18" charset="0"/>
              </a:rPr>
              <a:t>Tolosana</a:t>
            </a:r>
            <a:r>
              <a:rPr lang="en-IN" dirty="0">
                <a:latin typeface="Times New Roman" panose="02020603050405020304" pitchFamily="18" charset="0"/>
                <a:cs typeface="Times New Roman" panose="02020603050405020304" pitchFamily="18" charset="0"/>
              </a:rPr>
              <a:t>, R. Vera-Rodriguez, J. </a:t>
            </a:r>
            <a:r>
              <a:rPr lang="en-IN" dirty="0" err="1">
                <a:latin typeface="Times New Roman" panose="02020603050405020304" pitchFamily="18" charset="0"/>
                <a:cs typeface="Times New Roman" panose="02020603050405020304" pitchFamily="18" charset="0"/>
              </a:rPr>
              <a:t>Fierrez</a:t>
            </a:r>
            <a:r>
              <a:rPr lang="en-IN" dirty="0">
                <a:latin typeface="Times New Roman" panose="02020603050405020304" pitchFamily="18" charset="0"/>
                <a:cs typeface="Times New Roman" panose="02020603050405020304" pitchFamily="18" charset="0"/>
              </a:rPr>
              <a:t>, A. Morales, and J. Ortega-Garcia, ‘‘Deepfakes and beyond: A survey of face manipulation and fake detection,’’ Inf. Fusion, vol. 64, pp. 131–148, Dec. 2020.</a:t>
            </a:r>
          </a:p>
          <a:p>
            <a:pPr algn="just"/>
            <a:r>
              <a:rPr lang="en-IN" dirty="0">
                <a:latin typeface="Times New Roman" panose="02020603050405020304" pitchFamily="18" charset="0"/>
                <a:cs typeface="Times New Roman" panose="02020603050405020304" pitchFamily="18" charset="0"/>
              </a:rPr>
              <a:t>[8] T. T. Nguyen, Q. V. H. Nguyen, D. T. Nguyen, D. T. Nguyen, T. Huynh-The, S. </a:t>
            </a:r>
            <a:r>
              <a:rPr lang="en-IN" dirty="0" err="1">
                <a:latin typeface="Times New Roman" panose="02020603050405020304" pitchFamily="18" charset="0"/>
                <a:cs typeface="Times New Roman" panose="02020603050405020304" pitchFamily="18" charset="0"/>
              </a:rPr>
              <a:t>Nahavandi</a:t>
            </a:r>
            <a:r>
              <a:rPr lang="en-IN" dirty="0">
                <a:latin typeface="Times New Roman" panose="02020603050405020304" pitchFamily="18" charset="0"/>
                <a:cs typeface="Times New Roman" panose="02020603050405020304" pitchFamily="18" charset="0"/>
              </a:rPr>
              <a:t>, T. T. Nguyen, Q.-V. Pham, and C. M. Nguyen, ‘‘Deep learning for deepfakes creation and detection: A survey,’’ 2019, arXiv:1909.11573.</a:t>
            </a:r>
          </a:p>
          <a:p>
            <a:pPr algn="just"/>
            <a:r>
              <a:rPr lang="en-IN" dirty="0">
                <a:latin typeface="Times New Roman" panose="02020603050405020304" pitchFamily="18" charset="0"/>
                <a:cs typeface="Times New Roman" panose="02020603050405020304" pitchFamily="18" charset="0"/>
              </a:rPr>
              <a:t>[9] L. </a:t>
            </a:r>
            <a:r>
              <a:rPr lang="en-IN" dirty="0" err="1">
                <a:latin typeface="Times New Roman" panose="02020603050405020304" pitchFamily="18" charset="0"/>
                <a:cs typeface="Times New Roman" panose="02020603050405020304" pitchFamily="18" charset="0"/>
              </a:rPr>
              <a:t>Verdoliva</a:t>
            </a:r>
            <a:r>
              <a:rPr lang="en-IN" dirty="0">
                <a:latin typeface="Times New Roman" panose="02020603050405020304" pitchFamily="18" charset="0"/>
                <a:cs typeface="Times New Roman" panose="02020603050405020304" pitchFamily="18" charset="0"/>
              </a:rPr>
              <a:t>, ‘‘Media forensics and </a:t>
            </a:r>
            <a:r>
              <a:rPr lang="en-IN" dirty="0" err="1">
                <a:latin typeface="Times New Roman" panose="02020603050405020304" pitchFamily="18" charset="0"/>
                <a:cs typeface="Times New Roman" panose="02020603050405020304" pitchFamily="18" charset="0"/>
              </a:rPr>
              <a:t>DeepFakes</a:t>
            </a:r>
            <a:r>
              <a:rPr lang="en-IN" dirty="0">
                <a:latin typeface="Times New Roman" panose="02020603050405020304" pitchFamily="18" charset="0"/>
                <a:cs typeface="Times New Roman" panose="02020603050405020304" pitchFamily="18" charset="0"/>
              </a:rPr>
              <a:t>: An overview,’’ IEEE J. Sel. Topics Signal Process., vol. 14, no. 5, pp. 910–932, Aug. 2020.</a:t>
            </a:r>
          </a:p>
          <a:p>
            <a:pPr algn="just"/>
            <a:r>
              <a:rPr lang="en-IN" dirty="0">
                <a:latin typeface="Times New Roman" panose="02020603050405020304" pitchFamily="18" charset="0"/>
                <a:cs typeface="Times New Roman" panose="02020603050405020304" pitchFamily="18" charset="0"/>
              </a:rPr>
              <a:t>[10] K. Fukushima, ‘‘</a:t>
            </a:r>
            <a:r>
              <a:rPr lang="en-IN" dirty="0" err="1">
                <a:latin typeface="Times New Roman" panose="02020603050405020304" pitchFamily="18" charset="0"/>
                <a:cs typeface="Times New Roman" panose="02020603050405020304" pitchFamily="18" charset="0"/>
              </a:rPr>
              <a:t>Neocognitron</a:t>
            </a:r>
            <a:r>
              <a:rPr lang="en-IN" dirty="0">
                <a:latin typeface="Times New Roman" panose="02020603050405020304" pitchFamily="18" charset="0"/>
                <a:cs typeface="Times New Roman" panose="02020603050405020304" pitchFamily="18" charset="0"/>
              </a:rPr>
              <a:t>: A self-organizing neural network model for a mechanism of pattern recognition unaffected by shift in position,’’ Biol. </a:t>
            </a:r>
            <a:r>
              <a:rPr lang="en-IN" dirty="0" err="1">
                <a:latin typeface="Times New Roman" panose="02020603050405020304" pitchFamily="18" charset="0"/>
                <a:cs typeface="Times New Roman" panose="02020603050405020304" pitchFamily="18" charset="0"/>
              </a:rPr>
              <a:t>Cybern</a:t>
            </a:r>
            <a:r>
              <a:rPr lang="en-IN" dirty="0">
                <a:latin typeface="Times New Roman" panose="02020603050405020304" pitchFamily="18" charset="0"/>
                <a:cs typeface="Times New Roman" panose="02020603050405020304" pitchFamily="18" charset="0"/>
              </a:rPr>
              <a:t>., vol. 36, no. 4, pp. 193–202, Apr. 1980.</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2">
          <a:extLst>
            <a:ext uri="{FF2B5EF4-FFF2-40B4-BE49-F238E27FC236}">
              <a16:creationId xmlns:a16="http://schemas.microsoft.com/office/drawing/2014/main" id="{8C845541-1A69-3C9A-6CFD-BBE79F76A94D}"/>
            </a:ext>
          </a:extLst>
        </p:cNvPr>
        <p:cNvGrpSpPr/>
        <p:nvPr/>
      </p:nvGrpSpPr>
      <p:grpSpPr>
        <a:xfrm>
          <a:off x="0" y="0"/>
          <a:ext cx="0" cy="0"/>
          <a:chOff x="0" y="0"/>
          <a:chExt cx="0" cy="0"/>
        </a:xfrm>
      </p:grpSpPr>
      <p:sp>
        <p:nvSpPr>
          <p:cNvPr id="173" name="Google Shape;173;p22">
            <a:extLst>
              <a:ext uri="{FF2B5EF4-FFF2-40B4-BE49-F238E27FC236}">
                <a16:creationId xmlns:a16="http://schemas.microsoft.com/office/drawing/2014/main" id="{DD517749-C31E-C045-403B-090C142BF93B}"/>
              </a:ext>
            </a:extLst>
          </p:cNvPr>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571500" lvl="1" indent="0" algn="just">
              <a:buNone/>
            </a:pPr>
            <a:r>
              <a:rPr lang="en-IN" b="1" dirty="0">
                <a:latin typeface="Times New Roman" panose="02020603050405020304" pitchFamily="18" charset="0"/>
                <a:cs typeface="Times New Roman" panose="02020603050405020304" pitchFamily="18" charset="0"/>
              </a:rPr>
              <a:t>Work Completed Till Now:</a:t>
            </a:r>
          </a:p>
          <a:p>
            <a:pPr marL="571500" lvl="1" indent="0" algn="just">
              <a:buNone/>
            </a:pPr>
            <a:r>
              <a:rPr lang="en-IN" sz="2000" dirty="0">
                <a:latin typeface="Times New Roman" panose="02020603050405020304" pitchFamily="18" charset="0"/>
                <a:cs typeface="Times New Roman" panose="02020603050405020304" pitchFamily="18" charset="0"/>
              </a:rPr>
              <a:t>Currently we have created an intermediate UI for the project and audio module of the project. Along with that we are trying to improve the efficiency of the module.</a:t>
            </a:r>
          </a:p>
          <a:p>
            <a:pPr marL="571500" lvl="1" indent="0" algn="just">
              <a:buNone/>
            </a:pPr>
            <a:endParaRPr lang="en-IN" dirty="0">
              <a:latin typeface="Times New Roman" panose="02020603050405020304" pitchFamily="18" charset="0"/>
              <a:cs typeface="Times New Roman" panose="02020603050405020304" pitchFamily="18" charset="0"/>
            </a:endParaRPr>
          </a:p>
          <a:p>
            <a:pPr marL="571500" lvl="1" indent="0" algn="just">
              <a:buNone/>
            </a:pPr>
            <a:endParaRPr lang="en-IN" dirty="0">
              <a:latin typeface="Times New Roman" panose="02020603050405020304" pitchFamily="18" charset="0"/>
              <a:cs typeface="Times New Roman" panose="02020603050405020304" pitchFamily="18" charset="0"/>
            </a:endParaRPr>
          </a:p>
          <a:p>
            <a:pPr marL="571500" lvl="1" indent="0" algn="just">
              <a:buNone/>
            </a:pPr>
            <a:r>
              <a:rPr lang="en-US" b="1" dirty="0">
                <a:latin typeface="Times New Roman" panose="02020603050405020304" pitchFamily="18" charset="0"/>
                <a:ea typeface="Times New Roman"/>
                <a:cs typeface="Times New Roman" panose="02020603050405020304" pitchFamily="18" charset="0"/>
                <a:sym typeface="Times New Roman"/>
              </a:rPr>
              <a:t>Publication Status:</a:t>
            </a:r>
          </a:p>
          <a:p>
            <a:pPr marL="571500" lvl="1" indent="0" algn="just" rtl="0">
              <a:lnSpc>
                <a:spcPct val="100000"/>
              </a:lnSpc>
              <a:spcBef>
                <a:spcPts val="360"/>
              </a:spcBef>
              <a:spcAft>
                <a:spcPts val="0"/>
              </a:spcAft>
              <a:buSzPts val="1800"/>
              <a:buNone/>
            </a:pPr>
            <a:r>
              <a:rPr lang="en-US" sz="2000" dirty="0">
                <a:latin typeface="Times New Roman" panose="02020603050405020304" pitchFamily="18" charset="0"/>
                <a:cs typeface="Times New Roman" panose="02020603050405020304" pitchFamily="18" charset="0"/>
              </a:rPr>
              <a:t>We are still writing the research paper and trying to reduce AI plagiarism.</a:t>
            </a:r>
            <a:endParaRPr sz="2000" dirty="0">
              <a:latin typeface="Times New Roman" panose="02020603050405020304" pitchFamily="18" charset="0"/>
              <a:cs typeface="Times New Roman" panose="02020603050405020304" pitchFamily="18" charset="0"/>
            </a:endParaRPr>
          </a:p>
        </p:txBody>
      </p:sp>
      <p:pic>
        <p:nvPicPr>
          <p:cNvPr id="174" name="Google Shape;174;p22">
            <a:extLst>
              <a:ext uri="{FF2B5EF4-FFF2-40B4-BE49-F238E27FC236}">
                <a16:creationId xmlns:a16="http://schemas.microsoft.com/office/drawing/2014/main" id="{D9AEEEC7-27AD-B8CF-BD65-F71C54D505C1}"/>
              </a:ext>
            </a:extLst>
          </p:cNvPr>
          <p:cNvPicPr preferRelativeResize="0"/>
          <p:nvPr/>
        </p:nvPicPr>
        <p:blipFill rotWithShape="1">
          <a:blip r:embed="rId3">
            <a:alphaModFix/>
          </a:blip>
          <a:srcRect/>
          <a:stretch/>
        </p:blipFill>
        <p:spPr>
          <a:xfrm>
            <a:off x="0" y="0"/>
            <a:ext cx="2237740" cy="755015"/>
          </a:xfrm>
          <a:prstGeom prst="rect">
            <a:avLst/>
          </a:prstGeom>
          <a:noFill/>
          <a:ln>
            <a:noFill/>
          </a:ln>
        </p:spPr>
      </p:pic>
      <p:sp>
        <p:nvSpPr>
          <p:cNvPr id="175" name="Google Shape;175;p22">
            <a:extLst>
              <a:ext uri="{FF2B5EF4-FFF2-40B4-BE49-F238E27FC236}">
                <a16:creationId xmlns:a16="http://schemas.microsoft.com/office/drawing/2014/main" id="{98F29AEF-5A5F-0D06-85C4-1AA0E3B566C7}"/>
              </a:ext>
            </a:extLst>
          </p:cNvPr>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r>
              <a:rPr lang="en-US" b="1" dirty="0"/>
              <a:t>24-01-2026</a:t>
            </a:r>
            <a:endParaRPr lang="en-US" dirty="0"/>
          </a:p>
          <a:p>
            <a:pPr marL="0" lvl="0" indent="0" algn="l" rtl="0">
              <a:lnSpc>
                <a:spcPct val="100000"/>
              </a:lnSpc>
              <a:spcBef>
                <a:spcPts val="0"/>
              </a:spcBef>
              <a:spcAft>
                <a:spcPts val="0"/>
              </a:spcAft>
              <a:buSzPts val="1400"/>
              <a:buNone/>
            </a:pPr>
            <a:endParaRPr dirty="0"/>
          </a:p>
        </p:txBody>
      </p:sp>
      <p:sp>
        <p:nvSpPr>
          <p:cNvPr id="176" name="Google Shape;176;p22">
            <a:extLst>
              <a:ext uri="{FF2B5EF4-FFF2-40B4-BE49-F238E27FC236}">
                <a16:creationId xmlns:a16="http://schemas.microsoft.com/office/drawing/2014/main" id="{DFDA6AFC-4665-9648-6F58-2FE52DF0D8B3}"/>
              </a:ext>
            </a:extLst>
          </p:cNvPr>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r>
              <a:rPr lang="en-US" dirty="0"/>
              <a:t>Major Project- Review I</a:t>
            </a:r>
          </a:p>
          <a:p>
            <a:pPr marL="0" lvl="0" indent="0" algn="ctr" rtl="0">
              <a:lnSpc>
                <a:spcPct val="100000"/>
              </a:lnSpc>
              <a:spcBef>
                <a:spcPts val="0"/>
              </a:spcBef>
              <a:spcAft>
                <a:spcPts val="0"/>
              </a:spcAft>
              <a:buSzPts val="1400"/>
              <a:buNone/>
            </a:pPr>
            <a:endParaRPr dirty="0"/>
          </a:p>
        </p:txBody>
      </p:sp>
      <p:sp>
        <p:nvSpPr>
          <p:cNvPr id="177" name="Google Shape;177;p22">
            <a:extLst>
              <a:ext uri="{FF2B5EF4-FFF2-40B4-BE49-F238E27FC236}">
                <a16:creationId xmlns:a16="http://schemas.microsoft.com/office/drawing/2014/main" id="{A27932C3-E0C9-9557-21E9-E45C2FE5C709}"/>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14</a:t>
            </a:fld>
            <a:endParaRPr/>
          </a:p>
        </p:txBody>
      </p:sp>
    </p:spTree>
    <p:extLst>
      <p:ext uri="{BB962C8B-B14F-4D97-AF65-F5344CB8AC3E}">
        <p14:creationId xmlns:p14="http://schemas.microsoft.com/office/powerpoint/2010/main" val="36035208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0" lvl="0" indent="0" algn="ctr" rtl="0">
              <a:lnSpc>
                <a:spcPct val="100000"/>
              </a:lnSpc>
              <a:spcBef>
                <a:spcPts val="0"/>
              </a:spcBef>
              <a:spcAft>
                <a:spcPts val="0"/>
              </a:spcAft>
              <a:buClr>
                <a:schemeClr val="dk1"/>
              </a:buClr>
              <a:buSzPts val="3200"/>
              <a:buNone/>
            </a:pPr>
            <a:endParaRPr dirty="0">
              <a:solidFill>
                <a:srgbClr val="FF0000"/>
              </a:solidFill>
              <a:latin typeface="Times New Roman"/>
              <a:ea typeface="Times New Roman"/>
              <a:cs typeface="Times New Roman"/>
              <a:sym typeface="Times New Roman"/>
            </a:endParaRPr>
          </a:p>
          <a:p>
            <a:pPr marL="0" lvl="0" indent="0" algn="ctr" rtl="0">
              <a:lnSpc>
                <a:spcPct val="100000"/>
              </a:lnSpc>
              <a:spcBef>
                <a:spcPts val="640"/>
              </a:spcBef>
              <a:spcAft>
                <a:spcPts val="0"/>
              </a:spcAft>
              <a:buClr>
                <a:schemeClr val="dk1"/>
              </a:buClr>
              <a:buSzPts val="3200"/>
              <a:buNone/>
            </a:pPr>
            <a:endParaRPr dirty="0">
              <a:solidFill>
                <a:srgbClr val="FF0000"/>
              </a:solidFill>
              <a:latin typeface="Times New Roman"/>
              <a:ea typeface="Times New Roman"/>
              <a:cs typeface="Times New Roman"/>
              <a:sym typeface="Times New Roman"/>
            </a:endParaRPr>
          </a:p>
          <a:p>
            <a:pPr marL="0" lvl="0" indent="0" algn="ctr" rtl="0">
              <a:lnSpc>
                <a:spcPct val="100000"/>
              </a:lnSpc>
              <a:spcBef>
                <a:spcPts val="640"/>
              </a:spcBef>
              <a:spcAft>
                <a:spcPts val="0"/>
              </a:spcAft>
              <a:buClr>
                <a:schemeClr val="dk1"/>
              </a:buClr>
              <a:buSzPts val="3200"/>
              <a:buNone/>
            </a:pPr>
            <a:r>
              <a:rPr lang="en-US" dirty="0">
                <a:latin typeface="Times New Roman"/>
                <a:ea typeface="Times New Roman"/>
                <a:cs typeface="Times New Roman"/>
                <a:sym typeface="Times New Roman"/>
              </a:rPr>
              <a:t>Thank You</a:t>
            </a:r>
            <a:endParaRPr dirty="0">
              <a:latin typeface="Times New Roman"/>
              <a:ea typeface="Times New Roman"/>
              <a:cs typeface="Times New Roman"/>
              <a:sym typeface="Times New Roman"/>
            </a:endParaRPr>
          </a:p>
        </p:txBody>
      </p:sp>
      <p:pic>
        <p:nvPicPr>
          <p:cNvPr id="183" name="Google Shape;183;p23"/>
          <p:cNvPicPr preferRelativeResize="0"/>
          <p:nvPr/>
        </p:nvPicPr>
        <p:blipFill rotWithShape="1">
          <a:blip r:embed="rId3">
            <a:alphaModFix/>
          </a:blip>
          <a:srcRect/>
          <a:stretch/>
        </p:blipFill>
        <p:spPr>
          <a:xfrm>
            <a:off x="0" y="0"/>
            <a:ext cx="2237740" cy="755015"/>
          </a:xfrm>
          <a:prstGeom prst="rect">
            <a:avLst/>
          </a:prstGeom>
          <a:noFill/>
          <a:ln>
            <a:noFill/>
          </a:ln>
        </p:spPr>
      </p:pic>
      <p:sp>
        <p:nvSpPr>
          <p:cNvPr id="184" name="Google Shape;184;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lvl="0"/>
            <a:r>
              <a:rPr lang="en-US" b="1" dirty="0"/>
              <a:t>24-01-2026</a:t>
            </a:r>
            <a:endParaRPr lang="en-US" dirty="0"/>
          </a:p>
        </p:txBody>
      </p:sp>
      <p:sp>
        <p:nvSpPr>
          <p:cNvPr id="185" name="Google Shape;185;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Major Project- Review I</a:t>
            </a:r>
            <a:endParaRPr dirty="0"/>
          </a:p>
        </p:txBody>
      </p:sp>
      <p:sp>
        <p:nvSpPr>
          <p:cNvPr id="186" name="Google Shape;186;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15</a:t>
            </a:fld>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197</TotalTime>
  <Words>1735</Words>
  <Application>Microsoft Office PowerPoint</Application>
  <PresentationFormat>On-screen Show (4:3)</PresentationFormat>
  <Paragraphs>148</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Times New Roman</vt:lpstr>
      <vt:lpstr>Office Theme</vt:lpstr>
      <vt:lpstr>DeepShield: AI-Powered Digital Forensics for Multi-Modal Deepfake Detection and Mitigation</vt:lpstr>
      <vt:lpstr>      Abstract</vt:lpstr>
      <vt:lpstr>Introduction &amp; Problem Statement  </vt:lpstr>
      <vt:lpstr>        Existing System</vt:lpstr>
      <vt:lpstr>PowerPoint Presentation</vt:lpstr>
      <vt:lpstr>      Proposed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Kevin</dc:creator>
  <cp:lastModifiedBy>ARPIT SINGHAL</cp:lastModifiedBy>
  <cp:revision>8</cp:revision>
  <dcterms:created xsi:type="dcterms:W3CDTF">2020-05-13T07:00:09Z</dcterms:created>
  <dcterms:modified xsi:type="dcterms:W3CDTF">2026-01-23T17:32:26Z</dcterms:modified>
</cp:coreProperties>
</file>
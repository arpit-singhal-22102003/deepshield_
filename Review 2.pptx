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7" r:id="rId1"/>
  </p:sldMasterIdLst>
  <p:notesMasterIdLst>
    <p:notesMasterId r:id="rId29"/>
  </p:notesMasterIdLst>
  <p:sldIdLst>
    <p:sldId id="256" r:id="rId2"/>
    <p:sldId id="257" r:id="rId3"/>
    <p:sldId id="258" r:id="rId4"/>
    <p:sldId id="259" r:id="rId5"/>
    <p:sldId id="260" r:id="rId6"/>
    <p:sldId id="261" r:id="rId7"/>
    <p:sldId id="262" r:id="rId8"/>
    <p:sldId id="263" r:id="rId9"/>
    <p:sldId id="278" r:id="rId10"/>
    <p:sldId id="264" r:id="rId11"/>
    <p:sldId id="265" r:id="rId12"/>
    <p:sldId id="266" r:id="rId13"/>
    <p:sldId id="267" r:id="rId14"/>
    <p:sldId id="279" r:id="rId15"/>
    <p:sldId id="281" r:id="rId16"/>
    <p:sldId id="282" r:id="rId17"/>
    <p:sldId id="280" r:id="rId18"/>
    <p:sldId id="268" r:id="rId19"/>
    <p:sldId id="269" r:id="rId20"/>
    <p:sldId id="270" r:id="rId21"/>
    <p:sldId id="271" r:id="rId22"/>
    <p:sldId id="272" r:id="rId23"/>
    <p:sldId id="273" r:id="rId24"/>
    <p:sldId id="274" r:id="rId25"/>
    <p:sldId id="275" r:id="rId26"/>
    <p:sldId id="276" r:id="rId27"/>
    <p:sldId id="27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Model Accuracy Comparison</c:v>
                </c:pt>
              </c:strCache>
            </c:strRef>
          </c:tx>
          <c:spPr>
            <a:solidFill>
              <a:srgbClr val="00B0F0"/>
            </a:solidFill>
            <a:ln>
              <a:noFill/>
            </a:ln>
            <a:effectLst/>
          </c:spPr>
          <c:invertIfNegative val="0"/>
          <c:cat>
            <c:strRef>
              <c:f>Sheet1!$A$2:$A$4</c:f>
              <c:strCache>
                <c:ptCount val="3"/>
                <c:pt idx="0">
                  <c:v>MesoNet</c:v>
                </c:pt>
                <c:pt idx="1">
                  <c:v>LCNN</c:v>
                </c:pt>
                <c:pt idx="2">
                  <c:v>DeepShield</c:v>
                </c:pt>
              </c:strCache>
            </c:strRef>
          </c:cat>
          <c:val>
            <c:numRef>
              <c:f>Sheet1!$B$2:$B$4</c:f>
              <c:numCache>
                <c:formatCode>General</c:formatCode>
                <c:ptCount val="3"/>
                <c:pt idx="0">
                  <c:v>92.4</c:v>
                </c:pt>
                <c:pt idx="1">
                  <c:v>90</c:v>
                </c:pt>
                <c:pt idx="2">
                  <c:v>97.2</c:v>
                </c:pt>
              </c:numCache>
            </c:numRef>
          </c:val>
          <c:extLst>
            <c:ext xmlns:c16="http://schemas.microsoft.com/office/drawing/2014/chart" uri="{C3380CC4-5D6E-409C-BE32-E72D297353CC}">
              <c16:uniqueId val="{00000000-88B6-4A47-B3F8-6CF3D68BD014}"/>
            </c:ext>
          </c:extLst>
        </c:ser>
        <c:dLbls>
          <c:showLegendKey val="0"/>
          <c:showVal val="0"/>
          <c:showCatName val="0"/>
          <c:showSerName val="0"/>
          <c:showPercent val="0"/>
          <c:showBubbleSize val="0"/>
        </c:dLbls>
        <c:gapWidth val="219"/>
        <c:overlap val="-27"/>
        <c:axId val="249671264"/>
        <c:axId val="249657824"/>
      </c:barChart>
      <c:catAx>
        <c:axId val="2496712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49657824"/>
        <c:crosses val="autoZero"/>
        <c:auto val="1"/>
        <c:lblAlgn val="ctr"/>
        <c:lblOffset val="100"/>
        <c:noMultiLvlLbl val="0"/>
      </c:catAx>
      <c:valAx>
        <c:axId val="249657824"/>
        <c:scaling>
          <c:orientation val="minMax"/>
          <c:max val="1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dirty="0"/>
                  <a:t>Accuracy(%)</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496712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68A160-391F-4CE7-9E60-939F4BE69CBE}" type="datetimeFigureOut">
              <a:rPr lang="en-IN" smtClean="0"/>
              <a:t>27-03-2026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20B48B-7E58-43F6-9891-14218BF0E68B}" type="slidenum">
              <a:rPr lang="en-IN" smtClean="0"/>
              <a:t>‹#›</a:t>
            </a:fld>
            <a:endParaRPr lang="en-IN"/>
          </a:p>
        </p:txBody>
      </p:sp>
    </p:spTree>
    <p:extLst>
      <p:ext uri="{BB962C8B-B14F-4D97-AF65-F5344CB8AC3E}">
        <p14:creationId xmlns:p14="http://schemas.microsoft.com/office/powerpoint/2010/main" val="212223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0000"/>
                    <a:lumOff val="10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A6FFA947-879E-4DC2-869D-399C1EC1ABCA}" type="datetime1">
              <a:rPr lang="en-US" smtClean="0"/>
              <a:t>3/27/2026</a:t>
            </a:fld>
            <a:endParaRPr lang="en-US"/>
          </a:p>
        </p:txBody>
      </p:sp>
      <p:sp>
        <p:nvSpPr>
          <p:cNvPr id="5" name="Footer Placeholder 4"/>
          <p:cNvSpPr>
            <a:spLocks noGrp="1"/>
          </p:cNvSpPr>
          <p:nvPr>
            <p:ph type="ftr" sz="quarter" idx="11"/>
          </p:nvPr>
        </p:nvSpPr>
        <p:spPr/>
        <p:txBody>
          <a:bodyPr/>
          <a:lstStyle/>
          <a:p>
            <a:r>
              <a:rPr lang="en-US"/>
              <a:t>Major Project Review-II - 14th March 2026</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3351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0A76A6-FCC7-4C03-90A7-366FE2299295}" type="datetime1">
              <a:rPr lang="en-US" smtClean="0"/>
              <a:t>3/27/2026</a:t>
            </a:fld>
            <a:endParaRPr lang="en-US"/>
          </a:p>
        </p:txBody>
      </p:sp>
      <p:sp>
        <p:nvSpPr>
          <p:cNvPr id="5" name="Footer Placeholder 4"/>
          <p:cNvSpPr>
            <a:spLocks noGrp="1"/>
          </p:cNvSpPr>
          <p:nvPr>
            <p:ph type="ftr" sz="quarter" idx="11"/>
          </p:nvPr>
        </p:nvSpPr>
        <p:spPr/>
        <p:txBody>
          <a:bodyPr/>
          <a:lstStyle/>
          <a:p>
            <a:r>
              <a:rPr lang="en-US"/>
              <a:t>Major Project Review-II - 14th March 2026</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32074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745E71-DD0E-4511-B1B4-E632602C70B7}" type="datetime1">
              <a:rPr lang="en-US" smtClean="0"/>
              <a:t>3/27/2026</a:t>
            </a:fld>
            <a:endParaRPr lang="en-US"/>
          </a:p>
        </p:txBody>
      </p:sp>
      <p:sp>
        <p:nvSpPr>
          <p:cNvPr id="5" name="Footer Placeholder 4"/>
          <p:cNvSpPr>
            <a:spLocks noGrp="1"/>
          </p:cNvSpPr>
          <p:nvPr>
            <p:ph type="ftr" sz="quarter" idx="11"/>
          </p:nvPr>
        </p:nvSpPr>
        <p:spPr/>
        <p:txBody>
          <a:bodyPr/>
          <a:lstStyle/>
          <a:p>
            <a:r>
              <a:rPr lang="en-US"/>
              <a:t>Major Project Review-II - 14th March 2026</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4605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05B68B-CB59-4155-9B93-3D1B5118116F}" type="datetime1">
              <a:rPr lang="en-US" smtClean="0"/>
              <a:t>3/27/2026</a:t>
            </a:fld>
            <a:endParaRPr lang="en-US"/>
          </a:p>
        </p:txBody>
      </p:sp>
      <p:sp>
        <p:nvSpPr>
          <p:cNvPr id="6" name="Footer Placeholder 5"/>
          <p:cNvSpPr>
            <a:spLocks noGrp="1"/>
          </p:cNvSpPr>
          <p:nvPr>
            <p:ph type="ftr" sz="quarter" idx="11"/>
          </p:nvPr>
        </p:nvSpPr>
        <p:spPr/>
        <p:txBody>
          <a:bodyPr/>
          <a:lstStyle/>
          <a:p>
            <a:r>
              <a:rPr lang="en-US"/>
              <a:t>Major Project Review-II - 14th March 2026</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8557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89320"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854FF5-E2F6-4BF6-9C72-535C4BBAE163}" type="datetime1">
              <a:rPr lang="en-US" smtClean="0"/>
              <a:t>3/27/2026</a:t>
            </a:fld>
            <a:endParaRPr lang="en-US"/>
          </a:p>
        </p:txBody>
      </p:sp>
      <p:sp>
        <p:nvSpPr>
          <p:cNvPr id="8" name="Footer Placeholder 7"/>
          <p:cNvSpPr>
            <a:spLocks noGrp="1"/>
          </p:cNvSpPr>
          <p:nvPr>
            <p:ph type="ftr" sz="quarter" idx="11"/>
          </p:nvPr>
        </p:nvSpPr>
        <p:spPr/>
        <p:txBody>
          <a:bodyPr/>
          <a:lstStyle/>
          <a:p>
            <a:r>
              <a:rPr lang="en-US"/>
              <a:t>Major Project Review-II - 14th March 2026</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59571176"/>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7FF2FE-B16C-4B24-B03B-93837832CEBD}" type="datetime1">
              <a:rPr lang="en-US" smtClean="0"/>
              <a:t>3/27/2026</a:t>
            </a:fld>
            <a:endParaRPr lang="en-US"/>
          </a:p>
        </p:txBody>
      </p:sp>
      <p:sp>
        <p:nvSpPr>
          <p:cNvPr id="4" name="Footer Placeholder 3"/>
          <p:cNvSpPr>
            <a:spLocks noGrp="1"/>
          </p:cNvSpPr>
          <p:nvPr>
            <p:ph type="ftr" sz="quarter" idx="11"/>
          </p:nvPr>
        </p:nvSpPr>
        <p:spPr/>
        <p:txBody>
          <a:bodyPr/>
          <a:lstStyle/>
          <a:p>
            <a:r>
              <a:rPr lang="en-US"/>
              <a:t>Major Project Review-II - 14th March 2026</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84123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B2F6CF-5203-4E76-9F14-6DADA272531E}" type="datetime1">
              <a:rPr lang="en-US" smtClean="0"/>
              <a:t>3/27/2026</a:t>
            </a:fld>
            <a:endParaRPr lang="en-US"/>
          </a:p>
        </p:txBody>
      </p:sp>
      <p:sp>
        <p:nvSpPr>
          <p:cNvPr id="3" name="Footer Placeholder 2"/>
          <p:cNvSpPr>
            <a:spLocks noGrp="1"/>
          </p:cNvSpPr>
          <p:nvPr>
            <p:ph type="ftr" sz="quarter" idx="11"/>
          </p:nvPr>
        </p:nvSpPr>
        <p:spPr/>
        <p:txBody>
          <a:bodyPr/>
          <a:lstStyle/>
          <a:p>
            <a:r>
              <a:rPr lang="en-US"/>
              <a:t>Major Project Review-II - 14th March 2026</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3501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04F0DB-B06E-4F7F-9DDB-1486F29EFD03}" type="datetime1">
              <a:rPr lang="en-US" smtClean="0"/>
              <a:t>3/27/2026</a:t>
            </a:fld>
            <a:endParaRPr lang="en-US"/>
          </a:p>
        </p:txBody>
      </p:sp>
      <p:sp>
        <p:nvSpPr>
          <p:cNvPr id="6" name="Footer Placeholder 5"/>
          <p:cNvSpPr>
            <a:spLocks noGrp="1"/>
          </p:cNvSpPr>
          <p:nvPr>
            <p:ph type="ftr" sz="quarter" idx="11"/>
          </p:nvPr>
        </p:nvSpPr>
        <p:spPr/>
        <p:txBody>
          <a:bodyPr/>
          <a:lstStyle/>
          <a:p>
            <a:r>
              <a:rPr lang="en-US"/>
              <a:t>Major Project Review-II - 14th March 2026</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1434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749F49-480E-4B5E-BA5E-805CBA7D3F09}" type="datetime1">
              <a:rPr lang="en-US" smtClean="0"/>
              <a:t>3/27/2026</a:t>
            </a:fld>
            <a:endParaRPr lang="en-US"/>
          </a:p>
        </p:txBody>
      </p:sp>
      <p:sp>
        <p:nvSpPr>
          <p:cNvPr id="6" name="Footer Placeholder 5"/>
          <p:cNvSpPr>
            <a:spLocks noGrp="1"/>
          </p:cNvSpPr>
          <p:nvPr>
            <p:ph type="ftr" sz="quarter" idx="11"/>
          </p:nvPr>
        </p:nvSpPr>
        <p:spPr/>
        <p:txBody>
          <a:bodyPr/>
          <a:lstStyle/>
          <a:p>
            <a:r>
              <a:rPr lang="en-US"/>
              <a:t>Major Project Review-II - 14th March 2026</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3929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22998-E1AC-42FE-B791-0A8A87EA734F}" type="datetime1">
              <a:rPr lang="en-US" smtClean="0"/>
              <a:t>3/27/2026</a:t>
            </a:fld>
            <a:endParaRPr lang="en-US"/>
          </a:p>
        </p:txBody>
      </p:sp>
      <p:sp>
        <p:nvSpPr>
          <p:cNvPr id="5" name="Footer Placeholder 4"/>
          <p:cNvSpPr>
            <a:spLocks noGrp="1"/>
          </p:cNvSpPr>
          <p:nvPr>
            <p:ph type="ftr" sz="quarter" idx="11"/>
          </p:nvPr>
        </p:nvSpPr>
        <p:spPr/>
        <p:txBody>
          <a:bodyPr/>
          <a:lstStyle/>
          <a:p>
            <a:r>
              <a:rPr lang="en-US"/>
              <a:t>Major Project Review-II - 14th March 2026</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43201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ACA97B-4525-46A0-AD03-BDF4C7DE8E09}" type="datetime1">
              <a:rPr lang="en-US" smtClean="0"/>
              <a:t>3/27/2026</a:t>
            </a:fld>
            <a:endParaRPr lang="en-US"/>
          </a:p>
        </p:txBody>
      </p:sp>
      <p:sp>
        <p:nvSpPr>
          <p:cNvPr id="5" name="Footer Placeholder 4"/>
          <p:cNvSpPr>
            <a:spLocks noGrp="1"/>
          </p:cNvSpPr>
          <p:nvPr>
            <p:ph type="ftr" sz="quarter" idx="11"/>
          </p:nvPr>
        </p:nvSpPr>
        <p:spPr/>
        <p:txBody>
          <a:bodyPr/>
          <a:lstStyle/>
          <a:p>
            <a:r>
              <a:rPr lang="en-US"/>
              <a:t>Major Project Review-II - 14th March 2026</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8561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B3854FF5-E2F6-4BF6-9C72-535C4BBAE163}" type="datetime1">
              <a:rPr lang="en-US" smtClean="0"/>
              <a:t>3/27/2026</a:t>
            </a:fld>
            <a:endParaRPr lang="en-US"/>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r>
              <a:rPr lang="en-US"/>
              <a:t>Major Project Review-II - 14th March 2026</a:t>
            </a:r>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C1FF6DA9-008F-8B48-92A6-B652298478BF}"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172777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Lst>
  <p:hf hdr="0" dt="0"/>
  <p:txStyles>
    <p:title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216310" y="1768133"/>
            <a:ext cx="11661058" cy="1470025"/>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1"/>
              </a:buClr>
              <a:buSzPts val="4400"/>
            </a:pPr>
            <a:r>
              <a:rPr lang="en-US" sz="5400" dirty="0"/>
              <a:t>DeepShield: AI-Powered Digital Forensics for Multi-Modal Deepfake Detection and Mitigation</a:t>
            </a:r>
            <a:endParaRPr dirty="0">
              <a:latin typeface="Times New Roman"/>
              <a:ea typeface="Times New Roman"/>
              <a:cs typeface="Times New Roman"/>
              <a:sym typeface="Times New Roman"/>
            </a:endParaRPr>
          </a:p>
        </p:txBody>
      </p:sp>
      <p:sp>
        <p:nvSpPr>
          <p:cNvPr id="89" name="Google Shape;89;p1"/>
          <p:cNvSpPr txBox="1">
            <a:spLocks noGrp="1"/>
          </p:cNvSpPr>
          <p:nvPr>
            <p:ph type="subTitle" idx="1"/>
          </p:nvPr>
        </p:nvSpPr>
        <p:spPr>
          <a:xfrm>
            <a:off x="8341378" y="4684295"/>
            <a:ext cx="3978442" cy="1689384"/>
          </a:xfrm>
          <a:prstGeom prst="rect">
            <a:avLst/>
          </a:prstGeom>
          <a:noFill/>
          <a:ln>
            <a:noFill/>
          </a:ln>
        </p:spPr>
        <p:txBody>
          <a:bodyPr spcFirstLastPara="1" vert="horz" wrap="square" lIns="91425" tIns="45700" rIns="91425" bIns="45700" rtlCol="0" anchor="t" anchorCtr="0">
            <a:normAutofit lnSpcReduction="10000"/>
          </a:bodyPr>
          <a:lstStyle/>
          <a:p>
            <a:pPr algn="ctr">
              <a:spcAft>
                <a:spcPts val="0"/>
              </a:spcAft>
              <a:buClr>
                <a:schemeClr val="dk1"/>
              </a:buClr>
            </a:pPr>
            <a:r>
              <a:rPr lang="en-US" dirty="0">
                <a:latin typeface="Times New Roman"/>
                <a:ea typeface="Times New Roman"/>
                <a:cs typeface="Times New Roman"/>
                <a:sym typeface="Times New Roman"/>
              </a:rPr>
              <a:t>Batch ID: BT26COREC003</a:t>
            </a:r>
          </a:p>
          <a:p>
            <a:pPr algn="ctr">
              <a:spcAft>
                <a:spcPts val="0"/>
              </a:spcAft>
              <a:buClr>
                <a:schemeClr val="dk1"/>
              </a:buClr>
            </a:pPr>
            <a:r>
              <a:rPr lang="en-US" dirty="0">
                <a:latin typeface="Times New Roman"/>
                <a:ea typeface="Times New Roman"/>
                <a:cs typeface="Times New Roman"/>
                <a:sym typeface="Times New Roman"/>
              </a:rPr>
              <a:t>(CSE – C Core)</a:t>
            </a:r>
          </a:p>
          <a:p>
            <a:pPr lvl="0" algn="ctr">
              <a:spcAft>
                <a:spcPts val="0"/>
              </a:spcAft>
              <a:buClr>
                <a:srgbClr val="888888"/>
              </a:buClr>
            </a:pPr>
            <a:r>
              <a:rPr lang="en-US" dirty="0">
                <a:solidFill>
                  <a:schemeClr val="tx1">
                    <a:lumMod val="95000"/>
                    <a:lumOff val="5000"/>
                  </a:schemeClr>
                </a:solidFill>
                <a:latin typeface="Times New Roman"/>
                <a:ea typeface="Times New Roman"/>
                <a:cs typeface="Times New Roman"/>
                <a:sym typeface="Times New Roman"/>
              </a:rPr>
              <a:t>Sparsh Garg - RA2211003030192</a:t>
            </a:r>
          </a:p>
          <a:p>
            <a:pPr lvl="0" algn="ctr">
              <a:spcAft>
                <a:spcPts val="0"/>
              </a:spcAft>
              <a:buClr>
                <a:srgbClr val="888888"/>
              </a:buClr>
            </a:pPr>
            <a:r>
              <a:rPr lang="en-US" dirty="0">
                <a:solidFill>
                  <a:schemeClr val="tx1">
                    <a:lumMod val="95000"/>
                    <a:lumOff val="5000"/>
                  </a:schemeClr>
                </a:solidFill>
                <a:latin typeface="Times New Roman"/>
                <a:ea typeface="Times New Roman"/>
                <a:cs typeface="Times New Roman"/>
                <a:sym typeface="Times New Roman"/>
              </a:rPr>
              <a:t> Arpit Singhal- RA2211003030197 </a:t>
            </a:r>
          </a:p>
          <a:p>
            <a:pPr lvl="0" algn="ctr">
              <a:spcAft>
                <a:spcPts val="0"/>
              </a:spcAft>
              <a:buClr>
                <a:srgbClr val="888888"/>
              </a:buClr>
            </a:pPr>
            <a:r>
              <a:rPr lang="en-US" dirty="0">
                <a:solidFill>
                  <a:schemeClr val="tx1">
                    <a:lumMod val="95000"/>
                    <a:lumOff val="5000"/>
                  </a:schemeClr>
                </a:solidFill>
                <a:latin typeface="Times New Roman"/>
                <a:ea typeface="Times New Roman"/>
                <a:cs typeface="Times New Roman"/>
                <a:sym typeface="Times New Roman"/>
              </a:rPr>
              <a:t>Nishant Kumar - RA2211003030151 </a:t>
            </a:r>
          </a:p>
          <a:p>
            <a:pPr lvl="0" algn="ctr">
              <a:spcAft>
                <a:spcPts val="0"/>
              </a:spcAft>
              <a:buClr>
                <a:srgbClr val="888888"/>
              </a:buClr>
            </a:pPr>
            <a:r>
              <a:rPr lang="en-US" dirty="0">
                <a:solidFill>
                  <a:schemeClr val="tx1">
                    <a:lumMod val="95000"/>
                    <a:lumOff val="5000"/>
                  </a:schemeClr>
                </a:solidFill>
                <a:latin typeface="Times New Roman"/>
                <a:ea typeface="Times New Roman"/>
                <a:cs typeface="Times New Roman"/>
                <a:sym typeface="Times New Roman"/>
              </a:rPr>
              <a:t>Devansh Shishodia-RA2211003030181</a:t>
            </a:r>
          </a:p>
          <a:p>
            <a:pPr algn="ctr">
              <a:spcAft>
                <a:spcPts val="0"/>
              </a:spcAft>
              <a:buClr>
                <a:schemeClr val="dk1"/>
              </a:buClr>
            </a:pPr>
            <a:endParaRPr dirty="0"/>
          </a:p>
        </p:txBody>
      </p:sp>
      <p:pic>
        <p:nvPicPr>
          <p:cNvPr id="90" name="Google Shape;90;p1"/>
          <p:cNvPicPr preferRelativeResize="0"/>
          <p:nvPr/>
        </p:nvPicPr>
        <p:blipFill rotWithShape="1">
          <a:blip r:embed="rId3">
            <a:alphaModFix/>
          </a:blip>
          <a:srcRect/>
          <a:stretch/>
        </p:blipFill>
        <p:spPr>
          <a:xfrm>
            <a:off x="0" y="13095"/>
            <a:ext cx="2210765" cy="755015"/>
          </a:xfrm>
          <a:prstGeom prst="rect">
            <a:avLst/>
          </a:prstGeom>
          <a:noFill/>
          <a:ln>
            <a:noFill/>
          </a:ln>
        </p:spPr>
      </p:pic>
      <p:sp>
        <p:nvSpPr>
          <p:cNvPr id="91" name="Google Shape;91;p1"/>
          <p:cNvSpPr/>
          <p:nvPr/>
        </p:nvSpPr>
        <p:spPr>
          <a:xfrm>
            <a:off x="2934665" y="0"/>
            <a:ext cx="6172200" cy="1754286"/>
          </a:xfrm>
          <a:prstGeom prst="rect">
            <a:avLst/>
          </a:prstGeom>
          <a:noFill/>
          <a:ln>
            <a:noFill/>
          </a:ln>
        </p:spPr>
        <p:txBody>
          <a:bodyPr spcFirstLastPara="1" wrap="square" lIns="91425" tIns="45700" rIns="91425" bIns="45700" anchor="t" anchorCtr="0">
            <a:spAutoFit/>
          </a:bodyPr>
          <a:lstStyle/>
          <a:p>
            <a:pPr algn="ctr">
              <a:buClr>
                <a:srgbClr val="000000"/>
              </a:buClr>
              <a:buSzPts val="1800"/>
            </a:pPr>
            <a:r>
              <a:rPr lang="en-US" b="1" dirty="0">
                <a:solidFill>
                  <a:schemeClr val="dk1"/>
                </a:solidFill>
                <a:latin typeface="Times New Roman"/>
                <a:ea typeface="Times New Roman"/>
                <a:cs typeface="Times New Roman"/>
                <a:sym typeface="Times New Roman"/>
              </a:rPr>
              <a:t>SRM INSTITUTE OF SCIENCE AND TECHNOLOGY </a:t>
            </a:r>
            <a:endParaRPr dirty="0">
              <a:solidFill>
                <a:schemeClr val="dk1"/>
              </a:solidFill>
              <a:latin typeface="Times New Roman"/>
              <a:ea typeface="Times New Roman"/>
              <a:cs typeface="Times New Roman"/>
              <a:sym typeface="Times New Roman"/>
            </a:endParaRPr>
          </a:p>
          <a:p>
            <a:pPr algn="ctr">
              <a:buClr>
                <a:srgbClr val="000000"/>
              </a:buClr>
              <a:buSzPts val="1800"/>
            </a:pPr>
            <a:r>
              <a:rPr lang="en-US" b="1" dirty="0">
                <a:solidFill>
                  <a:schemeClr val="dk1"/>
                </a:solidFill>
                <a:latin typeface="Times New Roman"/>
                <a:ea typeface="Times New Roman"/>
                <a:cs typeface="Times New Roman"/>
                <a:sym typeface="Times New Roman"/>
              </a:rPr>
              <a:t>DEPARTMENT OF COMPUTER SCIENCE AND ENGINEERING</a:t>
            </a:r>
            <a:endParaRPr b="1" dirty="0">
              <a:solidFill>
                <a:schemeClr val="dk1"/>
              </a:solidFill>
              <a:latin typeface="Times New Roman"/>
              <a:ea typeface="Times New Roman"/>
              <a:cs typeface="Times New Roman"/>
              <a:sym typeface="Times New Roman"/>
            </a:endParaRPr>
          </a:p>
          <a:p>
            <a:pPr algn="ctr">
              <a:buClr>
                <a:srgbClr val="000000"/>
              </a:buClr>
              <a:buSzPts val="1800"/>
            </a:pPr>
            <a:endParaRPr b="1" dirty="0">
              <a:solidFill>
                <a:schemeClr val="dk1"/>
              </a:solidFill>
              <a:latin typeface="Times New Roman"/>
              <a:ea typeface="Times New Roman"/>
              <a:cs typeface="Times New Roman"/>
              <a:sym typeface="Times New Roman"/>
            </a:endParaRPr>
          </a:p>
          <a:p>
            <a:pPr lvl="0" algn="ctr">
              <a:buSzPts val="1800"/>
            </a:pPr>
            <a:r>
              <a:rPr lang="en-US" b="1" dirty="0">
                <a:solidFill>
                  <a:schemeClr val="dk1"/>
                </a:solidFill>
                <a:latin typeface="Times New Roman"/>
                <a:ea typeface="Times New Roman"/>
                <a:cs typeface="Times New Roman"/>
                <a:sym typeface="Times New Roman"/>
              </a:rPr>
              <a:t>21CSP401L MAJOR PROJECT / 21CSP402L - MAJOR PROJECT with 21CSP403L INTERNSHIP#</a:t>
            </a:r>
            <a:endParaRPr dirty="0">
              <a:solidFill>
                <a:schemeClr val="dk1"/>
              </a:solidFill>
              <a:latin typeface="Times New Roman"/>
              <a:ea typeface="Times New Roman"/>
              <a:cs typeface="Times New Roman"/>
              <a:sym typeface="Times New Roman"/>
            </a:endParaRPr>
          </a:p>
        </p:txBody>
      </p:sp>
      <p:sp>
        <p:nvSpPr>
          <p:cNvPr id="92" name="Google Shape;92;p1"/>
          <p:cNvSpPr txBox="1"/>
          <p:nvPr/>
        </p:nvSpPr>
        <p:spPr>
          <a:xfrm>
            <a:off x="474815" y="4814944"/>
            <a:ext cx="3471900" cy="1470025"/>
          </a:xfrm>
          <a:prstGeom prst="rect">
            <a:avLst/>
          </a:prstGeom>
          <a:noFill/>
          <a:ln>
            <a:noFill/>
          </a:ln>
        </p:spPr>
        <p:txBody>
          <a:bodyPr spcFirstLastPara="1" wrap="square" lIns="91425" tIns="45700" rIns="91425" bIns="45700" anchor="t" anchorCtr="0">
            <a:normAutofit fontScale="40000" lnSpcReduction="20000"/>
          </a:bodyPr>
          <a:lstStyle/>
          <a:p>
            <a:pPr algn="ctr">
              <a:lnSpc>
                <a:spcPct val="170000"/>
              </a:lnSpc>
              <a:spcBef>
                <a:spcPts val="592"/>
              </a:spcBef>
              <a:buClr>
                <a:srgbClr val="888888"/>
              </a:buClr>
              <a:buSzPct val="100000"/>
            </a:pPr>
            <a:r>
              <a:rPr lang="en-US" sz="3200" dirty="0">
                <a:solidFill>
                  <a:srgbClr val="888888"/>
                </a:solidFill>
                <a:latin typeface="Times New Roman"/>
                <a:ea typeface="Times New Roman"/>
                <a:cs typeface="Times New Roman"/>
                <a:sym typeface="Times New Roman"/>
              </a:rPr>
              <a:t>Guide name: Dr. Jitendra Singh </a:t>
            </a:r>
            <a:endParaRPr dirty="0"/>
          </a:p>
          <a:p>
            <a:pPr algn="ctr">
              <a:lnSpc>
                <a:spcPct val="170000"/>
              </a:lnSpc>
              <a:spcBef>
                <a:spcPts val="592"/>
              </a:spcBef>
              <a:buClr>
                <a:srgbClr val="888888"/>
              </a:buClr>
              <a:buSzPct val="100000"/>
            </a:pPr>
            <a:r>
              <a:rPr lang="en-US" sz="3200" dirty="0">
                <a:solidFill>
                  <a:srgbClr val="888888"/>
                </a:solidFill>
                <a:latin typeface="Times New Roman"/>
                <a:ea typeface="Times New Roman"/>
                <a:cs typeface="Times New Roman"/>
                <a:sym typeface="Times New Roman"/>
              </a:rPr>
              <a:t>Designation: Associate Professor</a:t>
            </a:r>
            <a:br>
              <a:rPr lang="en-US" sz="3200" dirty="0">
                <a:solidFill>
                  <a:srgbClr val="888888"/>
                </a:solidFill>
                <a:latin typeface="Times New Roman"/>
                <a:ea typeface="Times New Roman"/>
                <a:cs typeface="Times New Roman"/>
                <a:sym typeface="Times New Roman"/>
              </a:rPr>
            </a:br>
            <a:r>
              <a:rPr lang="en-US" sz="3200" dirty="0">
                <a:solidFill>
                  <a:srgbClr val="888888"/>
                </a:solidFill>
                <a:latin typeface="Times New Roman"/>
                <a:ea typeface="Times New Roman"/>
                <a:cs typeface="Times New Roman"/>
                <a:sym typeface="Times New Roman"/>
              </a:rPr>
              <a:t>Department: Computer Science and Engineering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Project Overview</a:t>
            </a:r>
          </a:p>
        </p:txBody>
      </p:sp>
      <p:sp>
        <p:nvSpPr>
          <p:cNvPr id="3" name="Content Placeholder 2"/>
          <p:cNvSpPr>
            <a:spLocks noGrp="1"/>
          </p:cNvSpPr>
          <p:nvPr>
            <p:ph idx="1"/>
          </p:nvPr>
        </p:nvSpPr>
        <p:spPr/>
        <p:txBody>
          <a:bodyPr>
            <a:normAutofit lnSpcReduction="10000"/>
          </a:bodyPr>
          <a:lstStyle/>
          <a:p>
            <a:pPr algn="just"/>
            <a:r>
              <a:rPr lang="en-US" dirty="0"/>
              <a:t>Deepfake content in the form of images, videos, and audio is growing at an alarming pace, and its misuse in misinformation, fraud, and identity theft has become a serious concern. Existing detection systems often fail when applied to real-world scenarios, which makes the need for reliable and interpretable solutions more urgent than ever.</a:t>
            </a:r>
          </a:p>
          <a:p>
            <a:pPr algn="just"/>
            <a:r>
              <a:rPr lang="en-US" dirty="0"/>
              <a:t>Such detection frameworks have wide application in cybersecurity, where they can protect individuals and organizations from impersonation attacks. They are equally important in digital forensics, helping investigators authenticate evidence and trace manipulations. In addition, social media verification relies on these systems to prevent the spread of false information and maintain trust in online platforms.</a:t>
            </a:r>
          </a:p>
          <a:p>
            <a:pPr algn="just"/>
            <a:r>
              <a:rPr lang="en-US" dirty="0"/>
              <a:t>Together, these domains highlight why developing advanced deepfake detection methods is essential. A system that combines accuracy, reliability, and explainability can serve as a powerful safeguard against the growing risks posed by synthetic media.</a:t>
            </a:r>
          </a:p>
        </p:txBody>
      </p:sp>
      <p:sp>
        <p:nvSpPr>
          <p:cNvPr id="5" name="Footer Placeholder 4">
            <a:extLst>
              <a:ext uri="{FF2B5EF4-FFF2-40B4-BE49-F238E27FC236}">
                <a16:creationId xmlns:a16="http://schemas.microsoft.com/office/drawing/2014/main" id="{B22B5C2F-98B5-E6BE-362F-047B0398252A}"/>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387FA715-A6BE-AF5F-0403-E0AC7A6FB5FF}"/>
              </a:ext>
            </a:extLst>
          </p:cNvPr>
          <p:cNvSpPr>
            <a:spLocks noGrp="1"/>
          </p:cNvSpPr>
          <p:nvPr>
            <p:ph type="sldNum" sz="quarter" idx="12"/>
          </p:nvPr>
        </p:nvSpPr>
        <p:spPr/>
        <p:txBody>
          <a:bodyPr>
            <a:normAutofit/>
          </a:bodyPr>
          <a:lstStyle/>
          <a:p>
            <a:fld id="{C1FF6DA9-008F-8B48-92A6-B652298478BF}" type="slidenum">
              <a:rPr lang="en-US" smtClean="0"/>
              <a:t>2</a:t>
            </a:fld>
            <a:endParaRPr lang="en-US"/>
          </a:p>
        </p:txBody>
      </p:sp>
      <p:pic>
        <p:nvPicPr>
          <p:cNvPr id="4" name="Google Shape;90;p1">
            <a:extLst>
              <a:ext uri="{FF2B5EF4-FFF2-40B4-BE49-F238E27FC236}">
                <a16:creationId xmlns:a16="http://schemas.microsoft.com/office/drawing/2014/main" id="{C3D1074B-E001-B0A7-EC68-5C855B66E106}"/>
              </a:ext>
            </a:extLst>
          </p:cNvPr>
          <p:cNvPicPr preferRelativeResize="0"/>
          <p:nvPr/>
        </p:nvPicPr>
        <p:blipFill rotWithShape="1">
          <a:blip r:embed="rId2">
            <a:alphaModFix/>
          </a:blip>
          <a:srcRect/>
          <a:stretch/>
        </p:blipFill>
        <p:spPr>
          <a:xfrm>
            <a:off x="0" y="44451"/>
            <a:ext cx="2210765" cy="75501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318" y="585216"/>
            <a:ext cx="9720072" cy="1499616"/>
          </a:xfrm>
        </p:spPr>
        <p:txBody>
          <a:bodyPr/>
          <a:lstStyle/>
          <a:p>
            <a:r>
              <a:rPr lang="en-IN" dirty="0">
                <a:solidFill>
                  <a:srgbClr val="C00000"/>
                </a:solidFill>
              </a:rPr>
              <a:t>Problem </a:t>
            </a:r>
            <a:r>
              <a:rPr dirty="0">
                <a:solidFill>
                  <a:srgbClr val="C00000"/>
                </a:solidFill>
              </a:rPr>
              <a:t>Statement</a:t>
            </a:r>
          </a:p>
        </p:txBody>
      </p:sp>
      <p:sp>
        <p:nvSpPr>
          <p:cNvPr id="3" name="Content Placeholder 2"/>
          <p:cNvSpPr>
            <a:spLocks noGrp="1"/>
          </p:cNvSpPr>
          <p:nvPr>
            <p:ph idx="1"/>
          </p:nvPr>
        </p:nvSpPr>
        <p:spPr/>
        <p:txBody>
          <a:bodyPr>
            <a:normAutofit lnSpcReduction="10000"/>
          </a:bodyPr>
          <a:lstStyle/>
          <a:p>
            <a:pPr marL="0" indent="0" algn="just">
              <a:buNone/>
            </a:pPr>
            <a:r>
              <a:rPr lang="en-US" dirty="0"/>
              <a:t>In today’s rapidly evolving AI landscape, deepfakes have emerged as one of the most pressing challenges. With the rise of generative AI and large language models, synthetic content creation has become effortless, producing outputs that are highly realistic and widely disseminated.</a:t>
            </a:r>
          </a:p>
          <a:p>
            <a:pPr marL="0" indent="0" algn="just">
              <a:buNone/>
            </a:pPr>
            <a:r>
              <a:rPr lang="en-US" dirty="0"/>
              <a:t>Existing detection systems often rely on a single modality either visual or audio cues which makes them fragile when confronted with novel or unseen manipulation techniques. Moreover, these systems typically function as black-box models, offering little to no interpretability, which undermines trust and practical usability.</a:t>
            </a:r>
          </a:p>
          <a:p>
            <a:pPr marL="0" indent="0" algn="just">
              <a:buNone/>
            </a:pPr>
            <a:r>
              <a:rPr lang="en-US" dirty="0"/>
              <a:t>To address these limitations, we propose the development of a robust, multi-modal architecture that integrates diverse signals and emphasizes explainability. This approach aims to serve as a comprehensive solution capable of adapting to evolving threats while ensuring transparency in decision-making.</a:t>
            </a:r>
          </a:p>
        </p:txBody>
      </p:sp>
      <p:sp>
        <p:nvSpPr>
          <p:cNvPr id="6" name="Footer Placeholder 5">
            <a:extLst>
              <a:ext uri="{FF2B5EF4-FFF2-40B4-BE49-F238E27FC236}">
                <a16:creationId xmlns:a16="http://schemas.microsoft.com/office/drawing/2014/main" id="{4208F6E6-52CB-7AF7-C75D-6ACA83EFCF31}"/>
              </a:ext>
            </a:extLst>
          </p:cNvPr>
          <p:cNvSpPr>
            <a:spLocks noGrp="1"/>
          </p:cNvSpPr>
          <p:nvPr>
            <p:ph type="ftr" sz="quarter" idx="11"/>
          </p:nvPr>
        </p:nvSpPr>
        <p:spPr/>
        <p:txBody>
          <a:bodyPr/>
          <a:lstStyle/>
          <a:p>
            <a:r>
              <a:rPr lang="en-US"/>
              <a:t>Major Project Review-II - 14th March 2026</a:t>
            </a:r>
          </a:p>
        </p:txBody>
      </p:sp>
      <p:sp>
        <p:nvSpPr>
          <p:cNvPr id="7" name="Slide Number Placeholder 6">
            <a:extLst>
              <a:ext uri="{FF2B5EF4-FFF2-40B4-BE49-F238E27FC236}">
                <a16:creationId xmlns:a16="http://schemas.microsoft.com/office/drawing/2014/main" id="{F98949DA-7B34-BB7F-DC8E-E9FA3D003FF9}"/>
              </a:ext>
            </a:extLst>
          </p:cNvPr>
          <p:cNvSpPr>
            <a:spLocks noGrp="1"/>
          </p:cNvSpPr>
          <p:nvPr>
            <p:ph type="sldNum" sz="quarter" idx="12"/>
          </p:nvPr>
        </p:nvSpPr>
        <p:spPr/>
        <p:txBody>
          <a:bodyPr>
            <a:normAutofit/>
          </a:bodyPr>
          <a:lstStyle/>
          <a:p>
            <a:fld id="{C1FF6DA9-008F-8B48-92A6-B652298478BF}" type="slidenum">
              <a:rPr lang="en-US" smtClean="0"/>
              <a:t>3</a:t>
            </a:fld>
            <a:endParaRPr lang="en-US"/>
          </a:p>
        </p:txBody>
      </p:sp>
      <p:pic>
        <p:nvPicPr>
          <p:cNvPr id="4" name="Google Shape;90;p1">
            <a:extLst>
              <a:ext uri="{FF2B5EF4-FFF2-40B4-BE49-F238E27FC236}">
                <a16:creationId xmlns:a16="http://schemas.microsoft.com/office/drawing/2014/main" id="{4E3DC071-AED6-6500-96F9-BD59DA757F08}"/>
              </a:ext>
            </a:extLst>
          </p:cNvPr>
          <p:cNvPicPr preferRelativeResize="0"/>
          <p:nvPr/>
        </p:nvPicPr>
        <p:blipFill rotWithShape="1">
          <a:blip r:embed="rId2">
            <a:alphaModFix/>
          </a:blip>
          <a:srcRect/>
          <a:stretch/>
        </p:blipFill>
        <p:spPr>
          <a:xfrm>
            <a:off x="0" y="44451"/>
            <a:ext cx="2210765" cy="75501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Project Objectives</a:t>
            </a:r>
          </a:p>
        </p:txBody>
      </p:sp>
      <p:sp>
        <p:nvSpPr>
          <p:cNvPr id="3" name="Content Placeholder 2"/>
          <p:cNvSpPr>
            <a:spLocks noGrp="1"/>
          </p:cNvSpPr>
          <p:nvPr>
            <p:ph idx="1"/>
          </p:nvPr>
        </p:nvSpPr>
        <p:spPr/>
        <p:txBody>
          <a:bodyPr>
            <a:normAutofit lnSpcReduction="10000"/>
          </a:bodyPr>
          <a:lstStyle/>
          <a:p>
            <a:pPr marL="0" indent="0" algn="just">
              <a:buNone/>
            </a:pPr>
            <a:r>
              <a:rPr lang="en-US" dirty="0"/>
              <a:t>To counter the growing sophistication of deepfakes, our solution focuses on building a multi-modal detection system that leverages both visual and audio signals. By combining these modalities, the system can capture subtle inconsistencies that single-modality approaches often miss.</a:t>
            </a:r>
          </a:p>
          <a:p>
            <a:pPr marL="0" indent="0" algn="just">
              <a:buNone/>
            </a:pPr>
            <a:r>
              <a:rPr lang="en-US" dirty="0"/>
              <a:t>The architecture is designed to be robust under real-world conditions, ensuring resilience against evolving manipulation techniques. Importantly, the model emphasizes explainability providing interpretable outputs such as heatmaps and confidence scores that help users understand why a particular content is flagged.</a:t>
            </a:r>
          </a:p>
          <a:p>
            <a:pPr marL="0" indent="0" algn="just">
              <a:buNone/>
            </a:pPr>
            <a:r>
              <a:rPr lang="en-US" dirty="0"/>
              <a:t>Finally, the system is engineered to be lightweight and deployable, making it suitable for integration into diverse platforms, from enterprise-level applications to consumer-facing tools. This ensures that detection is not only accurate but also accessible and scalable.</a:t>
            </a:r>
          </a:p>
        </p:txBody>
      </p:sp>
      <p:sp>
        <p:nvSpPr>
          <p:cNvPr id="5" name="Footer Placeholder 4">
            <a:extLst>
              <a:ext uri="{FF2B5EF4-FFF2-40B4-BE49-F238E27FC236}">
                <a16:creationId xmlns:a16="http://schemas.microsoft.com/office/drawing/2014/main" id="{79DA7F4D-270C-0B9F-713B-A248C58092DF}"/>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C19B70CB-CBB5-CD44-C62F-8AE7BE38666A}"/>
              </a:ext>
            </a:extLst>
          </p:cNvPr>
          <p:cNvSpPr>
            <a:spLocks noGrp="1"/>
          </p:cNvSpPr>
          <p:nvPr>
            <p:ph type="sldNum" sz="quarter" idx="12"/>
          </p:nvPr>
        </p:nvSpPr>
        <p:spPr/>
        <p:txBody>
          <a:bodyPr>
            <a:normAutofit/>
          </a:bodyPr>
          <a:lstStyle/>
          <a:p>
            <a:fld id="{C1FF6DA9-008F-8B48-92A6-B652298478BF}" type="slidenum">
              <a:rPr lang="en-US" smtClean="0"/>
              <a:t>4</a:t>
            </a:fld>
            <a:endParaRPr lang="en-US"/>
          </a:p>
        </p:txBody>
      </p:sp>
      <p:pic>
        <p:nvPicPr>
          <p:cNvPr id="4" name="Google Shape;90;p1">
            <a:extLst>
              <a:ext uri="{FF2B5EF4-FFF2-40B4-BE49-F238E27FC236}">
                <a16:creationId xmlns:a16="http://schemas.microsoft.com/office/drawing/2014/main" id="{AE271DF4-D25A-9382-5FF6-C1B2479BCF52}"/>
              </a:ext>
            </a:extLst>
          </p:cNvPr>
          <p:cNvPicPr preferRelativeResize="0"/>
          <p:nvPr/>
        </p:nvPicPr>
        <p:blipFill rotWithShape="1">
          <a:blip r:embed="rId2">
            <a:alphaModFix/>
          </a:blip>
          <a:srcRect/>
          <a:stretch/>
        </p:blipFill>
        <p:spPr>
          <a:xfrm>
            <a:off x="0" y="1"/>
            <a:ext cx="2210765" cy="75501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Literature Review</a:t>
            </a:r>
          </a:p>
        </p:txBody>
      </p:sp>
      <p:sp>
        <p:nvSpPr>
          <p:cNvPr id="5" name="Footer Placeholder 4">
            <a:extLst>
              <a:ext uri="{FF2B5EF4-FFF2-40B4-BE49-F238E27FC236}">
                <a16:creationId xmlns:a16="http://schemas.microsoft.com/office/drawing/2014/main" id="{C37F8D70-01F6-57CC-DB65-DA1B4D645460}"/>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E83A45DE-6762-6585-FB93-960F8F1E5A97}"/>
              </a:ext>
            </a:extLst>
          </p:cNvPr>
          <p:cNvSpPr>
            <a:spLocks noGrp="1"/>
          </p:cNvSpPr>
          <p:nvPr>
            <p:ph type="sldNum" sz="quarter" idx="12"/>
          </p:nvPr>
        </p:nvSpPr>
        <p:spPr/>
        <p:txBody>
          <a:bodyPr>
            <a:normAutofit/>
          </a:bodyPr>
          <a:lstStyle/>
          <a:p>
            <a:fld id="{C1FF6DA9-008F-8B48-92A6-B652298478BF}" type="slidenum">
              <a:rPr lang="en-US" smtClean="0"/>
              <a:t>5</a:t>
            </a:fld>
            <a:endParaRPr lang="en-US"/>
          </a:p>
        </p:txBody>
      </p:sp>
      <p:pic>
        <p:nvPicPr>
          <p:cNvPr id="4" name="Google Shape;90;p1">
            <a:extLst>
              <a:ext uri="{FF2B5EF4-FFF2-40B4-BE49-F238E27FC236}">
                <a16:creationId xmlns:a16="http://schemas.microsoft.com/office/drawing/2014/main" id="{3E9D54C7-13AD-4F54-8433-9ED942F3C0D9}"/>
              </a:ext>
            </a:extLst>
          </p:cNvPr>
          <p:cNvPicPr preferRelativeResize="0"/>
          <p:nvPr/>
        </p:nvPicPr>
        <p:blipFill rotWithShape="1">
          <a:blip r:embed="rId2">
            <a:alphaModFix/>
          </a:blip>
          <a:srcRect/>
          <a:stretch/>
        </p:blipFill>
        <p:spPr>
          <a:xfrm>
            <a:off x="0" y="44451"/>
            <a:ext cx="2210765" cy="755015"/>
          </a:xfrm>
          <a:prstGeom prst="rect">
            <a:avLst/>
          </a:prstGeom>
          <a:noFill/>
          <a:ln>
            <a:noFill/>
          </a:ln>
        </p:spPr>
      </p:pic>
      <p:graphicFrame>
        <p:nvGraphicFramePr>
          <p:cNvPr id="7" name="Table 6">
            <a:extLst>
              <a:ext uri="{FF2B5EF4-FFF2-40B4-BE49-F238E27FC236}">
                <a16:creationId xmlns:a16="http://schemas.microsoft.com/office/drawing/2014/main" id="{02F0084B-0527-B76C-4299-69C0AD202F4A}"/>
              </a:ext>
            </a:extLst>
          </p:cNvPr>
          <p:cNvGraphicFramePr>
            <a:graphicFrameLocks noGrp="1"/>
          </p:cNvGraphicFramePr>
          <p:nvPr>
            <p:extLst>
              <p:ext uri="{D42A27DB-BD31-4B8C-83A1-F6EECF244321}">
                <p14:modId xmlns:p14="http://schemas.microsoft.com/office/powerpoint/2010/main" val="1964508392"/>
              </p:ext>
            </p:extLst>
          </p:nvPr>
        </p:nvGraphicFramePr>
        <p:xfrm>
          <a:off x="727587" y="1846695"/>
          <a:ext cx="10992467" cy="4298471"/>
        </p:xfrm>
        <a:graphic>
          <a:graphicData uri="http://schemas.openxmlformats.org/drawingml/2006/table">
            <a:tbl>
              <a:tblPr/>
              <a:tblGrid>
                <a:gridCol w="2719829">
                  <a:extLst>
                    <a:ext uri="{9D8B030D-6E8A-4147-A177-3AD203B41FA5}">
                      <a16:colId xmlns:a16="http://schemas.microsoft.com/office/drawing/2014/main" val="3930870348"/>
                    </a:ext>
                  </a:extLst>
                </a:gridCol>
                <a:gridCol w="2757546">
                  <a:extLst>
                    <a:ext uri="{9D8B030D-6E8A-4147-A177-3AD203B41FA5}">
                      <a16:colId xmlns:a16="http://schemas.microsoft.com/office/drawing/2014/main" val="1818358490"/>
                    </a:ext>
                  </a:extLst>
                </a:gridCol>
                <a:gridCol w="2757546">
                  <a:extLst>
                    <a:ext uri="{9D8B030D-6E8A-4147-A177-3AD203B41FA5}">
                      <a16:colId xmlns:a16="http://schemas.microsoft.com/office/drawing/2014/main" val="505914578"/>
                    </a:ext>
                  </a:extLst>
                </a:gridCol>
                <a:gridCol w="2757546">
                  <a:extLst>
                    <a:ext uri="{9D8B030D-6E8A-4147-A177-3AD203B41FA5}">
                      <a16:colId xmlns:a16="http://schemas.microsoft.com/office/drawing/2014/main" val="2150224995"/>
                    </a:ext>
                  </a:extLst>
                </a:gridCol>
              </a:tblGrid>
              <a:tr h="242167">
                <a:tc>
                  <a:txBody>
                    <a:bodyPr/>
                    <a:lstStyle/>
                    <a:p>
                      <a:pPr>
                        <a:buNone/>
                      </a:pPr>
                      <a:r>
                        <a:rPr lang="en-IN" sz="1100" b="1" dirty="0"/>
                        <a:t>Paper</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dirty="0"/>
                        <a:t>Method</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dirty="0"/>
                        <a:t>Dataset</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dirty="0"/>
                        <a:t>Limitation</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9329410"/>
                  </a:ext>
                </a:extLst>
              </a:tr>
              <a:tr h="423793">
                <a:tc>
                  <a:txBody>
                    <a:bodyPr/>
                    <a:lstStyle/>
                    <a:p>
                      <a:pPr>
                        <a:buNone/>
                      </a:pPr>
                      <a:r>
                        <a:rPr lang="en-IN" sz="1100" dirty="0"/>
                        <a:t>Farid (2009)</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Image Forensics Techniques</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Limited to traditional image manipulation</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930469"/>
                  </a:ext>
                </a:extLst>
              </a:tr>
              <a:tr h="423793">
                <a:tc>
                  <a:txBody>
                    <a:bodyPr/>
                    <a:lstStyle/>
                    <a:p>
                      <a:pPr>
                        <a:buNone/>
                      </a:pPr>
                      <a:r>
                        <a:rPr lang="en-IN" sz="1100"/>
                        <a:t>Goodfellow et al. (2014)</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Generative Adversarial Networks (GANs)</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Focus on generation, not detection</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0526134"/>
                  </a:ext>
                </a:extLst>
              </a:tr>
              <a:tr h="423793">
                <a:tc>
                  <a:txBody>
                    <a:bodyPr/>
                    <a:lstStyle/>
                    <a:p>
                      <a:pPr>
                        <a:buNone/>
                      </a:pPr>
                      <a:r>
                        <a:rPr lang="en-IN" sz="1100"/>
                        <a:t>Baldi (2012)</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Autoencoders</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dirty="0"/>
                        <a:t>Not specialized for deepfake detection</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4204829"/>
                  </a:ext>
                </a:extLst>
              </a:tr>
              <a:tr h="423793">
                <a:tc>
                  <a:txBody>
                    <a:bodyPr/>
                    <a:lstStyle/>
                    <a:p>
                      <a:pPr>
                        <a:buNone/>
                      </a:pPr>
                      <a:r>
                        <a:rPr lang="en-IN" sz="1100"/>
                        <a:t>Karras et al. (2019)</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StyleGAN (Image synthesis)</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FFHQ</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dirty="0"/>
                        <a:t>Produces realistic fakes, detection challenging</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123331"/>
                  </a:ext>
                </a:extLst>
              </a:tr>
              <a:tr h="423793">
                <a:tc>
                  <a:txBody>
                    <a:bodyPr/>
                    <a:lstStyle/>
                    <a:p>
                      <a:pPr>
                        <a:buNone/>
                      </a:pPr>
                      <a:r>
                        <a:rPr lang="en-IN" sz="1100"/>
                        <a:t>Tolosana et al. (2020)</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Face Manipulation Detection</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Celeb-DF</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Unimodal (visual only)</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927006"/>
                  </a:ext>
                </a:extLst>
              </a:tr>
              <a:tr h="423793">
                <a:tc>
                  <a:txBody>
                    <a:bodyPr/>
                    <a:lstStyle/>
                    <a:p>
                      <a:pPr>
                        <a:buNone/>
                      </a:pPr>
                      <a:r>
                        <a:rPr lang="en-IN" sz="1100"/>
                        <a:t>Verdoliva (2020)</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Media Forensics Survey</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Multiple</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Lacks practical implementation</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1469416"/>
                  </a:ext>
                </a:extLst>
              </a:tr>
              <a:tr h="242167">
                <a:tc>
                  <a:txBody>
                    <a:bodyPr/>
                    <a:lstStyle/>
                    <a:p>
                      <a:pPr>
                        <a:buNone/>
                      </a:pPr>
                      <a:r>
                        <a:rPr lang="en-IN" sz="1100"/>
                        <a:t>Mirsky &amp; Lee (2022)</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Deepfake Survey</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Multiple</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No real-time system</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8958893"/>
                  </a:ext>
                </a:extLst>
              </a:tr>
              <a:tr h="423793">
                <a:tc>
                  <a:txBody>
                    <a:bodyPr/>
                    <a:lstStyle/>
                    <a:p>
                      <a:pPr>
                        <a:buNone/>
                      </a:pPr>
                      <a:r>
                        <a:rPr lang="en-IN" sz="1100"/>
                        <a:t>Masood et al. (2021)</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Deepfake Detection Survey</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Multiple</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Limited experimental validation</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5290379"/>
                  </a:ext>
                </a:extLst>
              </a:tr>
              <a:tr h="423793">
                <a:tc>
                  <a:txBody>
                    <a:bodyPr/>
                    <a:lstStyle/>
                    <a:p>
                      <a:pPr>
                        <a:buNone/>
                      </a:pPr>
                      <a:r>
                        <a:rPr lang="en-IN" sz="1100"/>
                        <a:t>Nguyen et al. (2019)</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Deep Learning-based Detection</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DFDC</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Poor generalization to unseen data</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6819990"/>
                  </a:ext>
                </a:extLst>
              </a:tr>
              <a:tr h="423793">
                <a:tc>
                  <a:txBody>
                    <a:bodyPr/>
                    <a:lstStyle/>
                    <a:p>
                      <a:pPr>
                        <a:buNone/>
                      </a:pPr>
                      <a:r>
                        <a:rPr lang="en-IN" sz="1100"/>
                        <a:t>FaceForensics++ (2019)</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Benchmark Dataset + Detection</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FaceForensics++</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dirty="0"/>
                        <a:t>Limited diversity in manipulation types</a:t>
                      </a:r>
                    </a:p>
                  </a:txBody>
                  <a:tcPr marL="56658" marR="56658" marT="28329" marB="28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418566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Existing System</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Most existing deepfake detection systems are designed with a single-modality focus, analyzing either images or audio independently. These systems are optimized to detect specific manipulation patterns but remain narrow in scope, as they are trained only on datasets containing known types of deepfakes. This makes them effective in controlled environments but fragile when exposed to the diversity of real-world content.</a:t>
            </a:r>
          </a:p>
          <a:p>
            <a:pPr marL="0" indent="0" algn="just">
              <a:buNone/>
            </a:pPr>
            <a:r>
              <a:rPr lang="en-US" dirty="0"/>
              <a:t>The dominant technology behind these systems is Convolutional Neural Networks (CNNs), which excel at pattern recognition in visual and audio data. CNN-based models are powerful for feature extraction but operate under closed-set assumptions, meaning they expect test data to resemble training data. While this approach works for familiar manipulations, it limits adaptability to evolving techniques and novel attack strategies.</a:t>
            </a:r>
          </a:p>
          <a:p>
            <a:pPr marL="0" indent="0" algn="just">
              <a:buNone/>
            </a:pPr>
            <a:r>
              <a:rPr lang="en-US" dirty="0"/>
              <a:t>Despite their technical strengths, these systems face critical shortcomings. They exhibit poor generalization when confronted with unseen deepfake methods, lack a fallback mechanism to compensate when one modality fails, and function as black-box models with very low interpretability. As a result, they often produce high false positives and false negatives, undermining trust and making them unreliable for deployment in real-world scenarios where robustness and transparency are essential.</a:t>
            </a:r>
          </a:p>
          <a:p>
            <a:pPr marL="0" indent="0" algn="just">
              <a:buNone/>
            </a:pPr>
            <a:endParaRPr lang="en-US" dirty="0"/>
          </a:p>
        </p:txBody>
      </p:sp>
      <p:sp>
        <p:nvSpPr>
          <p:cNvPr id="5" name="Footer Placeholder 4">
            <a:extLst>
              <a:ext uri="{FF2B5EF4-FFF2-40B4-BE49-F238E27FC236}">
                <a16:creationId xmlns:a16="http://schemas.microsoft.com/office/drawing/2014/main" id="{1368A655-2663-0C3F-F859-663F0A2AA2B4}"/>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F6903C22-2BA9-8BD6-1030-6B64737AD042}"/>
              </a:ext>
            </a:extLst>
          </p:cNvPr>
          <p:cNvSpPr>
            <a:spLocks noGrp="1"/>
          </p:cNvSpPr>
          <p:nvPr>
            <p:ph type="sldNum" sz="quarter" idx="12"/>
          </p:nvPr>
        </p:nvSpPr>
        <p:spPr/>
        <p:txBody>
          <a:bodyPr>
            <a:normAutofit/>
          </a:bodyPr>
          <a:lstStyle/>
          <a:p>
            <a:fld id="{C1FF6DA9-008F-8B48-92A6-B652298478BF}" type="slidenum">
              <a:rPr lang="en-US" smtClean="0"/>
              <a:t>6</a:t>
            </a:fld>
            <a:endParaRPr lang="en-US"/>
          </a:p>
        </p:txBody>
      </p:sp>
      <p:pic>
        <p:nvPicPr>
          <p:cNvPr id="4" name="Google Shape;90;p1">
            <a:extLst>
              <a:ext uri="{FF2B5EF4-FFF2-40B4-BE49-F238E27FC236}">
                <a16:creationId xmlns:a16="http://schemas.microsoft.com/office/drawing/2014/main" id="{7FB2F902-5609-3297-0CB6-54E46AF47BBA}"/>
              </a:ext>
            </a:extLst>
          </p:cNvPr>
          <p:cNvPicPr preferRelativeResize="0"/>
          <p:nvPr/>
        </p:nvPicPr>
        <p:blipFill rotWithShape="1">
          <a:blip r:embed="rId2">
            <a:alphaModFix/>
          </a:blip>
          <a:srcRect/>
          <a:stretch/>
        </p:blipFill>
        <p:spPr>
          <a:xfrm>
            <a:off x="0" y="44451"/>
            <a:ext cx="2210765" cy="75501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Proposed System</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The proposed system moves beyond single‑modality approaches by integrating image, video, and audio analysis into a unified framework. Separate modules are designed to handle visual and audio streams independently, ensuring that each modality captures its unique set of features and inconsistencies. This multi‑modal design strengthens detection capabilities and provides a more comprehensive safeguard against diverse deepfake techniques.</a:t>
            </a:r>
          </a:p>
          <a:p>
            <a:pPr marL="0" indent="0" algn="just">
              <a:buNone/>
            </a:pPr>
            <a:r>
              <a:rPr lang="en-US" dirty="0"/>
              <a:t>At the core of the architecture lies an adaptive fusion mechanism that intelligently combines outputs from the visual and audio modules. Instead of relying on rigid rules, the fusion process dynamically adjusts based on the reliability of each modality, enabling cross‑modality validation. This ensures that when one modality encounters uncertainty, the other can reinforce the decision, thereby improving robustness under real‑world conditions.</a:t>
            </a:r>
          </a:p>
          <a:p>
            <a:pPr marL="0" indent="0" algn="just">
              <a:buNone/>
            </a:pPr>
            <a:r>
              <a:rPr lang="en-US" dirty="0"/>
              <a:t>The system introduces several innovations that set it apart. A confidence‑based decision framework enhances reliability by weighting predictions according to certainty levels. Additionally, the model emphasizes explainability, offering interpretable outputs such as heatmaps and confidence scores that help users understand why content is flagged. Together, these innovations make the system not only more accurate but also transparent and deployable, bridging the gap between technical performance and practical usability.</a:t>
            </a:r>
          </a:p>
          <a:p>
            <a:pPr marL="0" indent="0" algn="just">
              <a:buNone/>
            </a:pPr>
            <a:endParaRPr lang="en-US" dirty="0"/>
          </a:p>
        </p:txBody>
      </p:sp>
      <p:sp>
        <p:nvSpPr>
          <p:cNvPr id="5" name="Footer Placeholder 4">
            <a:extLst>
              <a:ext uri="{FF2B5EF4-FFF2-40B4-BE49-F238E27FC236}">
                <a16:creationId xmlns:a16="http://schemas.microsoft.com/office/drawing/2014/main" id="{B52537A8-7354-B33D-2495-976FB3421A47}"/>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B0C62BD0-E2AD-F9BC-4F69-4783D82C2E76}"/>
              </a:ext>
            </a:extLst>
          </p:cNvPr>
          <p:cNvSpPr>
            <a:spLocks noGrp="1"/>
          </p:cNvSpPr>
          <p:nvPr>
            <p:ph type="sldNum" sz="quarter" idx="12"/>
          </p:nvPr>
        </p:nvSpPr>
        <p:spPr/>
        <p:txBody>
          <a:bodyPr>
            <a:normAutofit/>
          </a:bodyPr>
          <a:lstStyle/>
          <a:p>
            <a:fld id="{C1FF6DA9-008F-8B48-92A6-B652298478BF}" type="slidenum">
              <a:rPr lang="en-US" smtClean="0"/>
              <a:t>7</a:t>
            </a:fld>
            <a:endParaRPr lang="en-US"/>
          </a:p>
        </p:txBody>
      </p:sp>
      <p:pic>
        <p:nvPicPr>
          <p:cNvPr id="4" name="Google Shape;90;p1">
            <a:extLst>
              <a:ext uri="{FF2B5EF4-FFF2-40B4-BE49-F238E27FC236}">
                <a16:creationId xmlns:a16="http://schemas.microsoft.com/office/drawing/2014/main" id="{9DCC8050-CF8E-7B26-1B6A-BBF2B746B7E5}"/>
              </a:ext>
            </a:extLst>
          </p:cNvPr>
          <p:cNvPicPr preferRelativeResize="0"/>
          <p:nvPr/>
        </p:nvPicPr>
        <p:blipFill rotWithShape="1">
          <a:blip r:embed="rId2">
            <a:alphaModFix/>
          </a:blip>
          <a:srcRect/>
          <a:stretch/>
        </p:blipFill>
        <p:spPr>
          <a:xfrm>
            <a:off x="0" y="44451"/>
            <a:ext cx="2210765" cy="75501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System Architecture</a:t>
            </a:r>
          </a:p>
        </p:txBody>
      </p:sp>
      <p:sp>
        <p:nvSpPr>
          <p:cNvPr id="5" name="Footer Placeholder 4">
            <a:extLst>
              <a:ext uri="{FF2B5EF4-FFF2-40B4-BE49-F238E27FC236}">
                <a16:creationId xmlns:a16="http://schemas.microsoft.com/office/drawing/2014/main" id="{6179F9F6-2B13-EA1A-43FC-678606F85321}"/>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5C3BD502-436C-00D9-0A40-08019A0C61A0}"/>
              </a:ext>
            </a:extLst>
          </p:cNvPr>
          <p:cNvSpPr>
            <a:spLocks noGrp="1"/>
          </p:cNvSpPr>
          <p:nvPr>
            <p:ph type="sldNum" sz="quarter" idx="12"/>
          </p:nvPr>
        </p:nvSpPr>
        <p:spPr/>
        <p:txBody>
          <a:bodyPr>
            <a:normAutofit/>
          </a:bodyPr>
          <a:lstStyle/>
          <a:p>
            <a:fld id="{C1FF6DA9-008F-8B48-92A6-B652298478BF}" type="slidenum">
              <a:rPr lang="en-US" smtClean="0"/>
              <a:t>8</a:t>
            </a:fld>
            <a:endParaRPr lang="en-US"/>
          </a:p>
        </p:txBody>
      </p:sp>
      <p:pic>
        <p:nvPicPr>
          <p:cNvPr id="4" name="Google Shape;90;p1">
            <a:extLst>
              <a:ext uri="{FF2B5EF4-FFF2-40B4-BE49-F238E27FC236}">
                <a16:creationId xmlns:a16="http://schemas.microsoft.com/office/drawing/2014/main" id="{BCAC2F04-95CF-22FE-6B82-E1A4B802B481}"/>
              </a:ext>
            </a:extLst>
          </p:cNvPr>
          <p:cNvPicPr preferRelativeResize="0"/>
          <p:nvPr/>
        </p:nvPicPr>
        <p:blipFill rotWithShape="1">
          <a:blip r:embed="rId2">
            <a:alphaModFix/>
          </a:blip>
          <a:srcRect/>
          <a:stretch/>
        </p:blipFill>
        <p:spPr>
          <a:xfrm>
            <a:off x="0" y="91123"/>
            <a:ext cx="2210765" cy="755015"/>
          </a:xfrm>
          <a:prstGeom prst="rect">
            <a:avLst/>
          </a:prstGeom>
          <a:noFill/>
          <a:ln>
            <a:noFill/>
          </a:ln>
        </p:spPr>
      </p:pic>
      <p:pic>
        <p:nvPicPr>
          <p:cNvPr id="7" name="Picture 6" descr="DeepShield Architecture: Multi-Modal Deepfake Detection Pipeline">
            <a:extLst>
              <a:ext uri="{FF2B5EF4-FFF2-40B4-BE49-F238E27FC236}">
                <a16:creationId xmlns:a16="http://schemas.microsoft.com/office/drawing/2014/main" id="{513DAB95-464F-6ADB-B4A1-B741567EB54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5382" y="1921305"/>
            <a:ext cx="10201715" cy="432206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F3CDC-529A-2CFC-DB3E-19CF680A9B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C2FE63-FE5F-B2DF-CA5B-EAE1DCD1963B}"/>
              </a:ext>
            </a:extLst>
          </p:cNvPr>
          <p:cNvSpPr>
            <a:spLocks noGrp="1"/>
          </p:cNvSpPr>
          <p:nvPr>
            <p:ph type="title"/>
          </p:nvPr>
        </p:nvSpPr>
        <p:spPr/>
        <p:txBody>
          <a:bodyPr/>
          <a:lstStyle/>
          <a:p>
            <a:r>
              <a:rPr dirty="0">
                <a:solidFill>
                  <a:srgbClr val="C00000"/>
                </a:solidFill>
              </a:rPr>
              <a:t>System Architecture</a:t>
            </a:r>
          </a:p>
        </p:txBody>
      </p:sp>
      <p:sp>
        <p:nvSpPr>
          <p:cNvPr id="3" name="Content Placeholder 2">
            <a:extLst>
              <a:ext uri="{FF2B5EF4-FFF2-40B4-BE49-F238E27FC236}">
                <a16:creationId xmlns:a16="http://schemas.microsoft.com/office/drawing/2014/main" id="{CC86563F-3082-BDB1-FCC6-9A8F0061382E}"/>
              </a:ext>
            </a:extLst>
          </p:cNvPr>
          <p:cNvSpPr>
            <a:spLocks noGrp="1"/>
          </p:cNvSpPr>
          <p:nvPr>
            <p:ph idx="1"/>
          </p:nvPr>
        </p:nvSpPr>
        <p:spPr/>
        <p:txBody>
          <a:bodyPr>
            <a:normAutofit lnSpcReduction="10000"/>
          </a:bodyPr>
          <a:lstStyle/>
          <a:p>
            <a:pPr algn="just"/>
            <a:r>
              <a:rPr lang="en-IN" dirty="0"/>
              <a:t>• </a:t>
            </a:r>
            <a:r>
              <a:rPr lang="en-IN" b="1" dirty="0"/>
              <a:t>Extension-Aware Router: </a:t>
            </a:r>
            <a:r>
              <a:rPr lang="en-IN" dirty="0"/>
              <a:t>Detects input type (image/video/audio) and routes to appropriate module</a:t>
            </a:r>
          </a:p>
          <a:p>
            <a:pPr algn="just"/>
            <a:r>
              <a:rPr lang="en-IN" dirty="0"/>
              <a:t>• </a:t>
            </a:r>
            <a:r>
              <a:rPr lang="en-IN" b="1" dirty="0"/>
              <a:t>Visual Forensics Module: </a:t>
            </a:r>
            <a:r>
              <a:rPr lang="en-IN" dirty="0"/>
              <a:t>Analyses facial and spatial features using deep learning to detect visual deepfakes</a:t>
            </a:r>
          </a:p>
          <a:p>
            <a:pPr algn="just"/>
            <a:r>
              <a:rPr lang="en-IN" dirty="0"/>
              <a:t>• </a:t>
            </a:r>
            <a:r>
              <a:rPr lang="en-IN" b="1" dirty="0"/>
              <a:t>Audio Forensics Module: </a:t>
            </a:r>
            <a:r>
              <a:rPr lang="en-IN" dirty="0"/>
              <a:t>Processes audio using spectrograms to identify synthetic voice patterns</a:t>
            </a:r>
          </a:p>
          <a:p>
            <a:pPr algn="just"/>
            <a:r>
              <a:rPr lang="en-IN" dirty="0"/>
              <a:t>• </a:t>
            </a:r>
            <a:r>
              <a:rPr lang="en-IN" b="1" dirty="0"/>
              <a:t>Adaptive Fusion Module: </a:t>
            </a:r>
            <a:r>
              <a:rPr lang="en-IN" dirty="0"/>
              <a:t>Combines audio and visual outputs using confidence-based weighting for better accuracy</a:t>
            </a:r>
          </a:p>
          <a:p>
            <a:pPr algn="just"/>
            <a:r>
              <a:rPr lang="en-IN" dirty="0"/>
              <a:t>• </a:t>
            </a:r>
            <a:r>
              <a:rPr lang="en-IN" b="1" dirty="0"/>
              <a:t>Forensic Explainability: </a:t>
            </a:r>
            <a:r>
              <a:rPr lang="en-IN" dirty="0"/>
              <a:t>Provides heatmaps and confidence scores for interpretable results</a:t>
            </a:r>
          </a:p>
          <a:p>
            <a:pPr algn="just"/>
            <a:r>
              <a:rPr lang="en-IN" dirty="0"/>
              <a:t>• </a:t>
            </a:r>
            <a:r>
              <a:rPr lang="en-IN" b="1" dirty="0"/>
              <a:t>Edge Deployment: </a:t>
            </a:r>
            <a:r>
              <a:rPr lang="en-IN" dirty="0"/>
              <a:t>Optimizes model for lightweight and real-time usage</a:t>
            </a:r>
          </a:p>
        </p:txBody>
      </p:sp>
      <p:sp>
        <p:nvSpPr>
          <p:cNvPr id="5" name="Footer Placeholder 4">
            <a:extLst>
              <a:ext uri="{FF2B5EF4-FFF2-40B4-BE49-F238E27FC236}">
                <a16:creationId xmlns:a16="http://schemas.microsoft.com/office/drawing/2014/main" id="{1EC163D4-52AD-263E-4415-0FF18E21BB67}"/>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A67822EA-E00D-9BF4-F43F-C67BA2DDC403}"/>
              </a:ext>
            </a:extLst>
          </p:cNvPr>
          <p:cNvSpPr>
            <a:spLocks noGrp="1"/>
          </p:cNvSpPr>
          <p:nvPr>
            <p:ph type="sldNum" sz="quarter" idx="12"/>
          </p:nvPr>
        </p:nvSpPr>
        <p:spPr/>
        <p:txBody>
          <a:bodyPr>
            <a:normAutofit/>
          </a:bodyPr>
          <a:lstStyle/>
          <a:p>
            <a:fld id="{C1FF6DA9-008F-8B48-92A6-B652298478BF}" type="slidenum">
              <a:rPr lang="en-US" smtClean="0"/>
              <a:t>9</a:t>
            </a:fld>
            <a:endParaRPr lang="en-US"/>
          </a:p>
        </p:txBody>
      </p:sp>
      <p:pic>
        <p:nvPicPr>
          <p:cNvPr id="4" name="Google Shape;90;p1">
            <a:extLst>
              <a:ext uri="{FF2B5EF4-FFF2-40B4-BE49-F238E27FC236}">
                <a16:creationId xmlns:a16="http://schemas.microsoft.com/office/drawing/2014/main" id="{ABA07F75-E6D0-EA31-DA7E-AE502A5F41BA}"/>
              </a:ext>
            </a:extLst>
          </p:cNvPr>
          <p:cNvPicPr preferRelativeResize="0"/>
          <p:nvPr/>
        </p:nvPicPr>
        <p:blipFill rotWithShape="1">
          <a:blip r:embed="rId2">
            <a:alphaModFix/>
          </a:blip>
          <a:srcRect/>
          <a:stretch/>
        </p:blipFill>
        <p:spPr>
          <a:xfrm>
            <a:off x="0" y="91123"/>
            <a:ext cx="2210765" cy="755015"/>
          </a:xfrm>
          <a:prstGeom prst="rect">
            <a:avLst/>
          </a:prstGeom>
          <a:noFill/>
          <a:ln>
            <a:noFill/>
          </a:ln>
        </p:spPr>
      </p:pic>
    </p:spTree>
    <p:extLst>
      <p:ext uri="{BB962C8B-B14F-4D97-AF65-F5344CB8AC3E}">
        <p14:creationId xmlns:p14="http://schemas.microsoft.com/office/powerpoint/2010/main" val="738072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Methodology</a:t>
            </a:r>
          </a:p>
        </p:txBody>
      </p:sp>
      <p:sp>
        <p:nvSpPr>
          <p:cNvPr id="3" name="Content Placeholder 2"/>
          <p:cNvSpPr>
            <a:spLocks noGrp="1"/>
          </p:cNvSpPr>
          <p:nvPr>
            <p:ph idx="1"/>
          </p:nvPr>
        </p:nvSpPr>
        <p:spPr/>
        <p:txBody>
          <a:bodyPr>
            <a:normAutofit lnSpcReduction="10000"/>
          </a:bodyPr>
          <a:lstStyle/>
          <a:p>
            <a:r>
              <a:rPr lang="en-US" dirty="0"/>
              <a:t>The system begins with face detection and audio extraction, ensuring that only relevant regions of interest are processed. This step filters out unnecessary background noise and visual clutter, focusing the pipeline on the most informative signals for deepfake detection.</a:t>
            </a:r>
          </a:p>
          <a:p>
            <a:r>
              <a:rPr lang="en-US" dirty="0"/>
              <a:t>Next, deep learning models are employed to extract discriminative features from both visual and audio inputs. Each modality undergoes confidence estimation, where the system evaluates the reliability of its predictions. This ensures that weaker signals are identified early and do not dominate the final decision.</a:t>
            </a:r>
          </a:p>
          <a:p>
            <a:r>
              <a:rPr lang="en-US" dirty="0"/>
              <a:t>The outputs from different modalities are then combined through an adaptive fusion mechanism, which dynamically balances contributions based on confidence levels. This cross‑validated fusion leads to a final classification of content as Real or Fake, providing a robust and interpretable decision that adapts to diverse manipulation techniques.</a:t>
            </a:r>
          </a:p>
          <a:p>
            <a:endParaRPr lang="en-US" dirty="0"/>
          </a:p>
          <a:p>
            <a:endParaRPr lang="en-US" dirty="0"/>
          </a:p>
          <a:p>
            <a:endParaRPr lang="en-US" dirty="0"/>
          </a:p>
          <a:p>
            <a:endParaRPr lang="en-US" dirty="0"/>
          </a:p>
        </p:txBody>
      </p:sp>
      <p:sp>
        <p:nvSpPr>
          <p:cNvPr id="5" name="Footer Placeholder 4">
            <a:extLst>
              <a:ext uri="{FF2B5EF4-FFF2-40B4-BE49-F238E27FC236}">
                <a16:creationId xmlns:a16="http://schemas.microsoft.com/office/drawing/2014/main" id="{F70E1A6D-CC0B-A6FF-CD57-11470869D014}"/>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27CAD2DB-E925-22C5-9F86-EFA58878B8CA}"/>
              </a:ext>
            </a:extLst>
          </p:cNvPr>
          <p:cNvSpPr>
            <a:spLocks noGrp="1"/>
          </p:cNvSpPr>
          <p:nvPr>
            <p:ph type="sldNum" sz="quarter" idx="12"/>
          </p:nvPr>
        </p:nvSpPr>
        <p:spPr/>
        <p:txBody>
          <a:bodyPr>
            <a:normAutofit/>
          </a:bodyPr>
          <a:lstStyle/>
          <a:p>
            <a:fld id="{C1FF6DA9-008F-8B48-92A6-B652298478BF}" type="slidenum">
              <a:rPr lang="en-US" smtClean="0"/>
              <a:t>10</a:t>
            </a:fld>
            <a:endParaRPr lang="en-US"/>
          </a:p>
        </p:txBody>
      </p:sp>
      <p:pic>
        <p:nvPicPr>
          <p:cNvPr id="4" name="Google Shape;90;p1">
            <a:extLst>
              <a:ext uri="{FF2B5EF4-FFF2-40B4-BE49-F238E27FC236}">
                <a16:creationId xmlns:a16="http://schemas.microsoft.com/office/drawing/2014/main" id="{45934F25-B1C4-72ED-5D0F-7939705EF399}"/>
              </a:ext>
            </a:extLst>
          </p:cNvPr>
          <p:cNvPicPr preferRelativeResize="0"/>
          <p:nvPr/>
        </p:nvPicPr>
        <p:blipFill rotWithShape="1">
          <a:blip r:embed="rId2">
            <a:alphaModFix/>
          </a:blip>
          <a:srcRect/>
          <a:stretch/>
        </p:blipFill>
        <p:spPr>
          <a:xfrm>
            <a:off x="0" y="44451"/>
            <a:ext cx="2210765" cy="75501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Tools &amp; Technologies</a:t>
            </a:r>
          </a:p>
        </p:txBody>
      </p:sp>
      <p:sp>
        <p:nvSpPr>
          <p:cNvPr id="3" name="Content Placeholder 2"/>
          <p:cNvSpPr>
            <a:spLocks noGrp="1"/>
          </p:cNvSpPr>
          <p:nvPr>
            <p:ph idx="1"/>
          </p:nvPr>
        </p:nvSpPr>
        <p:spPr/>
        <p:txBody>
          <a:bodyPr/>
          <a:lstStyle/>
          <a:p>
            <a:pPr marL="0" indent="0">
              <a:buNone/>
            </a:pPr>
            <a:r>
              <a:rPr dirty="0"/>
              <a:t>• Programming Language</a:t>
            </a:r>
            <a:r>
              <a:rPr lang="en-IN" dirty="0"/>
              <a:t>: Python</a:t>
            </a:r>
            <a:endParaRPr dirty="0"/>
          </a:p>
          <a:p>
            <a:pPr marL="0" indent="0">
              <a:buNone/>
            </a:pPr>
            <a:r>
              <a:rPr dirty="0"/>
              <a:t>• Frameworks</a:t>
            </a:r>
            <a:r>
              <a:rPr lang="en-IN" dirty="0"/>
              <a:t>: </a:t>
            </a:r>
            <a:r>
              <a:rPr lang="en-IN" dirty="0" err="1"/>
              <a:t>PyTorch</a:t>
            </a:r>
            <a:r>
              <a:rPr lang="en-IN" dirty="0"/>
              <a:t>, </a:t>
            </a:r>
            <a:r>
              <a:rPr lang="en-IN" dirty="0" err="1"/>
              <a:t>Gradio</a:t>
            </a:r>
            <a:r>
              <a:rPr lang="en-IN" dirty="0"/>
              <a:t>, OpenCV, </a:t>
            </a:r>
            <a:r>
              <a:rPr lang="en-IN" dirty="0" err="1"/>
              <a:t>Librosa</a:t>
            </a:r>
            <a:r>
              <a:rPr lang="en-IN" dirty="0"/>
              <a:t>, </a:t>
            </a:r>
            <a:r>
              <a:rPr lang="en-IN" dirty="0" err="1"/>
              <a:t>MoviePy</a:t>
            </a:r>
            <a:r>
              <a:rPr lang="en-IN" dirty="0"/>
              <a:t>, </a:t>
            </a:r>
            <a:r>
              <a:rPr lang="en-IN" dirty="0" err="1"/>
              <a:t>pytorch</a:t>
            </a:r>
            <a:r>
              <a:rPr lang="en-IN" dirty="0"/>
              <a:t>-grad-cam, FPDF2</a:t>
            </a:r>
            <a:endParaRPr dirty="0"/>
          </a:p>
          <a:p>
            <a:pPr marL="0" indent="0">
              <a:buNone/>
            </a:pPr>
            <a:r>
              <a:rPr dirty="0"/>
              <a:t>• Database</a:t>
            </a:r>
            <a:r>
              <a:rPr lang="en-IN" dirty="0"/>
              <a:t>: MongoDB</a:t>
            </a:r>
            <a:endParaRPr dirty="0"/>
          </a:p>
          <a:p>
            <a:pPr marL="0" indent="0">
              <a:buNone/>
            </a:pPr>
            <a:r>
              <a:rPr dirty="0"/>
              <a:t>• Development Environment</a:t>
            </a:r>
            <a:r>
              <a:rPr lang="en-IN" dirty="0"/>
              <a:t>: VS Code, Python Virtual Environment</a:t>
            </a:r>
            <a:endParaRPr dirty="0"/>
          </a:p>
          <a:p>
            <a:pPr marL="0" indent="0">
              <a:buNone/>
            </a:pPr>
            <a:r>
              <a:rPr dirty="0"/>
              <a:t>• Dataset Source</a:t>
            </a:r>
            <a:r>
              <a:rPr lang="en-IN" dirty="0"/>
              <a:t>: FaceForensics++, ASVspoof, </a:t>
            </a:r>
            <a:r>
              <a:rPr lang="en-IN" dirty="0" err="1"/>
              <a:t>Ciplab</a:t>
            </a:r>
            <a:r>
              <a:rPr lang="en-IN" dirty="0"/>
              <a:t>, etc.</a:t>
            </a:r>
            <a:endParaRPr dirty="0"/>
          </a:p>
        </p:txBody>
      </p:sp>
      <p:sp>
        <p:nvSpPr>
          <p:cNvPr id="5" name="Footer Placeholder 4">
            <a:extLst>
              <a:ext uri="{FF2B5EF4-FFF2-40B4-BE49-F238E27FC236}">
                <a16:creationId xmlns:a16="http://schemas.microsoft.com/office/drawing/2014/main" id="{B6FD9DA4-3BDA-A357-4E58-44B0E531E74F}"/>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C3738EBA-0EC5-6401-0F55-2B2AE926C38F}"/>
              </a:ext>
            </a:extLst>
          </p:cNvPr>
          <p:cNvSpPr>
            <a:spLocks noGrp="1"/>
          </p:cNvSpPr>
          <p:nvPr>
            <p:ph type="sldNum" sz="quarter" idx="12"/>
          </p:nvPr>
        </p:nvSpPr>
        <p:spPr/>
        <p:txBody>
          <a:bodyPr>
            <a:normAutofit/>
          </a:bodyPr>
          <a:lstStyle/>
          <a:p>
            <a:fld id="{C1FF6DA9-008F-8B48-92A6-B652298478BF}" type="slidenum">
              <a:rPr lang="en-US" smtClean="0"/>
              <a:t>11</a:t>
            </a:fld>
            <a:endParaRPr lang="en-US"/>
          </a:p>
        </p:txBody>
      </p:sp>
      <p:pic>
        <p:nvPicPr>
          <p:cNvPr id="4" name="Google Shape;90;p1">
            <a:extLst>
              <a:ext uri="{FF2B5EF4-FFF2-40B4-BE49-F238E27FC236}">
                <a16:creationId xmlns:a16="http://schemas.microsoft.com/office/drawing/2014/main" id="{9EA168D3-F00A-7BC1-E271-16ECFAE9E76C}"/>
              </a:ext>
            </a:extLst>
          </p:cNvPr>
          <p:cNvPicPr preferRelativeResize="0"/>
          <p:nvPr/>
        </p:nvPicPr>
        <p:blipFill rotWithShape="1">
          <a:blip r:embed="rId2">
            <a:alphaModFix/>
          </a:blip>
          <a:srcRect/>
          <a:stretch/>
        </p:blipFill>
        <p:spPr>
          <a:xfrm>
            <a:off x="0" y="44451"/>
            <a:ext cx="2210765" cy="75501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Modules Implemented</a:t>
            </a:r>
          </a:p>
        </p:txBody>
      </p:sp>
      <p:sp>
        <p:nvSpPr>
          <p:cNvPr id="3" name="Content Placeholder 2"/>
          <p:cNvSpPr>
            <a:spLocks noGrp="1"/>
          </p:cNvSpPr>
          <p:nvPr>
            <p:ph idx="1"/>
          </p:nvPr>
        </p:nvSpPr>
        <p:spPr/>
        <p:txBody>
          <a:bodyPr>
            <a:normAutofit fontScale="92500" lnSpcReduction="10000"/>
          </a:bodyPr>
          <a:lstStyle/>
          <a:p>
            <a:r>
              <a:rPr lang="en-IN" dirty="0"/>
              <a:t>• </a:t>
            </a:r>
            <a:r>
              <a:rPr lang="en-IN" b="1" dirty="0"/>
              <a:t>User Interface Module: </a:t>
            </a:r>
            <a:r>
              <a:rPr lang="en-IN" dirty="0"/>
              <a:t>Provides an interactive interface for uploading media and displaying detection results</a:t>
            </a:r>
          </a:p>
          <a:p>
            <a:r>
              <a:rPr lang="en-IN" dirty="0"/>
              <a:t>• </a:t>
            </a:r>
            <a:r>
              <a:rPr lang="en-IN" b="1" dirty="0"/>
              <a:t>Extension-Aware Routing Module: </a:t>
            </a:r>
            <a:r>
              <a:rPr lang="en-IN" dirty="0"/>
              <a:t>Automatically detects file type and routes input to appropriate processing modules</a:t>
            </a:r>
          </a:p>
          <a:p>
            <a:r>
              <a:rPr lang="en-IN" dirty="0"/>
              <a:t>• </a:t>
            </a:r>
            <a:r>
              <a:rPr lang="en-IN" b="1" dirty="0"/>
              <a:t>Visual Forensics Module: </a:t>
            </a:r>
            <a:r>
              <a:rPr lang="en-IN" dirty="0" err="1"/>
              <a:t>Analyzes</a:t>
            </a:r>
            <a:r>
              <a:rPr lang="en-IN" dirty="0"/>
              <a:t> images/videos using deep learning (</a:t>
            </a:r>
            <a:r>
              <a:rPr lang="en-IN" dirty="0" err="1"/>
              <a:t>MesoNet</a:t>
            </a:r>
            <a:r>
              <a:rPr lang="en-IN" dirty="0"/>
              <a:t>) to detect spatial inconsistencies</a:t>
            </a:r>
          </a:p>
          <a:p>
            <a:r>
              <a:rPr lang="en-IN" dirty="0"/>
              <a:t>• </a:t>
            </a:r>
            <a:r>
              <a:rPr lang="en-IN" b="1" dirty="0"/>
              <a:t>Audio Forensics Module: </a:t>
            </a:r>
            <a:r>
              <a:rPr lang="en-IN" dirty="0"/>
              <a:t>Processes audio using LCNN and spectrogram analysis to identify synthetic patterns</a:t>
            </a:r>
          </a:p>
          <a:p>
            <a:r>
              <a:rPr lang="en-IN" dirty="0"/>
              <a:t>• </a:t>
            </a:r>
            <a:r>
              <a:rPr lang="en-IN" b="1" dirty="0"/>
              <a:t>Adaptive Fusion Module: </a:t>
            </a:r>
            <a:r>
              <a:rPr lang="en-IN" dirty="0"/>
              <a:t>Combines audio and visual outputs using confidence-based dynamic weighting</a:t>
            </a:r>
          </a:p>
          <a:p>
            <a:r>
              <a:rPr lang="en-IN" dirty="0"/>
              <a:t>• </a:t>
            </a:r>
            <a:r>
              <a:rPr lang="en-IN" b="1" dirty="0"/>
              <a:t>Result Visualization &amp; Explainability Module: </a:t>
            </a:r>
            <a:r>
              <a:rPr lang="en-IN" dirty="0"/>
              <a:t>Generates heatmaps, attention maps, and confidence scores for interpretability</a:t>
            </a:r>
          </a:p>
        </p:txBody>
      </p:sp>
      <p:sp>
        <p:nvSpPr>
          <p:cNvPr id="5" name="Footer Placeholder 4">
            <a:extLst>
              <a:ext uri="{FF2B5EF4-FFF2-40B4-BE49-F238E27FC236}">
                <a16:creationId xmlns:a16="http://schemas.microsoft.com/office/drawing/2014/main" id="{47B81962-2824-972B-ACD9-C60805181F66}"/>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12B9F7E3-45D1-A2A4-E7F4-CA729409AD1B}"/>
              </a:ext>
            </a:extLst>
          </p:cNvPr>
          <p:cNvSpPr>
            <a:spLocks noGrp="1"/>
          </p:cNvSpPr>
          <p:nvPr>
            <p:ph type="sldNum" sz="quarter" idx="12"/>
          </p:nvPr>
        </p:nvSpPr>
        <p:spPr/>
        <p:txBody>
          <a:bodyPr>
            <a:normAutofit/>
          </a:bodyPr>
          <a:lstStyle/>
          <a:p>
            <a:fld id="{C1FF6DA9-008F-8B48-92A6-B652298478BF}" type="slidenum">
              <a:rPr lang="en-US" smtClean="0"/>
              <a:t>12</a:t>
            </a:fld>
            <a:endParaRPr lang="en-US"/>
          </a:p>
        </p:txBody>
      </p:sp>
      <p:pic>
        <p:nvPicPr>
          <p:cNvPr id="4" name="Google Shape;90;p1">
            <a:extLst>
              <a:ext uri="{FF2B5EF4-FFF2-40B4-BE49-F238E27FC236}">
                <a16:creationId xmlns:a16="http://schemas.microsoft.com/office/drawing/2014/main" id="{6734DE98-7618-DE25-8DC7-205096C56A03}"/>
              </a:ext>
            </a:extLst>
          </p:cNvPr>
          <p:cNvPicPr preferRelativeResize="0"/>
          <p:nvPr/>
        </p:nvPicPr>
        <p:blipFill rotWithShape="1">
          <a:blip r:embed="rId2">
            <a:alphaModFix/>
          </a:blip>
          <a:srcRect/>
          <a:stretch/>
        </p:blipFill>
        <p:spPr>
          <a:xfrm>
            <a:off x="0" y="25781"/>
            <a:ext cx="2210765" cy="75501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Implementation Screens</a:t>
            </a:r>
          </a:p>
        </p:txBody>
      </p:sp>
      <p:pic>
        <p:nvPicPr>
          <p:cNvPr id="8" name="Content Placeholder 7">
            <a:extLst>
              <a:ext uri="{FF2B5EF4-FFF2-40B4-BE49-F238E27FC236}">
                <a16:creationId xmlns:a16="http://schemas.microsoft.com/office/drawing/2014/main" id="{1455D843-17BD-A286-CEF3-DADEB306F417}"/>
              </a:ext>
            </a:extLst>
          </p:cNvPr>
          <p:cNvPicPr>
            <a:picLocks noGrp="1" noChangeAspect="1"/>
          </p:cNvPicPr>
          <p:nvPr>
            <p:ph idx="1"/>
          </p:nvPr>
        </p:nvPicPr>
        <p:blipFill>
          <a:blip r:embed="rId2"/>
          <a:stretch>
            <a:fillRect/>
          </a:stretch>
        </p:blipFill>
        <p:spPr>
          <a:xfrm>
            <a:off x="768340" y="1724810"/>
            <a:ext cx="8149184" cy="4583916"/>
          </a:xfrm>
          <a:prstGeom prst="rect">
            <a:avLst/>
          </a:prstGeom>
        </p:spPr>
      </p:pic>
      <p:sp>
        <p:nvSpPr>
          <p:cNvPr id="5" name="Footer Placeholder 4">
            <a:extLst>
              <a:ext uri="{FF2B5EF4-FFF2-40B4-BE49-F238E27FC236}">
                <a16:creationId xmlns:a16="http://schemas.microsoft.com/office/drawing/2014/main" id="{550B45F9-D4A3-B57D-4DF0-962056C6BCFC}"/>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4B54A4D7-1249-0109-2C0F-5EE25963A427}"/>
              </a:ext>
            </a:extLst>
          </p:cNvPr>
          <p:cNvSpPr>
            <a:spLocks noGrp="1"/>
          </p:cNvSpPr>
          <p:nvPr>
            <p:ph type="sldNum" sz="quarter" idx="12"/>
          </p:nvPr>
        </p:nvSpPr>
        <p:spPr/>
        <p:txBody>
          <a:bodyPr>
            <a:normAutofit/>
          </a:bodyPr>
          <a:lstStyle/>
          <a:p>
            <a:fld id="{C1FF6DA9-008F-8B48-92A6-B652298478BF}" type="slidenum">
              <a:rPr lang="en-US" smtClean="0"/>
              <a:t>13</a:t>
            </a:fld>
            <a:endParaRPr lang="en-US"/>
          </a:p>
        </p:txBody>
      </p:sp>
      <p:pic>
        <p:nvPicPr>
          <p:cNvPr id="4" name="Google Shape;90;p1">
            <a:extLst>
              <a:ext uri="{FF2B5EF4-FFF2-40B4-BE49-F238E27FC236}">
                <a16:creationId xmlns:a16="http://schemas.microsoft.com/office/drawing/2014/main" id="{DF21A8FB-AE69-82DF-D29F-25B7B74E4225}"/>
              </a:ext>
            </a:extLst>
          </p:cNvPr>
          <p:cNvPicPr preferRelativeResize="0"/>
          <p:nvPr/>
        </p:nvPicPr>
        <p:blipFill rotWithShape="1">
          <a:blip r:embed="rId3">
            <a:alphaModFix/>
          </a:blip>
          <a:srcRect/>
          <a:stretch/>
        </p:blipFill>
        <p:spPr>
          <a:xfrm>
            <a:off x="0" y="1"/>
            <a:ext cx="2210765" cy="755015"/>
          </a:xfrm>
          <a:prstGeom prst="rect">
            <a:avLst/>
          </a:prstGeom>
          <a:noFill/>
          <a:ln>
            <a:noFill/>
          </a:ln>
        </p:spPr>
      </p:pic>
      <p:sp>
        <p:nvSpPr>
          <p:cNvPr id="9" name="TextBox 8">
            <a:extLst>
              <a:ext uri="{FF2B5EF4-FFF2-40B4-BE49-F238E27FC236}">
                <a16:creationId xmlns:a16="http://schemas.microsoft.com/office/drawing/2014/main" id="{09C21F6A-51B0-0C40-DB0D-8F7106189204}"/>
              </a:ext>
            </a:extLst>
          </p:cNvPr>
          <p:cNvSpPr txBox="1"/>
          <p:nvPr/>
        </p:nvSpPr>
        <p:spPr>
          <a:xfrm>
            <a:off x="9276080" y="3608340"/>
            <a:ext cx="2661920" cy="369332"/>
          </a:xfrm>
          <a:prstGeom prst="rect">
            <a:avLst/>
          </a:prstGeom>
          <a:noFill/>
        </p:spPr>
        <p:txBody>
          <a:bodyPr wrap="square" rtlCol="0">
            <a:spAutoFit/>
          </a:bodyPr>
          <a:lstStyle/>
          <a:p>
            <a:pPr algn="ctr"/>
            <a:r>
              <a:rPr lang="en-IN" dirty="0"/>
              <a:t>Application Interface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F1E69-CFEB-BA5B-D08F-26448E9DD1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215FE-87BD-7C99-3E5C-BA77330FFE03}"/>
              </a:ext>
            </a:extLst>
          </p:cNvPr>
          <p:cNvSpPr>
            <a:spLocks noGrp="1"/>
          </p:cNvSpPr>
          <p:nvPr>
            <p:ph type="title"/>
          </p:nvPr>
        </p:nvSpPr>
        <p:spPr/>
        <p:txBody>
          <a:bodyPr/>
          <a:lstStyle/>
          <a:p>
            <a:r>
              <a:rPr dirty="0">
                <a:solidFill>
                  <a:srgbClr val="C00000"/>
                </a:solidFill>
              </a:rPr>
              <a:t>Implementation Screens</a:t>
            </a:r>
          </a:p>
        </p:txBody>
      </p:sp>
      <p:sp>
        <p:nvSpPr>
          <p:cNvPr id="5" name="Footer Placeholder 4">
            <a:extLst>
              <a:ext uri="{FF2B5EF4-FFF2-40B4-BE49-F238E27FC236}">
                <a16:creationId xmlns:a16="http://schemas.microsoft.com/office/drawing/2014/main" id="{629E9710-B290-2D8D-D7AA-ED77487F6766}"/>
              </a:ext>
            </a:extLst>
          </p:cNvPr>
          <p:cNvSpPr>
            <a:spLocks noGrp="1"/>
          </p:cNvSpPr>
          <p:nvPr>
            <p:ph type="ftr" sz="quarter" idx="11"/>
          </p:nvPr>
        </p:nvSpPr>
        <p:spPr/>
        <p:txBody>
          <a:bodyPr/>
          <a:lstStyle/>
          <a:p>
            <a:r>
              <a:rPr lang="en-US" dirty="0"/>
              <a:t>Major Project Review-II - 14th March 2026</a:t>
            </a:r>
          </a:p>
        </p:txBody>
      </p:sp>
      <p:sp>
        <p:nvSpPr>
          <p:cNvPr id="6" name="Slide Number Placeholder 5">
            <a:extLst>
              <a:ext uri="{FF2B5EF4-FFF2-40B4-BE49-F238E27FC236}">
                <a16:creationId xmlns:a16="http://schemas.microsoft.com/office/drawing/2014/main" id="{E83A276B-4055-8A6B-FC78-CA6C3FD4F47C}"/>
              </a:ext>
            </a:extLst>
          </p:cNvPr>
          <p:cNvSpPr>
            <a:spLocks noGrp="1"/>
          </p:cNvSpPr>
          <p:nvPr>
            <p:ph type="sldNum" sz="quarter" idx="12"/>
          </p:nvPr>
        </p:nvSpPr>
        <p:spPr/>
        <p:txBody>
          <a:bodyPr>
            <a:normAutofit/>
          </a:bodyPr>
          <a:lstStyle/>
          <a:p>
            <a:fld id="{C1FF6DA9-008F-8B48-92A6-B652298478BF}" type="slidenum">
              <a:rPr lang="en-US" smtClean="0"/>
              <a:t>14</a:t>
            </a:fld>
            <a:endParaRPr lang="en-US"/>
          </a:p>
        </p:txBody>
      </p:sp>
      <p:pic>
        <p:nvPicPr>
          <p:cNvPr id="4" name="Google Shape;90;p1">
            <a:extLst>
              <a:ext uri="{FF2B5EF4-FFF2-40B4-BE49-F238E27FC236}">
                <a16:creationId xmlns:a16="http://schemas.microsoft.com/office/drawing/2014/main" id="{A364A792-26C1-C326-2A13-DA32C9EA7D4E}"/>
              </a:ext>
            </a:extLst>
          </p:cNvPr>
          <p:cNvPicPr preferRelativeResize="0"/>
          <p:nvPr/>
        </p:nvPicPr>
        <p:blipFill rotWithShape="1">
          <a:blip r:embed="rId2">
            <a:alphaModFix/>
          </a:blip>
          <a:srcRect/>
          <a:stretch/>
        </p:blipFill>
        <p:spPr>
          <a:xfrm>
            <a:off x="0" y="1"/>
            <a:ext cx="2210765" cy="755015"/>
          </a:xfrm>
          <a:prstGeom prst="rect">
            <a:avLst/>
          </a:prstGeom>
          <a:noFill/>
          <a:ln>
            <a:noFill/>
          </a:ln>
        </p:spPr>
      </p:pic>
      <p:pic>
        <p:nvPicPr>
          <p:cNvPr id="9" name="Content Placeholder 8">
            <a:extLst>
              <a:ext uri="{FF2B5EF4-FFF2-40B4-BE49-F238E27FC236}">
                <a16:creationId xmlns:a16="http://schemas.microsoft.com/office/drawing/2014/main" id="{88BA8E5C-97E1-14D2-9E3E-218E8E4FE4CE}"/>
              </a:ext>
            </a:extLst>
          </p:cNvPr>
          <p:cNvPicPr>
            <a:picLocks noGrp="1" noChangeAspect="1"/>
          </p:cNvPicPr>
          <p:nvPr>
            <p:ph idx="1"/>
          </p:nvPr>
        </p:nvPicPr>
        <p:blipFill>
          <a:blip r:embed="rId3"/>
          <a:stretch>
            <a:fillRect/>
          </a:stretch>
        </p:blipFill>
        <p:spPr bwMode="auto">
          <a:xfrm>
            <a:off x="199402" y="1920240"/>
            <a:ext cx="4022725" cy="402272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83685F4E-3FA9-734E-53CE-C54E3E90670F}"/>
              </a:ext>
            </a:extLst>
          </p:cNvPr>
          <p:cNvPicPr>
            <a:picLocks noChangeAspect="1"/>
          </p:cNvPicPr>
          <p:nvPr/>
        </p:nvPicPr>
        <p:blipFill>
          <a:blip r:embed="rId4"/>
          <a:stretch>
            <a:fillRect/>
          </a:stretch>
        </p:blipFill>
        <p:spPr>
          <a:xfrm>
            <a:off x="4480559" y="1920239"/>
            <a:ext cx="4022725" cy="4022725"/>
          </a:xfrm>
          <a:prstGeom prst="rect">
            <a:avLst/>
          </a:prstGeom>
        </p:spPr>
      </p:pic>
      <p:pic>
        <p:nvPicPr>
          <p:cNvPr id="13" name="Picture 12">
            <a:extLst>
              <a:ext uri="{FF2B5EF4-FFF2-40B4-BE49-F238E27FC236}">
                <a16:creationId xmlns:a16="http://schemas.microsoft.com/office/drawing/2014/main" id="{8E2924A8-6C46-A6E0-E35A-1FBFC0864484}"/>
              </a:ext>
            </a:extLst>
          </p:cNvPr>
          <p:cNvPicPr>
            <a:picLocks noChangeAspect="1"/>
          </p:cNvPicPr>
          <p:nvPr/>
        </p:nvPicPr>
        <p:blipFill>
          <a:blip r:embed="rId5"/>
          <a:stretch>
            <a:fillRect/>
          </a:stretch>
        </p:blipFill>
        <p:spPr>
          <a:xfrm>
            <a:off x="8660116" y="1920240"/>
            <a:ext cx="3408526" cy="4022725"/>
          </a:xfrm>
          <a:prstGeom prst="rect">
            <a:avLst/>
          </a:prstGeom>
        </p:spPr>
      </p:pic>
      <p:sp>
        <p:nvSpPr>
          <p:cNvPr id="14" name="TextBox 13">
            <a:extLst>
              <a:ext uri="{FF2B5EF4-FFF2-40B4-BE49-F238E27FC236}">
                <a16:creationId xmlns:a16="http://schemas.microsoft.com/office/drawing/2014/main" id="{656D4906-FDE7-D34A-C529-872B659C6F18}"/>
              </a:ext>
            </a:extLst>
          </p:cNvPr>
          <p:cNvSpPr txBox="1"/>
          <p:nvPr/>
        </p:nvSpPr>
        <p:spPr>
          <a:xfrm>
            <a:off x="294640" y="6106160"/>
            <a:ext cx="3820160" cy="369332"/>
          </a:xfrm>
          <a:prstGeom prst="rect">
            <a:avLst/>
          </a:prstGeom>
          <a:noFill/>
        </p:spPr>
        <p:txBody>
          <a:bodyPr wrap="square" rtlCol="0">
            <a:spAutoFit/>
          </a:bodyPr>
          <a:lstStyle/>
          <a:p>
            <a:pPr algn="ctr"/>
            <a:r>
              <a:rPr lang="en-IN" dirty="0"/>
              <a:t>Generated Image</a:t>
            </a:r>
          </a:p>
        </p:txBody>
      </p:sp>
      <p:sp>
        <p:nvSpPr>
          <p:cNvPr id="15" name="TextBox 14">
            <a:extLst>
              <a:ext uri="{FF2B5EF4-FFF2-40B4-BE49-F238E27FC236}">
                <a16:creationId xmlns:a16="http://schemas.microsoft.com/office/drawing/2014/main" id="{2C57163D-AC48-5C67-58C0-6733C23B64E5}"/>
              </a:ext>
            </a:extLst>
          </p:cNvPr>
          <p:cNvSpPr txBox="1"/>
          <p:nvPr/>
        </p:nvSpPr>
        <p:spPr>
          <a:xfrm>
            <a:off x="4480559" y="6106160"/>
            <a:ext cx="4022725" cy="369332"/>
          </a:xfrm>
          <a:prstGeom prst="rect">
            <a:avLst/>
          </a:prstGeom>
          <a:noFill/>
        </p:spPr>
        <p:txBody>
          <a:bodyPr wrap="square" rtlCol="0">
            <a:spAutoFit/>
          </a:bodyPr>
          <a:lstStyle/>
          <a:p>
            <a:pPr algn="ctr"/>
            <a:r>
              <a:rPr lang="en-IN" dirty="0"/>
              <a:t>Heatmap</a:t>
            </a:r>
          </a:p>
        </p:txBody>
      </p:sp>
      <p:sp>
        <p:nvSpPr>
          <p:cNvPr id="16" name="TextBox 15">
            <a:extLst>
              <a:ext uri="{FF2B5EF4-FFF2-40B4-BE49-F238E27FC236}">
                <a16:creationId xmlns:a16="http://schemas.microsoft.com/office/drawing/2014/main" id="{F00E8A94-AD02-BA68-5E14-BB692744E367}"/>
              </a:ext>
            </a:extLst>
          </p:cNvPr>
          <p:cNvSpPr txBox="1"/>
          <p:nvPr/>
        </p:nvSpPr>
        <p:spPr>
          <a:xfrm>
            <a:off x="8920480" y="6106160"/>
            <a:ext cx="2712720" cy="369332"/>
          </a:xfrm>
          <a:prstGeom prst="rect">
            <a:avLst/>
          </a:prstGeom>
          <a:noFill/>
        </p:spPr>
        <p:txBody>
          <a:bodyPr wrap="square" rtlCol="0">
            <a:spAutoFit/>
          </a:bodyPr>
          <a:lstStyle/>
          <a:p>
            <a:pPr algn="ctr"/>
            <a:r>
              <a:rPr lang="en-IN" dirty="0"/>
              <a:t>Score and Analysis</a:t>
            </a:r>
          </a:p>
        </p:txBody>
      </p:sp>
    </p:spTree>
    <p:extLst>
      <p:ext uri="{BB962C8B-B14F-4D97-AF65-F5344CB8AC3E}">
        <p14:creationId xmlns:p14="http://schemas.microsoft.com/office/powerpoint/2010/main" val="2963535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98A42-876F-2BD3-0625-D576C12BC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01E3A-F1BD-88CF-6E95-77F02FFA82CA}"/>
              </a:ext>
            </a:extLst>
          </p:cNvPr>
          <p:cNvSpPr>
            <a:spLocks noGrp="1"/>
          </p:cNvSpPr>
          <p:nvPr>
            <p:ph type="title"/>
          </p:nvPr>
        </p:nvSpPr>
        <p:spPr/>
        <p:txBody>
          <a:bodyPr/>
          <a:lstStyle/>
          <a:p>
            <a:r>
              <a:rPr dirty="0">
                <a:solidFill>
                  <a:srgbClr val="C00000"/>
                </a:solidFill>
              </a:rPr>
              <a:t>Implementation Screens</a:t>
            </a:r>
          </a:p>
        </p:txBody>
      </p:sp>
      <p:sp>
        <p:nvSpPr>
          <p:cNvPr id="5" name="Footer Placeholder 4">
            <a:extLst>
              <a:ext uri="{FF2B5EF4-FFF2-40B4-BE49-F238E27FC236}">
                <a16:creationId xmlns:a16="http://schemas.microsoft.com/office/drawing/2014/main" id="{C03BB0D0-4CD3-2FD1-EF0B-4DC327F28B8B}"/>
              </a:ext>
            </a:extLst>
          </p:cNvPr>
          <p:cNvSpPr>
            <a:spLocks noGrp="1"/>
          </p:cNvSpPr>
          <p:nvPr>
            <p:ph type="ftr" sz="quarter" idx="11"/>
          </p:nvPr>
        </p:nvSpPr>
        <p:spPr/>
        <p:txBody>
          <a:bodyPr/>
          <a:lstStyle/>
          <a:p>
            <a:r>
              <a:rPr lang="en-US" dirty="0"/>
              <a:t>Major Project Review-II - 14th March 2026</a:t>
            </a:r>
          </a:p>
        </p:txBody>
      </p:sp>
      <p:sp>
        <p:nvSpPr>
          <p:cNvPr id="6" name="Slide Number Placeholder 5">
            <a:extLst>
              <a:ext uri="{FF2B5EF4-FFF2-40B4-BE49-F238E27FC236}">
                <a16:creationId xmlns:a16="http://schemas.microsoft.com/office/drawing/2014/main" id="{32F4EA07-4198-05D3-0544-44A3B81458DF}"/>
              </a:ext>
            </a:extLst>
          </p:cNvPr>
          <p:cNvSpPr>
            <a:spLocks noGrp="1"/>
          </p:cNvSpPr>
          <p:nvPr>
            <p:ph type="sldNum" sz="quarter" idx="12"/>
          </p:nvPr>
        </p:nvSpPr>
        <p:spPr/>
        <p:txBody>
          <a:bodyPr>
            <a:normAutofit/>
          </a:bodyPr>
          <a:lstStyle/>
          <a:p>
            <a:fld id="{C1FF6DA9-008F-8B48-92A6-B652298478BF}" type="slidenum">
              <a:rPr lang="en-US" smtClean="0"/>
              <a:t>15</a:t>
            </a:fld>
            <a:endParaRPr lang="en-US"/>
          </a:p>
        </p:txBody>
      </p:sp>
      <p:pic>
        <p:nvPicPr>
          <p:cNvPr id="4" name="Google Shape;90;p1">
            <a:extLst>
              <a:ext uri="{FF2B5EF4-FFF2-40B4-BE49-F238E27FC236}">
                <a16:creationId xmlns:a16="http://schemas.microsoft.com/office/drawing/2014/main" id="{7953D66D-1ABB-D3D0-8BF1-AB9367D4E4DA}"/>
              </a:ext>
            </a:extLst>
          </p:cNvPr>
          <p:cNvPicPr preferRelativeResize="0"/>
          <p:nvPr/>
        </p:nvPicPr>
        <p:blipFill rotWithShape="1">
          <a:blip r:embed="rId2">
            <a:alphaModFix/>
          </a:blip>
          <a:srcRect/>
          <a:stretch/>
        </p:blipFill>
        <p:spPr>
          <a:xfrm>
            <a:off x="0" y="1"/>
            <a:ext cx="2210765" cy="755015"/>
          </a:xfrm>
          <a:prstGeom prst="rect">
            <a:avLst/>
          </a:prstGeom>
          <a:noFill/>
          <a:ln>
            <a:noFill/>
          </a:ln>
        </p:spPr>
      </p:pic>
      <p:pic>
        <p:nvPicPr>
          <p:cNvPr id="8" name="Picture 7">
            <a:extLst>
              <a:ext uri="{FF2B5EF4-FFF2-40B4-BE49-F238E27FC236}">
                <a16:creationId xmlns:a16="http://schemas.microsoft.com/office/drawing/2014/main" id="{3448C09D-E7F3-5AD1-097E-6D2AD6D354D9}"/>
              </a:ext>
            </a:extLst>
          </p:cNvPr>
          <p:cNvPicPr>
            <a:picLocks noChangeAspect="1"/>
          </p:cNvPicPr>
          <p:nvPr/>
        </p:nvPicPr>
        <p:blipFill>
          <a:blip r:embed="rId3"/>
          <a:stretch>
            <a:fillRect/>
          </a:stretch>
        </p:blipFill>
        <p:spPr>
          <a:xfrm>
            <a:off x="781135" y="2084832"/>
            <a:ext cx="4656103" cy="3556680"/>
          </a:xfrm>
          <a:prstGeom prst="rect">
            <a:avLst/>
          </a:prstGeom>
        </p:spPr>
      </p:pic>
      <p:pic>
        <p:nvPicPr>
          <p:cNvPr id="12" name="Picture 11">
            <a:extLst>
              <a:ext uri="{FF2B5EF4-FFF2-40B4-BE49-F238E27FC236}">
                <a16:creationId xmlns:a16="http://schemas.microsoft.com/office/drawing/2014/main" id="{729001AF-0AEB-183D-78E0-4C289E4B2FC9}"/>
              </a:ext>
            </a:extLst>
          </p:cNvPr>
          <p:cNvPicPr>
            <a:picLocks noChangeAspect="1"/>
          </p:cNvPicPr>
          <p:nvPr/>
        </p:nvPicPr>
        <p:blipFill>
          <a:blip r:embed="rId4"/>
          <a:stretch>
            <a:fillRect/>
          </a:stretch>
        </p:blipFill>
        <p:spPr>
          <a:xfrm>
            <a:off x="5793392" y="2084832"/>
            <a:ext cx="5749679" cy="3476550"/>
          </a:xfrm>
          <a:prstGeom prst="rect">
            <a:avLst/>
          </a:prstGeom>
        </p:spPr>
      </p:pic>
      <p:sp>
        <p:nvSpPr>
          <p:cNvPr id="17" name="TextBox 16">
            <a:extLst>
              <a:ext uri="{FF2B5EF4-FFF2-40B4-BE49-F238E27FC236}">
                <a16:creationId xmlns:a16="http://schemas.microsoft.com/office/drawing/2014/main" id="{77E8C9A5-D4D7-F164-7F92-2D2A31961FC4}"/>
              </a:ext>
            </a:extLst>
          </p:cNvPr>
          <p:cNvSpPr txBox="1"/>
          <p:nvPr/>
        </p:nvSpPr>
        <p:spPr>
          <a:xfrm>
            <a:off x="3264310" y="5791200"/>
            <a:ext cx="5034116" cy="369332"/>
          </a:xfrm>
          <a:prstGeom prst="rect">
            <a:avLst/>
          </a:prstGeom>
          <a:noFill/>
        </p:spPr>
        <p:txBody>
          <a:bodyPr wrap="square" rtlCol="0">
            <a:spAutoFit/>
          </a:bodyPr>
          <a:lstStyle/>
          <a:p>
            <a:pPr algn="ctr"/>
            <a:r>
              <a:rPr lang="en-IN" dirty="0"/>
              <a:t>Snippets of generated report</a:t>
            </a:r>
          </a:p>
        </p:txBody>
      </p:sp>
    </p:spTree>
    <p:extLst>
      <p:ext uri="{BB962C8B-B14F-4D97-AF65-F5344CB8AC3E}">
        <p14:creationId xmlns:p14="http://schemas.microsoft.com/office/powerpoint/2010/main" val="2039352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51C1B-4A15-86BF-B796-429889360F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47B7F-78E2-6BC6-5556-2FDD1F0D921F}"/>
              </a:ext>
            </a:extLst>
          </p:cNvPr>
          <p:cNvSpPr>
            <a:spLocks noGrp="1"/>
          </p:cNvSpPr>
          <p:nvPr>
            <p:ph type="title"/>
          </p:nvPr>
        </p:nvSpPr>
        <p:spPr/>
        <p:txBody>
          <a:bodyPr/>
          <a:lstStyle/>
          <a:p>
            <a:r>
              <a:rPr dirty="0">
                <a:solidFill>
                  <a:srgbClr val="C00000"/>
                </a:solidFill>
              </a:rPr>
              <a:t>Implementation Screens</a:t>
            </a:r>
          </a:p>
        </p:txBody>
      </p:sp>
      <p:sp>
        <p:nvSpPr>
          <p:cNvPr id="5" name="Footer Placeholder 4">
            <a:extLst>
              <a:ext uri="{FF2B5EF4-FFF2-40B4-BE49-F238E27FC236}">
                <a16:creationId xmlns:a16="http://schemas.microsoft.com/office/drawing/2014/main" id="{92D5E160-FD09-FC91-E8AA-616C0563715C}"/>
              </a:ext>
            </a:extLst>
          </p:cNvPr>
          <p:cNvSpPr>
            <a:spLocks noGrp="1"/>
          </p:cNvSpPr>
          <p:nvPr>
            <p:ph type="ftr" sz="quarter" idx="11"/>
          </p:nvPr>
        </p:nvSpPr>
        <p:spPr/>
        <p:txBody>
          <a:bodyPr/>
          <a:lstStyle/>
          <a:p>
            <a:r>
              <a:rPr lang="en-US" dirty="0"/>
              <a:t>Major Project Review-II - 14th March 2026</a:t>
            </a:r>
          </a:p>
        </p:txBody>
      </p:sp>
      <p:sp>
        <p:nvSpPr>
          <p:cNvPr id="6" name="Slide Number Placeholder 5">
            <a:extLst>
              <a:ext uri="{FF2B5EF4-FFF2-40B4-BE49-F238E27FC236}">
                <a16:creationId xmlns:a16="http://schemas.microsoft.com/office/drawing/2014/main" id="{0C781917-29FD-9A95-CF48-A2C9168514DD}"/>
              </a:ext>
            </a:extLst>
          </p:cNvPr>
          <p:cNvSpPr>
            <a:spLocks noGrp="1"/>
          </p:cNvSpPr>
          <p:nvPr>
            <p:ph type="sldNum" sz="quarter" idx="12"/>
          </p:nvPr>
        </p:nvSpPr>
        <p:spPr/>
        <p:txBody>
          <a:bodyPr>
            <a:normAutofit/>
          </a:bodyPr>
          <a:lstStyle/>
          <a:p>
            <a:fld id="{C1FF6DA9-008F-8B48-92A6-B652298478BF}" type="slidenum">
              <a:rPr lang="en-US" smtClean="0"/>
              <a:t>16</a:t>
            </a:fld>
            <a:endParaRPr lang="en-US"/>
          </a:p>
        </p:txBody>
      </p:sp>
      <p:pic>
        <p:nvPicPr>
          <p:cNvPr id="4" name="Google Shape;90;p1">
            <a:extLst>
              <a:ext uri="{FF2B5EF4-FFF2-40B4-BE49-F238E27FC236}">
                <a16:creationId xmlns:a16="http://schemas.microsoft.com/office/drawing/2014/main" id="{F6D9A0A1-E20C-5992-9A61-4CE569ECAB63}"/>
              </a:ext>
            </a:extLst>
          </p:cNvPr>
          <p:cNvPicPr preferRelativeResize="0"/>
          <p:nvPr/>
        </p:nvPicPr>
        <p:blipFill rotWithShape="1">
          <a:blip r:embed="rId2">
            <a:alphaModFix/>
          </a:blip>
          <a:srcRect/>
          <a:stretch/>
        </p:blipFill>
        <p:spPr>
          <a:xfrm>
            <a:off x="0" y="1"/>
            <a:ext cx="2210765" cy="755015"/>
          </a:xfrm>
          <a:prstGeom prst="rect">
            <a:avLst/>
          </a:prstGeom>
          <a:noFill/>
          <a:ln>
            <a:noFill/>
          </a:ln>
        </p:spPr>
      </p:pic>
      <p:sp>
        <p:nvSpPr>
          <p:cNvPr id="17" name="TextBox 16">
            <a:extLst>
              <a:ext uri="{FF2B5EF4-FFF2-40B4-BE49-F238E27FC236}">
                <a16:creationId xmlns:a16="http://schemas.microsoft.com/office/drawing/2014/main" id="{233D1A05-BA46-C969-E489-42C3223105E0}"/>
              </a:ext>
            </a:extLst>
          </p:cNvPr>
          <p:cNvSpPr txBox="1"/>
          <p:nvPr/>
        </p:nvSpPr>
        <p:spPr>
          <a:xfrm>
            <a:off x="3264310" y="5791200"/>
            <a:ext cx="5034116" cy="369332"/>
          </a:xfrm>
          <a:prstGeom prst="rect">
            <a:avLst/>
          </a:prstGeom>
          <a:noFill/>
        </p:spPr>
        <p:txBody>
          <a:bodyPr wrap="square" rtlCol="0">
            <a:spAutoFit/>
          </a:bodyPr>
          <a:lstStyle/>
          <a:p>
            <a:pPr algn="ctr"/>
            <a:r>
              <a:rPr lang="en-IN" dirty="0"/>
              <a:t>Code Snippet</a:t>
            </a:r>
          </a:p>
        </p:txBody>
      </p:sp>
      <p:pic>
        <p:nvPicPr>
          <p:cNvPr id="7" name="Picture 6">
            <a:extLst>
              <a:ext uri="{FF2B5EF4-FFF2-40B4-BE49-F238E27FC236}">
                <a16:creationId xmlns:a16="http://schemas.microsoft.com/office/drawing/2014/main" id="{95DDE634-1035-9F05-EF85-0264ACD74275}"/>
              </a:ext>
            </a:extLst>
          </p:cNvPr>
          <p:cNvPicPr>
            <a:picLocks noChangeAspect="1"/>
          </p:cNvPicPr>
          <p:nvPr/>
        </p:nvPicPr>
        <p:blipFill>
          <a:blip r:embed="rId3"/>
          <a:stretch>
            <a:fillRect/>
          </a:stretch>
        </p:blipFill>
        <p:spPr>
          <a:xfrm>
            <a:off x="381000" y="1855749"/>
            <a:ext cx="5546930" cy="3666150"/>
          </a:xfrm>
          <a:prstGeom prst="rect">
            <a:avLst/>
          </a:prstGeom>
        </p:spPr>
      </p:pic>
      <p:pic>
        <p:nvPicPr>
          <p:cNvPr id="10" name="Picture 9">
            <a:extLst>
              <a:ext uri="{FF2B5EF4-FFF2-40B4-BE49-F238E27FC236}">
                <a16:creationId xmlns:a16="http://schemas.microsoft.com/office/drawing/2014/main" id="{ED0C9D11-0019-19DC-EDD9-553245CBCC32}"/>
              </a:ext>
            </a:extLst>
          </p:cNvPr>
          <p:cNvPicPr>
            <a:picLocks noChangeAspect="1"/>
          </p:cNvPicPr>
          <p:nvPr/>
        </p:nvPicPr>
        <p:blipFill>
          <a:blip r:embed="rId4"/>
          <a:stretch>
            <a:fillRect/>
          </a:stretch>
        </p:blipFill>
        <p:spPr>
          <a:xfrm>
            <a:off x="6206256" y="1855748"/>
            <a:ext cx="5604744" cy="3666151"/>
          </a:xfrm>
          <a:prstGeom prst="rect">
            <a:avLst/>
          </a:prstGeom>
        </p:spPr>
      </p:pic>
    </p:spTree>
    <p:extLst>
      <p:ext uri="{BB962C8B-B14F-4D97-AF65-F5344CB8AC3E}">
        <p14:creationId xmlns:p14="http://schemas.microsoft.com/office/powerpoint/2010/main" val="1512882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8B45A-3960-DC9F-235E-C6736942F3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15A090-769B-94D7-4B29-4B73A1B62836}"/>
              </a:ext>
            </a:extLst>
          </p:cNvPr>
          <p:cNvSpPr>
            <a:spLocks noGrp="1"/>
          </p:cNvSpPr>
          <p:nvPr>
            <p:ph type="title"/>
          </p:nvPr>
        </p:nvSpPr>
        <p:spPr/>
        <p:txBody>
          <a:bodyPr/>
          <a:lstStyle/>
          <a:p>
            <a:r>
              <a:rPr dirty="0">
                <a:solidFill>
                  <a:srgbClr val="C00000"/>
                </a:solidFill>
              </a:rPr>
              <a:t>Implementation Screens</a:t>
            </a:r>
          </a:p>
        </p:txBody>
      </p:sp>
      <p:sp>
        <p:nvSpPr>
          <p:cNvPr id="5" name="Footer Placeholder 4">
            <a:extLst>
              <a:ext uri="{FF2B5EF4-FFF2-40B4-BE49-F238E27FC236}">
                <a16:creationId xmlns:a16="http://schemas.microsoft.com/office/drawing/2014/main" id="{E1AB459B-41CA-DDDA-79B5-E5E8F0E30484}"/>
              </a:ext>
            </a:extLst>
          </p:cNvPr>
          <p:cNvSpPr>
            <a:spLocks noGrp="1"/>
          </p:cNvSpPr>
          <p:nvPr>
            <p:ph type="ftr" sz="quarter" idx="11"/>
          </p:nvPr>
        </p:nvSpPr>
        <p:spPr/>
        <p:txBody>
          <a:bodyPr/>
          <a:lstStyle/>
          <a:p>
            <a:r>
              <a:rPr lang="en-US" dirty="0"/>
              <a:t>Major Project Review-II - 14th March 2026</a:t>
            </a:r>
          </a:p>
        </p:txBody>
      </p:sp>
      <p:sp>
        <p:nvSpPr>
          <p:cNvPr id="6" name="Slide Number Placeholder 5">
            <a:extLst>
              <a:ext uri="{FF2B5EF4-FFF2-40B4-BE49-F238E27FC236}">
                <a16:creationId xmlns:a16="http://schemas.microsoft.com/office/drawing/2014/main" id="{632418AD-7FED-1D7E-E077-2677F8822097}"/>
              </a:ext>
            </a:extLst>
          </p:cNvPr>
          <p:cNvSpPr>
            <a:spLocks noGrp="1"/>
          </p:cNvSpPr>
          <p:nvPr>
            <p:ph type="sldNum" sz="quarter" idx="12"/>
          </p:nvPr>
        </p:nvSpPr>
        <p:spPr/>
        <p:txBody>
          <a:bodyPr>
            <a:normAutofit/>
          </a:bodyPr>
          <a:lstStyle/>
          <a:p>
            <a:fld id="{C1FF6DA9-008F-8B48-92A6-B652298478BF}" type="slidenum">
              <a:rPr lang="en-US" smtClean="0"/>
              <a:t>17</a:t>
            </a:fld>
            <a:endParaRPr lang="en-US" dirty="0"/>
          </a:p>
        </p:txBody>
      </p:sp>
      <p:pic>
        <p:nvPicPr>
          <p:cNvPr id="4" name="Google Shape;90;p1">
            <a:extLst>
              <a:ext uri="{FF2B5EF4-FFF2-40B4-BE49-F238E27FC236}">
                <a16:creationId xmlns:a16="http://schemas.microsoft.com/office/drawing/2014/main" id="{F5654202-DA22-530A-8080-A7F6E69F7160}"/>
              </a:ext>
            </a:extLst>
          </p:cNvPr>
          <p:cNvPicPr preferRelativeResize="0"/>
          <p:nvPr/>
        </p:nvPicPr>
        <p:blipFill rotWithShape="1">
          <a:blip r:embed="rId2">
            <a:alphaModFix/>
          </a:blip>
          <a:srcRect/>
          <a:stretch/>
        </p:blipFill>
        <p:spPr>
          <a:xfrm>
            <a:off x="0" y="1"/>
            <a:ext cx="2210765" cy="755015"/>
          </a:xfrm>
          <a:prstGeom prst="rect">
            <a:avLst/>
          </a:prstGeom>
          <a:noFill/>
          <a:ln>
            <a:noFill/>
          </a:ln>
        </p:spPr>
      </p:pic>
      <p:pic>
        <p:nvPicPr>
          <p:cNvPr id="8" name="Picture 7">
            <a:extLst>
              <a:ext uri="{FF2B5EF4-FFF2-40B4-BE49-F238E27FC236}">
                <a16:creationId xmlns:a16="http://schemas.microsoft.com/office/drawing/2014/main" id="{1B3BF921-08F1-BF8B-D1FD-342E53854EF8}"/>
              </a:ext>
            </a:extLst>
          </p:cNvPr>
          <p:cNvPicPr>
            <a:picLocks noChangeAspect="1"/>
          </p:cNvPicPr>
          <p:nvPr/>
        </p:nvPicPr>
        <p:blipFill>
          <a:blip r:embed="rId3"/>
          <a:stretch>
            <a:fillRect/>
          </a:stretch>
        </p:blipFill>
        <p:spPr>
          <a:xfrm>
            <a:off x="205350" y="2084832"/>
            <a:ext cx="4268327" cy="3803951"/>
          </a:xfrm>
          <a:prstGeom prst="rect">
            <a:avLst/>
          </a:prstGeom>
        </p:spPr>
      </p:pic>
      <p:sp>
        <p:nvSpPr>
          <p:cNvPr id="10" name="AutoShape 2">
            <a:extLst>
              <a:ext uri="{FF2B5EF4-FFF2-40B4-BE49-F238E27FC236}">
                <a16:creationId xmlns:a16="http://schemas.microsoft.com/office/drawing/2014/main" id="{D7CEC820-0A42-6D02-C69D-BC13E11BC54F}"/>
              </a:ext>
            </a:extLst>
          </p:cNvPr>
          <p:cNvSpPr>
            <a:spLocks noChangeAspect="1" noChangeArrowheads="1"/>
          </p:cNvSpPr>
          <p:nvPr/>
        </p:nvSpPr>
        <p:spPr bwMode="auto">
          <a:xfrm>
            <a:off x="5943600" y="3276600"/>
            <a:ext cx="2984090" cy="298409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7" name="Picture 16">
            <a:extLst>
              <a:ext uri="{FF2B5EF4-FFF2-40B4-BE49-F238E27FC236}">
                <a16:creationId xmlns:a16="http://schemas.microsoft.com/office/drawing/2014/main" id="{0F1C2230-B1B2-A0F0-2D00-27DBD3A5C30C}"/>
              </a:ext>
            </a:extLst>
          </p:cNvPr>
          <p:cNvPicPr>
            <a:picLocks noChangeAspect="1"/>
          </p:cNvPicPr>
          <p:nvPr/>
        </p:nvPicPr>
        <p:blipFill>
          <a:blip r:embed="rId4"/>
          <a:stretch>
            <a:fillRect/>
          </a:stretch>
        </p:blipFill>
        <p:spPr>
          <a:xfrm>
            <a:off x="4792995" y="1875283"/>
            <a:ext cx="4457150" cy="4129135"/>
          </a:xfrm>
          <a:prstGeom prst="rect">
            <a:avLst/>
          </a:prstGeom>
        </p:spPr>
      </p:pic>
      <p:sp>
        <p:nvSpPr>
          <p:cNvPr id="18" name="TextBox 17">
            <a:extLst>
              <a:ext uri="{FF2B5EF4-FFF2-40B4-BE49-F238E27FC236}">
                <a16:creationId xmlns:a16="http://schemas.microsoft.com/office/drawing/2014/main" id="{89680E59-23B9-5F34-7DFC-66578F331E1D}"/>
              </a:ext>
            </a:extLst>
          </p:cNvPr>
          <p:cNvSpPr txBox="1"/>
          <p:nvPr/>
        </p:nvSpPr>
        <p:spPr>
          <a:xfrm>
            <a:off x="9665110" y="3185652"/>
            <a:ext cx="1966451" cy="369332"/>
          </a:xfrm>
          <a:prstGeom prst="rect">
            <a:avLst/>
          </a:prstGeom>
          <a:noFill/>
        </p:spPr>
        <p:txBody>
          <a:bodyPr wrap="square" rtlCol="0">
            <a:spAutoFit/>
          </a:bodyPr>
          <a:lstStyle/>
          <a:p>
            <a:pPr algn="ctr"/>
            <a:r>
              <a:rPr lang="en-IN" dirty="0"/>
              <a:t>Terminal</a:t>
            </a:r>
          </a:p>
        </p:txBody>
      </p:sp>
    </p:spTree>
    <p:extLst>
      <p:ext uri="{BB962C8B-B14F-4D97-AF65-F5344CB8AC3E}">
        <p14:creationId xmlns:p14="http://schemas.microsoft.com/office/powerpoint/2010/main" val="3004063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Dataset Description</a:t>
            </a:r>
          </a:p>
        </p:txBody>
      </p:sp>
      <p:sp>
        <p:nvSpPr>
          <p:cNvPr id="3" name="Content Placeholder 2"/>
          <p:cNvSpPr>
            <a:spLocks noGrp="1"/>
          </p:cNvSpPr>
          <p:nvPr>
            <p:ph idx="1"/>
          </p:nvPr>
        </p:nvSpPr>
        <p:spPr/>
        <p:txBody>
          <a:bodyPr/>
          <a:lstStyle/>
          <a:p>
            <a:pPr marL="0" indent="0">
              <a:buNone/>
            </a:pPr>
            <a:r>
              <a:rPr dirty="0"/>
              <a:t>• Dataset Source</a:t>
            </a:r>
            <a:r>
              <a:rPr lang="en-IN" dirty="0"/>
              <a:t>: FaceForensics++, DFDC, ASVspoof, etc</a:t>
            </a:r>
            <a:endParaRPr dirty="0"/>
          </a:p>
          <a:p>
            <a:pPr marL="0" indent="0">
              <a:buNone/>
            </a:pPr>
            <a:r>
              <a:rPr dirty="0"/>
              <a:t>• Number of Records</a:t>
            </a:r>
            <a:r>
              <a:rPr lang="en-IN" dirty="0"/>
              <a:t>: 0.15M</a:t>
            </a:r>
            <a:endParaRPr dirty="0"/>
          </a:p>
          <a:p>
            <a:pPr marL="0" indent="0">
              <a:buNone/>
            </a:pPr>
            <a:r>
              <a:rPr dirty="0"/>
              <a:t>• Attributes/Features Used</a:t>
            </a:r>
            <a:r>
              <a:rPr lang="en-IN" dirty="0"/>
              <a:t>: Facial patterns, Audio spectrograms</a:t>
            </a:r>
            <a:endParaRPr dirty="0"/>
          </a:p>
          <a:p>
            <a:pPr marL="0" indent="0">
              <a:buNone/>
            </a:pPr>
            <a:r>
              <a:rPr dirty="0"/>
              <a:t>• Data Preparation Steps</a:t>
            </a:r>
            <a:r>
              <a:rPr lang="en-IN" dirty="0"/>
              <a:t>: Face extraction, Audio normalization</a:t>
            </a:r>
            <a:endParaRPr dirty="0"/>
          </a:p>
        </p:txBody>
      </p:sp>
      <p:sp>
        <p:nvSpPr>
          <p:cNvPr id="5" name="Footer Placeholder 4">
            <a:extLst>
              <a:ext uri="{FF2B5EF4-FFF2-40B4-BE49-F238E27FC236}">
                <a16:creationId xmlns:a16="http://schemas.microsoft.com/office/drawing/2014/main" id="{9306CCB6-DC77-A141-AB76-023EDC3E1DAA}"/>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89C69604-3472-2330-C7C9-F3DD28E1A294}"/>
              </a:ext>
            </a:extLst>
          </p:cNvPr>
          <p:cNvSpPr>
            <a:spLocks noGrp="1"/>
          </p:cNvSpPr>
          <p:nvPr>
            <p:ph type="sldNum" sz="quarter" idx="12"/>
          </p:nvPr>
        </p:nvSpPr>
        <p:spPr/>
        <p:txBody>
          <a:bodyPr>
            <a:normAutofit/>
          </a:bodyPr>
          <a:lstStyle/>
          <a:p>
            <a:fld id="{C1FF6DA9-008F-8B48-92A6-B652298478BF}" type="slidenum">
              <a:rPr lang="en-US" smtClean="0"/>
              <a:t>18</a:t>
            </a:fld>
            <a:endParaRPr lang="en-US"/>
          </a:p>
        </p:txBody>
      </p:sp>
      <p:pic>
        <p:nvPicPr>
          <p:cNvPr id="4" name="Google Shape;90;p1">
            <a:extLst>
              <a:ext uri="{FF2B5EF4-FFF2-40B4-BE49-F238E27FC236}">
                <a16:creationId xmlns:a16="http://schemas.microsoft.com/office/drawing/2014/main" id="{8F15CF43-7553-514F-5E7C-67813C8EE0C5}"/>
              </a:ext>
            </a:extLst>
          </p:cNvPr>
          <p:cNvPicPr preferRelativeResize="0"/>
          <p:nvPr/>
        </p:nvPicPr>
        <p:blipFill rotWithShape="1">
          <a:blip r:embed="rId2">
            <a:alphaModFix/>
          </a:blip>
          <a:srcRect/>
          <a:stretch/>
        </p:blipFill>
        <p:spPr>
          <a:xfrm>
            <a:off x="0" y="23214"/>
            <a:ext cx="2210765" cy="75501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Experimental Results</a:t>
            </a:r>
          </a:p>
        </p:txBody>
      </p:sp>
      <p:sp>
        <p:nvSpPr>
          <p:cNvPr id="5" name="Footer Placeholder 4">
            <a:extLst>
              <a:ext uri="{FF2B5EF4-FFF2-40B4-BE49-F238E27FC236}">
                <a16:creationId xmlns:a16="http://schemas.microsoft.com/office/drawing/2014/main" id="{FE61B49B-EF98-0B13-243B-864E6FF63017}"/>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4BBDCE82-7F45-EAE5-9536-596F2F5239E6}"/>
              </a:ext>
            </a:extLst>
          </p:cNvPr>
          <p:cNvSpPr>
            <a:spLocks noGrp="1"/>
          </p:cNvSpPr>
          <p:nvPr>
            <p:ph type="sldNum" sz="quarter" idx="12"/>
          </p:nvPr>
        </p:nvSpPr>
        <p:spPr/>
        <p:txBody>
          <a:bodyPr>
            <a:normAutofit/>
          </a:bodyPr>
          <a:lstStyle/>
          <a:p>
            <a:fld id="{C1FF6DA9-008F-8B48-92A6-B652298478BF}" type="slidenum">
              <a:rPr lang="en-US" smtClean="0"/>
              <a:t>19</a:t>
            </a:fld>
            <a:endParaRPr lang="en-US"/>
          </a:p>
        </p:txBody>
      </p:sp>
      <p:pic>
        <p:nvPicPr>
          <p:cNvPr id="4" name="Google Shape;90;p1">
            <a:extLst>
              <a:ext uri="{FF2B5EF4-FFF2-40B4-BE49-F238E27FC236}">
                <a16:creationId xmlns:a16="http://schemas.microsoft.com/office/drawing/2014/main" id="{AFCE3519-886E-4CEF-06BA-116075DE8005}"/>
              </a:ext>
            </a:extLst>
          </p:cNvPr>
          <p:cNvPicPr preferRelativeResize="0"/>
          <p:nvPr/>
        </p:nvPicPr>
        <p:blipFill rotWithShape="1">
          <a:blip r:embed="rId2">
            <a:alphaModFix/>
          </a:blip>
          <a:srcRect/>
          <a:stretch/>
        </p:blipFill>
        <p:spPr>
          <a:xfrm>
            <a:off x="0" y="44451"/>
            <a:ext cx="2210765" cy="755015"/>
          </a:xfrm>
          <a:prstGeom prst="rect">
            <a:avLst/>
          </a:prstGeom>
          <a:noFill/>
          <a:ln>
            <a:noFill/>
          </a:ln>
        </p:spPr>
      </p:pic>
      <p:graphicFrame>
        <p:nvGraphicFramePr>
          <p:cNvPr id="10" name="Content Placeholder 9">
            <a:extLst>
              <a:ext uri="{FF2B5EF4-FFF2-40B4-BE49-F238E27FC236}">
                <a16:creationId xmlns:a16="http://schemas.microsoft.com/office/drawing/2014/main" id="{0DD562C0-D766-C399-E7EA-B08798A02D71}"/>
              </a:ext>
            </a:extLst>
          </p:cNvPr>
          <p:cNvGraphicFramePr>
            <a:graphicFrameLocks noGrp="1"/>
          </p:cNvGraphicFramePr>
          <p:nvPr>
            <p:ph idx="1"/>
            <p:extLst>
              <p:ext uri="{D42A27DB-BD31-4B8C-83A1-F6EECF244321}">
                <p14:modId xmlns:p14="http://schemas.microsoft.com/office/powerpoint/2010/main" val="1283388339"/>
              </p:ext>
            </p:extLst>
          </p:nvPr>
        </p:nvGraphicFramePr>
        <p:xfrm>
          <a:off x="1023938" y="2286000"/>
          <a:ext cx="9720262" cy="402272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Result Discussion</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Key Observations</a:t>
            </a:r>
          </a:p>
          <a:p>
            <a:pPr marL="0" indent="0">
              <a:buNone/>
            </a:pPr>
            <a:r>
              <a:rPr lang="en-US" dirty="0"/>
              <a:t>- DeepShield consistently shows stronger performance compared to unimodal baselines.</a:t>
            </a:r>
          </a:p>
          <a:p>
            <a:pPr marL="0" indent="0">
              <a:buNone/>
            </a:pPr>
            <a:r>
              <a:rPr lang="en-US" dirty="0"/>
              <a:t>- Adaptive fusion improves robustness against domain shifts and unseen manipulations.</a:t>
            </a:r>
          </a:p>
          <a:p>
            <a:pPr marL="0" indent="0">
              <a:buNone/>
            </a:pPr>
            <a:r>
              <a:rPr lang="en-US" dirty="0"/>
              <a:t>- Explainable outputs (heatmaps, attention maps) enhance trust and forensic usability.</a:t>
            </a:r>
          </a:p>
          <a:p>
            <a:pPr marL="0" indent="0">
              <a:buNone/>
            </a:pPr>
            <a:r>
              <a:rPr lang="en-US" b="1" dirty="0"/>
              <a:t>Performance Improvements</a:t>
            </a:r>
          </a:p>
          <a:p>
            <a:pPr marL="0" indent="0">
              <a:buNone/>
            </a:pPr>
            <a:r>
              <a:rPr lang="en-US" dirty="0"/>
              <a:t>- Achieved higher accuracy on benchmark datasets compared to existing models.</a:t>
            </a:r>
          </a:p>
          <a:p>
            <a:pPr marL="0" indent="0">
              <a:buNone/>
            </a:pPr>
            <a:r>
              <a:rPr lang="en-US" dirty="0"/>
              <a:t>- Audio detection errors reduced significantly, showing stronger resilience.</a:t>
            </a:r>
          </a:p>
          <a:p>
            <a:pPr marL="0" indent="0">
              <a:buNone/>
            </a:pPr>
            <a:r>
              <a:rPr lang="en-US" dirty="0"/>
              <a:t>- Maintains lightweight efficiency with real-time inference capability.</a:t>
            </a:r>
          </a:p>
          <a:p>
            <a:pPr marL="0" indent="0">
              <a:buNone/>
            </a:pPr>
            <a:r>
              <a:rPr lang="en-US" b="1" dirty="0"/>
              <a:t>Comparison with Existing Methods</a:t>
            </a:r>
          </a:p>
          <a:p>
            <a:pPr marL="0" indent="0">
              <a:buNone/>
            </a:pPr>
            <a:r>
              <a:rPr lang="en-US" dirty="0"/>
              <a:t>- Performs better than traditional visual-only and audio-only detectors.</a:t>
            </a:r>
          </a:p>
          <a:p>
            <a:pPr marL="0" indent="0">
              <a:buNone/>
            </a:pPr>
            <a:r>
              <a:rPr lang="en-US" dirty="0"/>
              <a:t>- Provides multi-modal support unlike unimodal systems.</a:t>
            </a:r>
          </a:p>
          <a:p>
            <a:pPr marL="0" indent="0">
              <a:buNone/>
            </a:pPr>
            <a:r>
              <a:rPr lang="en-US" dirty="0"/>
              <a:t>- Adds forensic explainability missing in prior black-box models.</a:t>
            </a:r>
          </a:p>
        </p:txBody>
      </p:sp>
      <p:sp>
        <p:nvSpPr>
          <p:cNvPr id="5" name="Footer Placeholder 4">
            <a:extLst>
              <a:ext uri="{FF2B5EF4-FFF2-40B4-BE49-F238E27FC236}">
                <a16:creationId xmlns:a16="http://schemas.microsoft.com/office/drawing/2014/main" id="{B30D5BDC-036D-CAB2-AA26-7B210F2BFD17}"/>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689A660B-1E5C-902E-868B-740E762D6743}"/>
              </a:ext>
            </a:extLst>
          </p:cNvPr>
          <p:cNvSpPr>
            <a:spLocks noGrp="1"/>
          </p:cNvSpPr>
          <p:nvPr>
            <p:ph type="sldNum" sz="quarter" idx="12"/>
          </p:nvPr>
        </p:nvSpPr>
        <p:spPr/>
        <p:txBody>
          <a:bodyPr>
            <a:normAutofit/>
          </a:bodyPr>
          <a:lstStyle/>
          <a:p>
            <a:fld id="{C1FF6DA9-008F-8B48-92A6-B652298478BF}" type="slidenum">
              <a:rPr lang="en-US" smtClean="0"/>
              <a:t>20</a:t>
            </a:fld>
            <a:endParaRPr lang="en-US"/>
          </a:p>
        </p:txBody>
      </p:sp>
      <p:pic>
        <p:nvPicPr>
          <p:cNvPr id="4" name="Google Shape;90;p1">
            <a:extLst>
              <a:ext uri="{FF2B5EF4-FFF2-40B4-BE49-F238E27FC236}">
                <a16:creationId xmlns:a16="http://schemas.microsoft.com/office/drawing/2014/main" id="{4569CBC8-2ED2-18AE-816C-766C17C2DFF3}"/>
              </a:ext>
            </a:extLst>
          </p:cNvPr>
          <p:cNvPicPr preferRelativeResize="0"/>
          <p:nvPr/>
        </p:nvPicPr>
        <p:blipFill rotWithShape="1">
          <a:blip r:embed="rId2">
            <a:alphaModFix/>
          </a:blip>
          <a:srcRect/>
          <a:stretch/>
        </p:blipFill>
        <p:spPr>
          <a:xfrm>
            <a:off x="0" y="44451"/>
            <a:ext cx="2210765" cy="75501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Work Completed So Far</a:t>
            </a:r>
          </a:p>
        </p:txBody>
      </p:sp>
      <p:sp>
        <p:nvSpPr>
          <p:cNvPr id="3" name="Content Placeholder 2"/>
          <p:cNvSpPr>
            <a:spLocks noGrp="1"/>
          </p:cNvSpPr>
          <p:nvPr>
            <p:ph idx="1"/>
          </p:nvPr>
        </p:nvSpPr>
        <p:spPr/>
        <p:txBody>
          <a:bodyPr/>
          <a:lstStyle/>
          <a:p>
            <a:pPr marL="0" indent="0">
              <a:buNone/>
            </a:pPr>
            <a:r>
              <a:rPr lang="en-US" dirty="0"/>
              <a:t>• Literature review completed</a:t>
            </a:r>
            <a:br>
              <a:rPr lang="en-US" dirty="0"/>
            </a:br>
            <a:r>
              <a:rPr lang="en-US" dirty="0"/>
              <a:t>• Dataset collection done</a:t>
            </a:r>
            <a:br>
              <a:rPr lang="en-US" dirty="0"/>
            </a:br>
            <a:r>
              <a:rPr lang="en-US" dirty="0"/>
              <a:t>• Audio and Visual module implemented</a:t>
            </a:r>
            <a:br>
              <a:rPr lang="en-US" dirty="0"/>
            </a:br>
            <a:r>
              <a:rPr lang="en-US" dirty="0"/>
              <a:t>• UI prototype ready</a:t>
            </a:r>
            <a:br>
              <a:rPr lang="en-US" dirty="0"/>
            </a:br>
            <a:r>
              <a:rPr lang="en-US" dirty="0"/>
              <a:t>• Initial model training completed</a:t>
            </a:r>
            <a:endParaRPr dirty="0"/>
          </a:p>
        </p:txBody>
      </p:sp>
      <p:sp>
        <p:nvSpPr>
          <p:cNvPr id="5" name="Footer Placeholder 4">
            <a:extLst>
              <a:ext uri="{FF2B5EF4-FFF2-40B4-BE49-F238E27FC236}">
                <a16:creationId xmlns:a16="http://schemas.microsoft.com/office/drawing/2014/main" id="{7756EA96-A8C4-04F0-2A82-DE82A3A54E97}"/>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197BDEF4-9C88-5761-F507-0D537156B79D}"/>
              </a:ext>
            </a:extLst>
          </p:cNvPr>
          <p:cNvSpPr>
            <a:spLocks noGrp="1"/>
          </p:cNvSpPr>
          <p:nvPr>
            <p:ph type="sldNum" sz="quarter" idx="12"/>
          </p:nvPr>
        </p:nvSpPr>
        <p:spPr/>
        <p:txBody>
          <a:bodyPr>
            <a:normAutofit/>
          </a:bodyPr>
          <a:lstStyle/>
          <a:p>
            <a:fld id="{C1FF6DA9-008F-8B48-92A6-B652298478BF}" type="slidenum">
              <a:rPr lang="en-US" smtClean="0"/>
              <a:t>21</a:t>
            </a:fld>
            <a:endParaRPr lang="en-US"/>
          </a:p>
        </p:txBody>
      </p:sp>
      <p:pic>
        <p:nvPicPr>
          <p:cNvPr id="4" name="Google Shape;90;p1">
            <a:extLst>
              <a:ext uri="{FF2B5EF4-FFF2-40B4-BE49-F238E27FC236}">
                <a16:creationId xmlns:a16="http://schemas.microsoft.com/office/drawing/2014/main" id="{060FEF51-7DFB-F6BA-5228-2038139364CC}"/>
              </a:ext>
            </a:extLst>
          </p:cNvPr>
          <p:cNvPicPr preferRelativeResize="0"/>
          <p:nvPr/>
        </p:nvPicPr>
        <p:blipFill rotWithShape="1">
          <a:blip r:embed="rId2">
            <a:alphaModFix/>
          </a:blip>
          <a:srcRect/>
          <a:stretch/>
        </p:blipFill>
        <p:spPr>
          <a:xfrm>
            <a:off x="0" y="1"/>
            <a:ext cx="2210765" cy="75501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Publication Status</a:t>
            </a:r>
          </a:p>
        </p:txBody>
      </p:sp>
      <p:sp>
        <p:nvSpPr>
          <p:cNvPr id="3" name="Content Placeholder 2"/>
          <p:cNvSpPr>
            <a:spLocks noGrp="1"/>
          </p:cNvSpPr>
          <p:nvPr>
            <p:ph idx="1"/>
          </p:nvPr>
        </p:nvSpPr>
        <p:spPr/>
        <p:txBody>
          <a:bodyPr/>
          <a:lstStyle/>
          <a:p>
            <a:pPr marL="0" indent="0">
              <a:buNone/>
            </a:pPr>
            <a:r>
              <a:rPr dirty="0"/>
              <a:t>• Target Journal/Conference</a:t>
            </a:r>
            <a:r>
              <a:rPr lang="en-IN" dirty="0"/>
              <a:t>: IEEE, Springer, and Elsevier</a:t>
            </a:r>
            <a:endParaRPr dirty="0"/>
          </a:p>
          <a:p>
            <a:pPr marL="0" indent="0" algn="just">
              <a:buNone/>
            </a:pPr>
            <a:r>
              <a:rPr dirty="0"/>
              <a:t>• Paper Title</a:t>
            </a:r>
            <a:r>
              <a:rPr lang="en-IN" dirty="0"/>
              <a:t>: </a:t>
            </a:r>
            <a:r>
              <a:rPr lang="en-US" dirty="0"/>
              <a:t>DeepShield: AI-Powered Digital Forensics for Multi-Modal Deepfake Detection and Mitigation</a:t>
            </a:r>
            <a:endParaRPr dirty="0"/>
          </a:p>
          <a:p>
            <a:pPr marL="0" indent="0">
              <a:buNone/>
            </a:pPr>
            <a:r>
              <a:rPr dirty="0"/>
              <a:t>• Manuscript Preparation / Submission Status</a:t>
            </a:r>
            <a:r>
              <a:rPr lang="en-IN" dirty="0"/>
              <a:t>: </a:t>
            </a:r>
            <a:r>
              <a:rPr lang="en-US" dirty="0"/>
              <a:t>Prepared manuscript under institutional verification process (plagiarism/AI content check ongoing)</a:t>
            </a:r>
            <a:endParaRPr dirty="0"/>
          </a:p>
        </p:txBody>
      </p:sp>
      <p:sp>
        <p:nvSpPr>
          <p:cNvPr id="5" name="Footer Placeholder 4">
            <a:extLst>
              <a:ext uri="{FF2B5EF4-FFF2-40B4-BE49-F238E27FC236}">
                <a16:creationId xmlns:a16="http://schemas.microsoft.com/office/drawing/2014/main" id="{B9DF9526-BDF6-F9FF-14D3-DC2C3BF7AD06}"/>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6B5CCFEE-EBB1-2FB9-6A83-FEA80A689610}"/>
              </a:ext>
            </a:extLst>
          </p:cNvPr>
          <p:cNvSpPr>
            <a:spLocks noGrp="1"/>
          </p:cNvSpPr>
          <p:nvPr>
            <p:ph type="sldNum" sz="quarter" idx="12"/>
          </p:nvPr>
        </p:nvSpPr>
        <p:spPr/>
        <p:txBody>
          <a:bodyPr>
            <a:normAutofit/>
          </a:bodyPr>
          <a:lstStyle/>
          <a:p>
            <a:fld id="{C1FF6DA9-008F-8B48-92A6-B652298478BF}" type="slidenum">
              <a:rPr lang="en-US" smtClean="0"/>
              <a:t>22</a:t>
            </a:fld>
            <a:endParaRPr lang="en-US"/>
          </a:p>
        </p:txBody>
      </p:sp>
      <p:pic>
        <p:nvPicPr>
          <p:cNvPr id="4" name="Google Shape;90;p1">
            <a:extLst>
              <a:ext uri="{FF2B5EF4-FFF2-40B4-BE49-F238E27FC236}">
                <a16:creationId xmlns:a16="http://schemas.microsoft.com/office/drawing/2014/main" id="{591A32A8-78CF-2D17-951E-B7C62E27E601}"/>
              </a:ext>
            </a:extLst>
          </p:cNvPr>
          <p:cNvPicPr preferRelativeResize="0"/>
          <p:nvPr/>
        </p:nvPicPr>
        <p:blipFill rotWithShape="1">
          <a:blip r:embed="rId2">
            <a:alphaModFix/>
          </a:blip>
          <a:srcRect/>
          <a:stretch/>
        </p:blipFill>
        <p:spPr>
          <a:xfrm>
            <a:off x="0" y="44451"/>
            <a:ext cx="2210765" cy="75501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Work Plan for Final Review</a:t>
            </a:r>
          </a:p>
        </p:txBody>
      </p:sp>
      <p:sp>
        <p:nvSpPr>
          <p:cNvPr id="3" name="Content Placeholder 2"/>
          <p:cNvSpPr>
            <a:spLocks noGrp="1"/>
          </p:cNvSpPr>
          <p:nvPr>
            <p:ph idx="1"/>
          </p:nvPr>
        </p:nvSpPr>
        <p:spPr/>
        <p:txBody>
          <a:bodyPr/>
          <a:lstStyle/>
          <a:p>
            <a:pPr>
              <a:buClr>
                <a:schemeClr val="tx1"/>
              </a:buClr>
              <a:buFont typeface="Arial" panose="020B0604020202020204" pitchFamily="34" charset="0"/>
              <a:buChar char="•"/>
            </a:pPr>
            <a:r>
              <a:rPr lang="en-US" dirty="0"/>
              <a:t> Model optimization</a:t>
            </a:r>
          </a:p>
          <a:p>
            <a:pPr>
              <a:buClr>
                <a:schemeClr val="tx1"/>
              </a:buClr>
              <a:buFont typeface="Arial" panose="020B0604020202020204" pitchFamily="34" charset="0"/>
              <a:buChar char="•"/>
            </a:pPr>
            <a:r>
              <a:rPr lang="en-US" dirty="0"/>
              <a:t> Improve accuracy</a:t>
            </a:r>
          </a:p>
          <a:p>
            <a:pPr>
              <a:buClr>
                <a:schemeClr val="tx1"/>
              </a:buClr>
              <a:buFont typeface="Arial" panose="020B0604020202020204" pitchFamily="34" charset="0"/>
              <a:buChar char="•"/>
            </a:pPr>
            <a:r>
              <a:rPr lang="en-US" dirty="0"/>
              <a:t> Paper submission</a:t>
            </a:r>
          </a:p>
          <a:p>
            <a:pPr>
              <a:buClr>
                <a:schemeClr val="tx1"/>
              </a:buClr>
              <a:buFont typeface="Arial" panose="020B0604020202020204" pitchFamily="34" charset="0"/>
              <a:buChar char="•"/>
            </a:pPr>
            <a:r>
              <a:rPr lang="en-US" dirty="0"/>
              <a:t> Final UI polish</a:t>
            </a:r>
          </a:p>
          <a:p>
            <a:pPr>
              <a:buClr>
                <a:schemeClr val="tx1"/>
              </a:buClr>
              <a:buFont typeface="Arial" panose="020B0604020202020204" pitchFamily="34" charset="0"/>
              <a:buChar char="•"/>
            </a:pPr>
            <a:r>
              <a:rPr lang="en-US" dirty="0"/>
              <a:t> Documentation</a:t>
            </a:r>
          </a:p>
          <a:p>
            <a:pPr>
              <a:buClr>
                <a:schemeClr val="tx1"/>
              </a:buClr>
              <a:buFont typeface="Arial" panose="020B0604020202020204" pitchFamily="34" charset="0"/>
              <a:buChar char="•"/>
            </a:pPr>
            <a:r>
              <a:rPr lang="en-US" dirty="0"/>
              <a:t> Database Connectivity</a:t>
            </a:r>
          </a:p>
        </p:txBody>
      </p:sp>
      <p:sp>
        <p:nvSpPr>
          <p:cNvPr id="5" name="Footer Placeholder 4">
            <a:extLst>
              <a:ext uri="{FF2B5EF4-FFF2-40B4-BE49-F238E27FC236}">
                <a16:creationId xmlns:a16="http://schemas.microsoft.com/office/drawing/2014/main" id="{BA741A4C-4730-E288-14FE-73164F48E4FC}"/>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DCAA2CDF-B7B1-7449-EB4C-0213A0040F00}"/>
              </a:ext>
            </a:extLst>
          </p:cNvPr>
          <p:cNvSpPr>
            <a:spLocks noGrp="1"/>
          </p:cNvSpPr>
          <p:nvPr>
            <p:ph type="sldNum" sz="quarter" idx="12"/>
          </p:nvPr>
        </p:nvSpPr>
        <p:spPr/>
        <p:txBody>
          <a:bodyPr>
            <a:normAutofit/>
          </a:bodyPr>
          <a:lstStyle/>
          <a:p>
            <a:fld id="{C1FF6DA9-008F-8B48-92A6-B652298478BF}" type="slidenum">
              <a:rPr lang="en-US" smtClean="0"/>
              <a:t>23</a:t>
            </a:fld>
            <a:endParaRPr lang="en-US"/>
          </a:p>
        </p:txBody>
      </p:sp>
      <p:pic>
        <p:nvPicPr>
          <p:cNvPr id="4" name="Google Shape;90;p1">
            <a:extLst>
              <a:ext uri="{FF2B5EF4-FFF2-40B4-BE49-F238E27FC236}">
                <a16:creationId xmlns:a16="http://schemas.microsoft.com/office/drawing/2014/main" id="{A677E5E7-111D-A415-12AC-369846758CAE}"/>
              </a:ext>
            </a:extLst>
          </p:cNvPr>
          <p:cNvPicPr preferRelativeResize="0"/>
          <p:nvPr/>
        </p:nvPicPr>
        <p:blipFill rotWithShape="1">
          <a:blip r:embed="rId2">
            <a:alphaModFix/>
          </a:blip>
          <a:srcRect/>
          <a:stretch/>
        </p:blipFill>
        <p:spPr>
          <a:xfrm>
            <a:off x="0" y="44451"/>
            <a:ext cx="2210765" cy="75501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Challenges Faced</a:t>
            </a:r>
          </a:p>
        </p:txBody>
      </p:sp>
      <p:sp>
        <p:nvSpPr>
          <p:cNvPr id="3" name="Content Placeholder 2"/>
          <p:cNvSpPr>
            <a:spLocks noGrp="1"/>
          </p:cNvSpPr>
          <p:nvPr>
            <p:ph idx="1"/>
          </p:nvPr>
        </p:nvSpPr>
        <p:spPr/>
        <p:txBody>
          <a:bodyPr>
            <a:normAutofit fontScale="92500" lnSpcReduction="10000"/>
          </a:bodyPr>
          <a:lstStyle/>
          <a:p>
            <a:r>
              <a:rPr lang="en-US" dirty="0"/>
              <a:t>• </a:t>
            </a:r>
            <a:r>
              <a:rPr lang="en-US" b="1" dirty="0"/>
              <a:t>Dataset Limitations: </a:t>
            </a:r>
            <a:r>
              <a:rPr lang="en-US" dirty="0"/>
              <a:t>Limited availability of diverse and labeled multi-modal datasets affecting generalization</a:t>
            </a:r>
          </a:p>
          <a:p>
            <a:r>
              <a:rPr lang="en-US" dirty="0"/>
              <a:t>• </a:t>
            </a:r>
            <a:r>
              <a:rPr lang="en-US" b="1" dirty="0"/>
              <a:t>Cross-Dataset Generalization: </a:t>
            </a:r>
            <a:r>
              <a:rPr lang="en-US" dirty="0"/>
              <a:t>Performance drop when tested on unseen deepfake techniques and real-world data</a:t>
            </a:r>
          </a:p>
          <a:p>
            <a:r>
              <a:rPr lang="en-US" dirty="0"/>
              <a:t>• </a:t>
            </a:r>
            <a:r>
              <a:rPr lang="en-US" b="1" dirty="0"/>
              <a:t>High Computational Cost: </a:t>
            </a:r>
            <a:r>
              <a:rPr lang="en-US" dirty="0"/>
              <a:t>Training and processing multi-modal models require significant resources</a:t>
            </a:r>
          </a:p>
          <a:p>
            <a:r>
              <a:rPr lang="en-US" dirty="0"/>
              <a:t>• </a:t>
            </a:r>
            <a:r>
              <a:rPr lang="en-US" b="1" dirty="0"/>
              <a:t>Model Overfitting: </a:t>
            </a:r>
            <a:r>
              <a:rPr lang="en-US" dirty="0"/>
              <a:t>Models tend to learn dataset-specific artifacts instead of generalized patterns</a:t>
            </a:r>
          </a:p>
          <a:p>
            <a:r>
              <a:rPr lang="en-US" dirty="0"/>
              <a:t>• </a:t>
            </a:r>
            <a:r>
              <a:rPr lang="en-US" b="1" dirty="0"/>
              <a:t>Multi-Modal Integration Complexity: </a:t>
            </a:r>
            <a:r>
              <a:rPr lang="en-US" dirty="0"/>
              <a:t>Difficulty in synchronizing and effectively combining audio and visual features</a:t>
            </a:r>
          </a:p>
          <a:p>
            <a:r>
              <a:rPr lang="en-US" dirty="0"/>
              <a:t>• </a:t>
            </a:r>
            <a:r>
              <a:rPr lang="en-US" b="1" dirty="0"/>
              <a:t>Real-World Degradation Issues: </a:t>
            </a:r>
            <a:r>
              <a:rPr lang="en-US" dirty="0"/>
              <a:t>Performance affected by compression, noise, low-light, and short-duration clips</a:t>
            </a:r>
          </a:p>
        </p:txBody>
      </p:sp>
      <p:sp>
        <p:nvSpPr>
          <p:cNvPr id="5" name="Footer Placeholder 4">
            <a:extLst>
              <a:ext uri="{FF2B5EF4-FFF2-40B4-BE49-F238E27FC236}">
                <a16:creationId xmlns:a16="http://schemas.microsoft.com/office/drawing/2014/main" id="{7F2ADEC1-41B3-1E4A-8E68-8F5378526518}"/>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A77E23EF-4429-99B6-D9A8-E04FE9E613EA}"/>
              </a:ext>
            </a:extLst>
          </p:cNvPr>
          <p:cNvSpPr>
            <a:spLocks noGrp="1"/>
          </p:cNvSpPr>
          <p:nvPr>
            <p:ph type="sldNum" sz="quarter" idx="12"/>
          </p:nvPr>
        </p:nvSpPr>
        <p:spPr/>
        <p:txBody>
          <a:bodyPr>
            <a:normAutofit/>
          </a:bodyPr>
          <a:lstStyle/>
          <a:p>
            <a:fld id="{C1FF6DA9-008F-8B48-92A6-B652298478BF}" type="slidenum">
              <a:rPr lang="en-US" smtClean="0"/>
              <a:t>24</a:t>
            </a:fld>
            <a:endParaRPr lang="en-US"/>
          </a:p>
        </p:txBody>
      </p:sp>
      <p:pic>
        <p:nvPicPr>
          <p:cNvPr id="4" name="Google Shape;90;p1">
            <a:extLst>
              <a:ext uri="{FF2B5EF4-FFF2-40B4-BE49-F238E27FC236}">
                <a16:creationId xmlns:a16="http://schemas.microsoft.com/office/drawing/2014/main" id="{FD91A46D-E09C-03D4-2772-AAAEF1EF485A}"/>
              </a:ext>
            </a:extLst>
          </p:cNvPr>
          <p:cNvPicPr preferRelativeResize="0"/>
          <p:nvPr/>
        </p:nvPicPr>
        <p:blipFill rotWithShape="1">
          <a:blip r:embed="rId2">
            <a:alphaModFix/>
          </a:blip>
          <a:srcRect/>
          <a:stretch/>
        </p:blipFill>
        <p:spPr>
          <a:xfrm>
            <a:off x="0" y="44451"/>
            <a:ext cx="2210765" cy="75501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Conclusion</a:t>
            </a:r>
          </a:p>
        </p:txBody>
      </p:sp>
      <p:sp>
        <p:nvSpPr>
          <p:cNvPr id="3" name="Content Placeholder 2"/>
          <p:cNvSpPr>
            <a:spLocks noGrp="1"/>
          </p:cNvSpPr>
          <p:nvPr>
            <p:ph idx="1"/>
          </p:nvPr>
        </p:nvSpPr>
        <p:spPr/>
        <p:txBody>
          <a:bodyPr/>
          <a:lstStyle/>
          <a:p>
            <a:pPr marL="0" indent="0">
              <a:buNone/>
            </a:pPr>
            <a:r>
              <a:rPr lang="en-US" dirty="0"/>
              <a:t>DeepShield is a multi-modal deepfake detection framework that integrates visual analysis using </a:t>
            </a:r>
            <a:r>
              <a:rPr lang="en-US" dirty="0" err="1"/>
              <a:t>MesoNet</a:t>
            </a:r>
            <a:r>
              <a:rPr lang="en-US" dirty="0"/>
              <a:t> and audio analysis using LCNN to achieve robust and reliable detection. The system demonstrates strong performance with approximately 97.2% accuracy on FaceForensics++ and improved cross-dataset generalization. By incorporating adaptive fusion and extension-aware routing, DeepShield effectively handles diverse real-world media formats and overcomes the limitations of unimodal systems. Additionally, the framework enhances transparency through explainable outputs such as heatmaps and confidence scores, making it suitable for forensic applications. Its lightweight architecture ensures efficient real-time and edge deployment. Future work will focus on improving generalization, incorporating temporal modeling, and enabling zero-shot adaptability to handle emerging deepfake techniques. DeepShield thus bridges the gap between high-performance research models and practical, deployable deepfake detection systems.</a:t>
            </a:r>
            <a:endParaRPr dirty="0"/>
          </a:p>
        </p:txBody>
      </p:sp>
      <p:sp>
        <p:nvSpPr>
          <p:cNvPr id="5" name="Footer Placeholder 4">
            <a:extLst>
              <a:ext uri="{FF2B5EF4-FFF2-40B4-BE49-F238E27FC236}">
                <a16:creationId xmlns:a16="http://schemas.microsoft.com/office/drawing/2014/main" id="{CF27DACE-474F-7CCC-B683-5E349E74B925}"/>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0FA06FCA-20B7-AA33-B8CE-E4DD0CA9922F}"/>
              </a:ext>
            </a:extLst>
          </p:cNvPr>
          <p:cNvSpPr>
            <a:spLocks noGrp="1"/>
          </p:cNvSpPr>
          <p:nvPr>
            <p:ph type="sldNum" sz="quarter" idx="12"/>
          </p:nvPr>
        </p:nvSpPr>
        <p:spPr/>
        <p:txBody>
          <a:bodyPr>
            <a:normAutofit/>
          </a:bodyPr>
          <a:lstStyle/>
          <a:p>
            <a:fld id="{C1FF6DA9-008F-8B48-92A6-B652298478BF}" type="slidenum">
              <a:rPr lang="en-US" smtClean="0"/>
              <a:t>25</a:t>
            </a:fld>
            <a:endParaRPr lang="en-US"/>
          </a:p>
        </p:txBody>
      </p:sp>
      <p:pic>
        <p:nvPicPr>
          <p:cNvPr id="4" name="Google Shape;90;p1">
            <a:extLst>
              <a:ext uri="{FF2B5EF4-FFF2-40B4-BE49-F238E27FC236}">
                <a16:creationId xmlns:a16="http://schemas.microsoft.com/office/drawing/2014/main" id="{C73E790E-6CC8-F106-1BA3-97A7462639E9}"/>
              </a:ext>
            </a:extLst>
          </p:cNvPr>
          <p:cNvPicPr preferRelativeResize="0"/>
          <p:nvPr/>
        </p:nvPicPr>
        <p:blipFill rotWithShape="1">
          <a:blip r:embed="rId2">
            <a:alphaModFix/>
          </a:blip>
          <a:srcRect/>
          <a:stretch/>
        </p:blipFill>
        <p:spPr>
          <a:xfrm>
            <a:off x="0" y="44451"/>
            <a:ext cx="2210765" cy="75501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rPr>
              <a:t>References</a:t>
            </a:r>
          </a:p>
        </p:txBody>
      </p:sp>
      <p:sp>
        <p:nvSpPr>
          <p:cNvPr id="3" name="Content Placeholder 2"/>
          <p:cNvSpPr>
            <a:spLocks noGrp="1"/>
          </p:cNvSpPr>
          <p:nvPr>
            <p:ph idx="1"/>
          </p:nvPr>
        </p:nvSpPr>
        <p:spPr/>
        <p:txBody>
          <a:bodyPr>
            <a:normAutofit fontScale="55000" lnSpcReduction="20000"/>
          </a:bodyPr>
          <a:lstStyle/>
          <a:p>
            <a:pPr algn="just"/>
            <a:r>
              <a:rPr lang="en-IN" dirty="0">
                <a:latin typeface="Times New Roman" panose="02020603050405020304" pitchFamily="18" charset="0"/>
                <a:cs typeface="Times New Roman" panose="02020603050405020304" pitchFamily="18" charset="0"/>
              </a:rPr>
              <a:t>[1] H. Farid, ‘‘Image forgery detection,’’ IEEE Signal Process. Mag., vol. 26, no. 2, pp. 16–25, Mar. 2009.</a:t>
            </a:r>
          </a:p>
          <a:p>
            <a:pPr algn="just"/>
            <a:r>
              <a:rPr lang="en-IN" dirty="0">
                <a:latin typeface="Times New Roman" panose="02020603050405020304" pitchFamily="18" charset="0"/>
                <a:cs typeface="Times New Roman" panose="02020603050405020304" pitchFamily="18" charset="0"/>
              </a:rPr>
              <a:t>[2] I. Goodfellow, J. Pouget-Abadie, M. Mirza, B. Xu, D. Warde-Farley, S. Ozair, A. Courville, and Y. Bengio, ‘‘Generative adversarial nets,’’ in Proc. Adv. Neural Inf. Process. Syst., vol. 27, 2014, pp. 1–9.</a:t>
            </a:r>
          </a:p>
          <a:p>
            <a:pPr algn="just"/>
            <a:r>
              <a:rPr lang="en-IN" dirty="0">
                <a:latin typeface="Times New Roman" panose="02020603050405020304" pitchFamily="18" charset="0"/>
                <a:cs typeface="Times New Roman" panose="02020603050405020304" pitchFamily="18" charset="0"/>
              </a:rPr>
              <a:t>[3] P. Baldi, ‘‘Autoencoders, unsupervised learning, and deep architectures,’’ in Proc. ICML Workshop Unsupervised Transf. Learn., 2012, pp. 37–49.</a:t>
            </a:r>
          </a:p>
          <a:p>
            <a:pPr algn="just"/>
            <a:r>
              <a:rPr lang="en-IN" dirty="0">
                <a:latin typeface="Times New Roman" panose="02020603050405020304" pitchFamily="18" charset="0"/>
                <a:cs typeface="Times New Roman" panose="02020603050405020304" pitchFamily="18" charset="0"/>
              </a:rPr>
              <a:t>[4] T. Karras, S. Laine, and T. Aila, ‘‘A style-based generator architecture for generative adversarial networks,’’ in Proc. IEEE/CVF Conf. </a:t>
            </a:r>
            <a:r>
              <a:rPr lang="en-IN" dirty="0" err="1">
                <a:latin typeface="Times New Roman" panose="02020603050405020304" pitchFamily="18" charset="0"/>
                <a:cs typeface="Times New Roman" panose="02020603050405020304" pitchFamily="18" charset="0"/>
              </a:rPr>
              <a:t>Comput</a:t>
            </a:r>
            <a:r>
              <a:rPr lang="en-IN" dirty="0">
                <a:latin typeface="Times New Roman" panose="02020603050405020304" pitchFamily="18" charset="0"/>
                <a:cs typeface="Times New Roman" panose="02020603050405020304" pitchFamily="18" charset="0"/>
              </a:rPr>
              <a:t>. Vis. Pattern </a:t>
            </a:r>
            <a:r>
              <a:rPr lang="en-IN" dirty="0" err="1">
                <a:latin typeface="Times New Roman" panose="02020603050405020304" pitchFamily="18" charset="0"/>
                <a:cs typeface="Times New Roman" panose="02020603050405020304" pitchFamily="18" charset="0"/>
              </a:rPr>
              <a:t>Recognit</a:t>
            </a:r>
            <a:r>
              <a:rPr lang="en-IN" dirty="0">
                <a:latin typeface="Times New Roman" panose="02020603050405020304" pitchFamily="18" charset="0"/>
                <a:cs typeface="Times New Roman" panose="02020603050405020304" pitchFamily="18" charset="0"/>
              </a:rPr>
              <a:t>. (CVPR), Jun. 2019, pp. 4401–4410.</a:t>
            </a:r>
          </a:p>
          <a:p>
            <a:pPr algn="just"/>
            <a:r>
              <a:rPr lang="en-IN" dirty="0">
                <a:latin typeface="Times New Roman" panose="02020603050405020304" pitchFamily="18" charset="0"/>
                <a:cs typeface="Times New Roman" panose="02020603050405020304" pitchFamily="18" charset="0"/>
              </a:rPr>
              <a:t>[5] Y. Mirsky and W. Lee, ‘‘The creation and detection of deepfakes: A survey,’’ ACM </a:t>
            </a:r>
            <a:r>
              <a:rPr lang="en-IN" dirty="0" err="1">
                <a:latin typeface="Times New Roman" panose="02020603050405020304" pitchFamily="18" charset="0"/>
                <a:cs typeface="Times New Roman" panose="02020603050405020304" pitchFamily="18" charset="0"/>
              </a:rPr>
              <a:t>Comput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Surv</a:t>
            </a:r>
            <a:r>
              <a:rPr lang="en-IN" dirty="0">
                <a:latin typeface="Times New Roman" panose="02020603050405020304" pitchFamily="18" charset="0"/>
                <a:cs typeface="Times New Roman" panose="02020603050405020304" pitchFamily="18" charset="0"/>
              </a:rPr>
              <a:t>., vol. 54, no. 1, pp. 1–41, Jan. 2022.</a:t>
            </a:r>
          </a:p>
          <a:p>
            <a:pPr algn="just"/>
            <a:r>
              <a:rPr lang="en-IN" dirty="0">
                <a:latin typeface="Times New Roman" panose="02020603050405020304" pitchFamily="18" charset="0"/>
                <a:cs typeface="Times New Roman" panose="02020603050405020304" pitchFamily="18" charset="0"/>
              </a:rPr>
              <a:t>[6] M. Masood, M. Nawaz, K. M. Malik, A. Javed, and A. Irtaza, ‘‘Deepfakes generation and detection: State-of-the-art, open challenges, countermeasures, and way forward,’’ 2021, arXiv:2103.00484.</a:t>
            </a:r>
          </a:p>
          <a:p>
            <a:pPr algn="just"/>
            <a:r>
              <a:rPr lang="en-IN" dirty="0">
                <a:latin typeface="Times New Roman" panose="02020603050405020304" pitchFamily="18" charset="0"/>
                <a:cs typeface="Times New Roman" panose="02020603050405020304" pitchFamily="18" charset="0"/>
              </a:rPr>
              <a:t>[7] R. </a:t>
            </a:r>
            <a:r>
              <a:rPr lang="en-IN" dirty="0" err="1">
                <a:latin typeface="Times New Roman" panose="02020603050405020304" pitchFamily="18" charset="0"/>
                <a:cs typeface="Times New Roman" panose="02020603050405020304" pitchFamily="18" charset="0"/>
              </a:rPr>
              <a:t>Tolosana</a:t>
            </a:r>
            <a:r>
              <a:rPr lang="en-IN" dirty="0">
                <a:latin typeface="Times New Roman" panose="02020603050405020304" pitchFamily="18" charset="0"/>
                <a:cs typeface="Times New Roman" panose="02020603050405020304" pitchFamily="18" charset="0"/>
              </a:rPr>
              <a:t>, R. Vera-Rodriguez, J. </a:t>
            </a:r>
            <a:r>
              <a:rPr lang="en-IN" dirty="0" err="1">
                <a:latin typeface="Times New Roman" panose="02020603050405020304" pitchFamily="18" charset="0"/>
                <a:cs typeface="Times New Roman" panose="02020603050405020304" pitchFamily="18" charset="0"/>
              </a:rPr>
              <a:t>Fierrez</a:t>
            </a:r>
            <a:r>
              <a:rPr lang="en-IN" dirty="0">
                <a:latin typeface="Times New Roman" panose="02020603050405020304" pitchFamily="18" charset="0"/>
                <a:cs typeface="Times New Roman" panose="02020603050405020304" pitchFamily="18" charset="0"/>
              </a:rPr>
              <a:t>, A. Morales, and J. Ortega-Garcia, ‘‘Deepfakes and beyond: A survey of face manipulation and fake detection,’’ Inf. Fusion, vol. 64, pp. 131–148, Dec. 2020.</a:t>
            </a:r>
          </a:p>
          <a:p>
            <a:pPr algn="just"/>
            <a:r>
              <a:rPr lang="en-IN" dirty="0">
                <a:latin typeface="Times New Roman" panose="02020603050405020304" pitchFamily="18" charset="0"/>
                <a:cs typeface="Times New Roman" panose="02020603050405020304" pitchFamily="18" charset="0"/>
              </a:rPr>
              <a:t>[8] T. T. Nguyen, Q. V. H. Nguyen, D. T. Nguyen, D. T. Nguyen, T. Huynh-The, S. </a:t>
            </a:r>
            <a:r>
              <a:rPr lang="en-IN" dirty="0" err="1">
                <a:latin typeface="Times New Roman" panose="02020603050405020304" pitchFamily="18" charset="0"/>
                <a:cs typeface="Times New Roman" panose="02020603050405020304" pitchFamily="18" charset="0"/>
              </a:rPr>
              <a:t>Nahavandi</a:t>
            </a:r>
            <a:r>
              <a:rPr lang="en-IN" dirty="0">
                <a:latin typeface="Times New Roman" panose="02020603050405020304" pitchFamily="18" charset="0"/>
                <a:cs typeface="Times New Roman" panose="02020603050405020304" pitchFamily="18" charset="0"/>
              </a:rPr>
              <a:t>, T. T. Nguyen, Q.-V. Pham, and C. M. Nguyen, ‘‘Deep learning for deepfakes creation and detection: A survey,’’ 2019, arXiv:1909.11573.</a:t>
            </a:r>
          </a:p>
          <a:p>
            <a:pPr algn="just"/>
            <a:r>
              <a:rPr lang="en-IN" dirty="0">
                <a:latin typeface="Times New Roman" panose="02020603050405020304" pitchFamily="18" charset="0"/>
                <a:cs typeface="Times New Roman" panose="02020603050405020304" pitchFamily="18" charset="0"/>
              </a:rPr>
              <a:t>[9] L. </a:t>
            </a:r>
            <a:r>
              <a:rPr lang="en-IN" dirty="0" err="1">
                <a:latin typeface="Times New Roman" panose="02020603050405020304" pitchFamily="18" charset="0"/>
                <a:cs typeface="Times New Roman" panose="02020603050405020304" pitchFamily="18" charset="0"/>
              </a:rPr>
              <a:t>Verdoliva</a:t>
            </a:r>
            <a:r>
              <a:rPr lang="en-IN" dirty="0">
                <a:latin typeface="Times New Roman" panose="02020603050405020304" pitchFamily="18" charset="0"/>
                <a:cs typeface="Times New Roman" panose="02020603050405020304" pitchFamily="18" charset="0"/>
              </a:rPr>
              <a:t>, ‘‘Media forensics and </a:t>
            </a:r>
            <a:r>
              <a:rPr lang="en-IN" dirty="0" err="1">
                <a:latin typeface="Times New Roman" panose="02020603050405020304" pitchFamily="18" charset="0"/>
                <a:cs typeface="Times New Roman" panose="02020603050405020304" pitchFamily="18" charset="0"/>
              </a:rPr>
              <a:t>DeepFakes</a:t>
            </a:r>
            <a:r>
              <a:rPr lang="en-IN" dirty="0">
                <a:latin typeface="Times New Roman" panose="02020603050405020304" pitchFamily="18" charset="0"/>
                <a:cs typeface="Times New Roman" panose="02020603050405020304" pitchFamily="18" charset="0"/>
              </a:rPr>
              <a:t>: An overview,’’ IEEE J. Sel. Topics Signal Process., vol. 14, no. 5, pp. 910–932, Aug. 2020.</a:t>
            </a:r>
          </a:p>
          <a:p>
            <a:pPr algn="just"/>
            <a:r>
              <a:rPr lang="en-IN" dirty="0">
                <a:latin typeface="Times New Roman" panose="02020603050405020304" pitchFamily="18" charset="0"/>
                <a:cs typeface="Times New Roman" panose="02020603050405020304" pitchFamily="18" charset="0"/>
              </a:rPr>
              <a:t>[10] K. Fukushima, ‘‘</a:t>
            </a:r>
            <a:r>
              <a:rPr lang="en-IN" dirty="0" err="1">
                <a:latin typeface="Times New Roman" panose="02020603050405020304" pitchFamily="18" charset="0"/>
                <a:cs typeface="Times New Roman" panose="02020603050405020304" pitchFamily="18" charset="0"/>
              </a:rPr>
              <a:t>Neocognitron</a:t>
            </a:r>
            <a:r>
              <a:rPr lang="en-IN" dirty="0">
                <a:latin typeface="Times New Roman" panose="02020603050405020304" pitchFamily="18" charset="0"/>
                <a:cs typeface="Times New Roman" panose="02020603050405020304" pitchFamily="18" charset="0"/>
              </a:rPr>
              <a:t>: A self-organizing neural network model for a mechanism of pattern recognition unaffected by shift in position,’’ Biol. </a:t>
            </a:r>
            <a:r>
              <a:rPr lang="en-IN" dirty="0" err="1">
                <a:latin typeface="Times New Roman" panose="02020603050405020304" pitchFamily="18" charset="0"/>
                <a:cs typeface="Times New Roman" panose="02020603050405020304" pitchFamily="18" charset="0"/>
              </a:rPr>
              <a:t>Cybern</a:t>
            </a:r>
            <a:r>
              <a:rPr lang="en-IN" dirty="0">
                <a:latin typeface="Times New Roman" panose="02020603050405020304" pitchFamily="18" charset="0"/>
                <a:cs typeface="Times New Roman" panose="02020603050405020304" pitchFamily="18" charset="0"/>
              </a:rPr>
              <a:t>., vol. 36, no. 4, pp. 193–202, Apr. 1980.</a:t>
            </a:r>
          </a:p>
        </p:txBody>
      </p:sp>
      <p:sp>
        <p:nvSpPr>
          <p:cNvPr id="5" name="Footer Placeholder 4">
            <a:extLst>
              <a:ext uri="{FF2B5EF4-FFF2-40B4-BE49-F238E27FC236}">
                <a16:creationId xmlns:a16="http://schemas.microsoft.com/office/drawing/2014/main" id="{724231CD-5D8E-C1BA-15C6-EE3E5EADA1DE}"/>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1B3DA4F3-FB44-B652-8BA7-D1D2236878CE}"/>
              </a:ext>
            </a:extLst>
          </p:cNvPr>
          <p:cNvSpPr>
            <a:spLocks noGrp="1"/>
          </p:cNvSpPr>
          <p:nvPr>
            <p:ph type="sldNum" sz="quarter" idx="12"/>
          </p:nvPr>
        </p:nvSpPr>
        <p:spPr/>
        <p:txBody>
          <a:bodyPr>
            <a:normAutofit/>
          </a:bodyPr>
          <a:lstStyle/>
          <a:p>
            <a:fld id="{C1FF6DA9-008F-8B48-92A6-B652298478BF}" type="slidenum">
              <a:rPr lang="en-US" smtClean="0"/>
              <a:t>26</a:t>
            </a:fld>
            <a:endParaRPr lang="en-US"/>
          </a:p>
        </p:txBody>
      </p:sp>
      <p:pic>
        <p:nvPicPr>
          <p:cNvPr id="4" name="Google Shape;90;p1">
            <a:extLst>
              <a:ext uri="{FF2B5EF4-FFF2-40B4-BE49-F238E27FC236}">
                <a16:creationId xmlns:a16="http://schemas.microsoft.com/office/drawing/2014/main" id="{48E3FF31-24E0-ECF0-CAA6-731C8967D51F}"/>
              </a:ext>
            </a:extLst>
          </p:cNvPr>
          <p:cNvPicPr preferRelativeResize="0"/>
          <p:nvPr/>
        </p:nvPicPr>
        <p:blipFill rotWithShape="1">
          <a:blip r:embed="rId2">
            <a:alphaModFix/>
          </a:blip>
          <a:srcRect/>
          <a:stretch/>
        </p:blipFill>
        <p:spPr>
          <a:xfrm>
            <a:off x="0" y="44451"/>
            <a:ext cx="2210765" cy="75501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7443" y="2569709"/>
            <a:ext cx="5733327" cy="1718581"/>
          </a:xfrm>
        </p:spPr>
        <p:txBody>
          <a:bodyPr>
            <a:normAutofit/>
          </a:bodyPr>
          <a:lstStyle/>
          <a:p>
            <a:r>
              <a:rPr sz="9600" b="1" dirty="0">
                <a:solidFill>
                  <a:srgbClr val="C00000"/>
                </a:solidFill>
              </a:rPr>
              <a:t>Thank You</a:t>
            </a:r>
          </a:p>
        </p:txBody>
      </p:sp>
      <p:sp>
        <p:nvSpPr>
          <p:cNvPr id="5" name="Footer Placeholder 4">
            <a:extLst>
              <a:ext uri="{FF2B5EF4-FFF2-40B4-BE49-F238E27FC236}">
                <a16:creationId xmlns:a16="http://schemas.microsoft.com/office/drawing/2014/main" id="{F6434DD8-DD99-81D1-54F2-08F71A032F97}"/>
              </a:ext>
            </a:extLst>
          </p:cNvPr>
          <p:cNvSpPr>
            <a:spLocks noGrp="1"/>
          </p:cNvSpPr>
          <p:nvPr>
            <p:ph type="ftr" sz="quarter" idx="11"/>
          </p:nvPr>
        </p:nvSpPr>
        <p:spPr/>
        <p:txBody>
          <a:bodyPr/>
          <a:lstStyle/>
          <a:p>
            <a:r>
              <a:rPr lang="en-US"/>
              <a:t>Major Project Review-II - 14th March 2026</a:t>
            </a:r>
          </a:p>
        </p:txBody>
      </p:sp>
      <p:sp>
        <p:nvSpPr>
          <p:cNvPr id="6" name="Slide Number Placeholder 5">
            <a:extLst>
              <a:ext uri="{FF2B5EF4-FFF2-40B4-BE49-F238E27FC236}">
                <a16:creationId xmlns:a16="http://schemas.microsoft.com/office/drawing/2014/main" id="{E686AE65-0013-B646-602B-BBD32F7C1CDF}"/>
              </a:ext>
            </a:extLst>
          </p:cNvPr>
          <p:cNvSpPr>
            <a:spLocks noGrp="1"/>
          </p:cNvSpPr>
          <p:nvPr>
            <p:ph type="sldNum" sz="quarter" idx="12"/>
          </p:nvPr>
        </p:nvSpPr>
        <p:spPr/>
        <p:txBody>
          <a:bodyPr>
            <a:normAutofit/>
          </a:bodyPr>
          <a:lstStyle/>
          <a:p>
            <a:fld id="{C1FF6DA9-008F-8B48-92A6-B652298478BF}" type="slidenum">
              <a:rPr lang="en-US" smtClean="0"/>
              <a:t>27</a:t>
            </a:fld>
            <a:endParaRPr lang="en-US"/>
          </a:p>
        </p:txBody>
      </p:sp>
      <p:pic>
        <p:nvPicPr>
          <p:cNvPr id="4" name="Google Shape;90;p1">
            <a:extLst>
              <a:ext uri="{FF2B5EF4-FFF2-40B4-BE49-F238E27FC236}">
                <a16:creationId xmlns:a16="http://schemas.microsoft.com/office/drawing/2014/main" id="{4C137661-8A85-F0E4-2154-26A2CDE8991B}"/>
              </a:ext>
            </a:extLst>
          </p:cNvPr>
          <p:cNvPicPr preferRelativeResize="0"/>
          <p:nvPr/>
        </p:nvPicPr>
        <p:blipFill rotWithShape="1">
          <a:blip r:embed="rId2">
            <a:alphaModFix/>
          </a:blip>
          <a:srcRect/>
          <a:stretch/>
        </p:blipFill>
        <p:spPr>
          <a:xfrm>
            <a:off x="0" y="44451"/>
            <a:ext cx="2210765" cy="755015"/>
          </a:xfrm>
          <a:prstGeom prst="rect">
            <a:avLst/>
          </a:prstGeom>
          <a:noFill/>
          <a:ln>
            <a:noFill/>
          </a:ln>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264</TotalTime>
  <Words>2698</Words>
  <Application>Microsoft Office PowerPoint</Application>
  <PresentationFormat>Widescreen</PresentationFormat>
  <Paragraphs>224</Paragraphs>
  <Slides>27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Times New Roman</vt:lpstr>
      <vt:lpstr>Tw Cen MT</vt:lpstr>
      <vt:lpstr>Tw Cen MT Condensed</vt:lpstr>
      <vt:lpstr>Wingdings 3</vt:lpstr>
      <vt:lpstr>Integral</vt:lpstr>
      <vt:lpstr>DeepShield: AI-Powered Digital Forensics for Multi-Modal Deepfake Detection and Mitigation</vt:lpstr>
      <vt:lpstr>Project Overview</vt:lpstr>
      <vt:lpstr>Problem Statement</vt:lpstr>
      <vt:lpstr>Project Objectives</vt:lpstr>
      <vt:lpstr>Literature Review</vt:lpstr>
      <vt:lpstr>Existing System</vt:lpstr>
      <vt:lpstr>Proposed System</vt:lpstr>
      <vt:lpstr>System Architecture</vt:lpstr>
      <vt:lpstr>System Architecture</vt:lpstr>
      <vt:lpstr>Methodology</vt:lpstr>
      <vt:lpstr>Tools &amp; Technologies</vt:lpstr>
      <vt:lpstr>Modules Implemented</vt:lpstr>
      <vt:lpstr>Implementation Screens</vt:lpstr>
      <vt:lpstr>Implementation Screens</vt:lpstr>
      <vt:lpstr>Implementation Screens</vt:lpstr>
      <vt:lpstr>Implementation Screens</vt:lpstr>
      <vt:lpstr>Implementation Screens</vt:lpstr>
      <vt:lpstr>Dataset Description</vt:lpstr>
      <vt:lpstr>Experimental Results</vt:lpstr>
      <vt:lpstr>Result Discussion</vt:lpstr>
      <vt:lpstr>Work Completed So Far</vt:lpstr>
      <vt:lpstr>Publication Status</vt:lpstr>
      <vt:lpstr>Work Plan for Final Review</vt:lpstr>
      <vt:lpstr>Challenges Faced</vt:lpstr>
      <vt:lpstr>Conclusion</vt:lpstr>
      <vt:lpstr>References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ARPIT SINGHAL</cp:lastModifiedBy>
  <cp:revision>7</cp:revision>
  <dcterms:created xsi:type="dcterms:W3CDTF">2013-01-27T09:14:16Z</dcterms:created>
  <dcterms:modified xsi:type="dcterms:W3CDTF">2026-03-27T10:43:40Z</dcterms:modified>
  <cp:category/>
</cp:coreProperties>
</file>